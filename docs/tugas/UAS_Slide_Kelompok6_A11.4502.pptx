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2.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6EDF3"/>
                </a:solidFill>
                <a:latin typeface="Arial"/>
              </a:defRPr>
            </a:pPr>
            <a:r>
              <a:rPr sz="1400" b="0" i="0" u="none" strike="noStrike">
                <a:solidFill>
                  <a:srgbClr val="E6EDF3"/>
                </a:solidFill>
                <a:latin typeface="Arial"/>
              </a:rPr>
              <a:t>Accuracy (%) — dapat S dalam 10 pull</a:t>
            </a:r>
          </a:p>
        </c:rich>
      </c:tx>
      <c:layout/>
      <c:overlay val="0"/>
    </c:title>
    <c:autoTitleDeleted val="0"/>
    <c:plotArea>
      <c:layout/>
      <c:barChart>
        <c:barDir val="col"/>
        <c:grouping val="clustered"/>
        <c:varyColors val="0"/>
        <c:ser>
          <c:idx val="0"/>
          <c:order val="0"/>
          <c:tx>
            <c:strRef>
              <c:f>Sheet1!$B$1</c:f>
              <c:strCache>
                <c:ptCount val="1"/>
                <c:pt idx="0">
                  <c:v>Simulasi (5-fold CV)</c:v>
                </c:pt>
              </c:strCache>
            </c:strRef>
          </c:tx>
          <c:spPr>
            <a:solidFill>
              <a:srgbClr val="58A6FF"/>
            </a:solidFill>
            <a:effectLst/>
          </c:spPr>
          <c:invertIfNegative val="0"/>
          <c:dLbls>
            <c:numFmt formatCode="0.0" sourceLinked="0"/>
            <c:txPr>
              <a:bodyPr/>
              <a:lstStyle/>
              <a:p>
                <a:pPr>
                  <a:defRPr b="0" i="0" strike="noStrike" sz="900" u="none">
                    <a:solidFill>
                      <a:srgbClr val="E6EDF3"/>
                    </a:solidFill>
                    <a:latin typeface="Arial"/>
                  </a:defRPr>
                </a:pPr>
              </a:p>
            </c:txPr>
            <c:showLegendKey val="0"/>
            <c:showVal val="1"/>
            <c:showCatName val="0"/>
            <c:showSerName val="0"/>
            <c:showPercent val="0"/>
            <c:showBubbleSize val="0"/>
            <c:showLeaderLines val="0"/>
          </c:dLbls>
          <c:cat>
            <c:multiLvlStrRef>
              <c:f>Sheet1!$A$2:$A$9</c:f>
              <c:multiLvlStrCache>
                <c:ptCount val="8"/>
                <c:lvl>
                  <c:pt idx="0">
                    <c:v>Baseline</c:v>
                  </c:pt>
                  <c:pt idx="1">
                    <c:v>Markov (teori)</c:v>
                  </c:pt>
                  <c:pt idx="2">
                    <c:v>Naive Bayes</c:v>
                  </c:pt>
                  <c:pt idx="3">
                    <c:v>KNN</c:v>
                  </c:pt>
                  <c:pt idx="4">
                    <c:v>Log. Regression</c:v>
                  </c:pt>
                  <c:pt idx="5">
                    <c:v>Decision Tree</c:v>
                  </c:pt>
                  <c:pt idx="6">
                    <c:v>Random Forest</c:v>
                  </c:pt>
                  <c:pt idx="7">
                    <c:v>XGBoost</c:v>
                  </c:pt>
                </c:lvl>
              </c:multiLvlStrCache>
            </c:multiLvlStrRef>
          </c:cat>
          <c:val>
            <c:numRef>
              <c:f>Sheet1!$B$2:$B$9</c:f>
              <c:numCache>
                <c:formatCode>General</c:formatCode>
                <c:ptCount val="8"/>
                <c:pt idx="0">
                  <c:v>83.4</c:v>
                </c:pt>
                <c:pt idx="1">
                  <c:v>91.1</c:v>
                </c:pt>
                <c:pt idx="2">
                  <c:v>85.7</c:v>
                </c:pt>
                <c:pt idx="3">
                  <c:v>91.1</c:v>
                </c:pt>
                <c:pt idx="4">
                  <c:v>88.9</c:v>
                </c:pt>
                <c:pt idx="5">
                  <c:v>91.1</c:v>
                </c:pt>
                <c:pt idx="6">
                  <c:v>91.1</c:v>
                </c:pt>
                <c:pt idx="7">
                  <c:v>91.1</c:v>
                </c:pt>
              </c:numCache>
            </c:numRef>
          </c:val>
        </c:ser>
        <c:ser>
          <c:idx val="1"/>
          <c:order val="1"/>
          <c:tx>
            <c:strRef>
              <c:f>Sheet1!$C$1</c:f>
              <c:strCache>
                <c:ptCount val="1"/>
                <c:pt idx="0">
                  <c:v>Data asli (2 akun)</c:v>
                </c:pt>
              </c:strCache>
            </c:strRef>
          </c:tx>
          <c:spPr>
            <a:solidFill>
              <a:srgbClr val="F5A623"/>
            </a:solidFill>
            <a:effectLst/>
          </c:spPr>
          <c:invertIfNegative val="0"/>
          <c:dLbls>
            <c:numFmt formatCode="0.0" sourceLinked="0"/>
            <c:txPr>
              <a:bodyPr/>
              <a:lstStyle/>
              <a:p>
                <a:pPr>
                  <a:defRPr b="0" i="0" strike="noStrike" sz="900" u="none">
                    <a:solidFill>
                      <a:srgbClr val="E6EDF3"/>
                    </a:solidFill>
                    <a:latin typeface="Arial"/>
                  </a:defRPr>
                </a:pPr>
              </a:p>
            </c:txPr>
            <c:showLegendKey val="0"/>
            <c:showVal val="1"/>
            <c:showCatName val="0"/>
            <c:showSerName val="0"/>
            <c:showPercent val="0"/>
            <c:showBubbleSize val="0"/>
            <c:showLeaderLines val="0"/>
          </c:dLbls>
          <c:cat>
            <c:multiLvlStrRef>
              <c:f>Sheet1!$A$2:$A$9</c:f>
              <c:multiLvlStrCache>
                <c:ptCount val="8"/>
                <c:lvl>
                  <c:pt idx="0">
                    <c:v>Baseline</c:v>
                  </c:pt>
                  <c:pt idx="1">
                    <c:v>Markov (teori)</c:v>
                  </c:pt>
                  <c:pt idx="2">
                    <c:v>Naive Bayes</c:v>
                  </c:pt>
                  <c:pt idx="3">
                    <c:v>KNN</c:v>
                  </c:pt>
                  <c:pt idx="4">
                    <c:v>Log. Regression</c:v>
                  </c:pt>
                  <c:pt idx="5">
                    <c:v>Decision Tree</c:v>
                  </c:pt>
                  <c:pt idx="6">
                    <c:v>Random Forest</c:v>
                  </c:pt>
                  <c:pt idx="7">
                    <c:v>XGBoost</c:v>
                  </c:pt>
                </c:lvl>
              </c:multiLvlStrCache>
            </c:multiLvlStrRef>
          </c:cat>
          <c:val>
            <c:numRef>
              <c:f>Sheet1!$C$2:$C$9</c:f>
              <c:numCache>
                <c:formatCode>General</c:formatCode>
                <c:ptCount val="8"/>
                <c:pt idx="0">
                  <c:v>86.6</c:v>
                </c:pt>
                <c:pt idx="1">
                  <c:v>93.5</c:v>
                </c:pt>
                <c:pt idx="2">
                  <c:v>87.5</c:v>
                </c:pt>
                <c:pt idx="3">
                  <c:v>93.5</c:v>
                </c:pt>
                <c:pt idx="4">
                  <c:v>91.1</c:v>
                </c:pt>
                <c:pt idx="5">
                  <c:v>93.3</c:v>
                </c:pt>
                <c:pt idx="6">
                  <c:v>93.3</c:v>
                </c:pt>
                <c:pt idx="7">
                  <c:v>93.4</c:v>
                </c:pt>
              </c:numCache>
            </c:numRef>
          </c:val>
        </c:ser>
        <c:dLbls>
          <c:numFmt formatCode="0.0" sourceLinked="0"/>
          <c:txPr>
            <a:bodyPr/>
            <a:lstStyle/>
            <a:p>
              <a:pPr>
                <a:defRPr b="0" i="0" strike="noStrike" sz="900" u="none">
                  <a:solidFill>
                    <a:srgbClr val="E6EDF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A9B4C2"/>
                </a:solidFill>
                <a:latin typeface="Arial"/>
              </a:defRPr>
            </a:pPr>
            <a:endParaRPr lang="en-US"/>
          </a:p>
        </c:txPr>
        <c:crossAx val="2094734552"/>
        <c:crosses val="autoZero"/>
        <c:auto val="1"/>
        <c:lblAlgn val="ctr"/>
        <c:noMultiLvlLbl val="1"/>
      </c:catAx>
      <c:valAx>
        <c:axId val="2094734552"/>
        <c:scaling>
          <c:orientation val="minMax"/>
          <c:max val="96"/>
          <c:min val="80"/>
        </c:scaling>
        <c:delete val="0"/>
        <c:axPos val="l"/>
        <c:majorGridlines>
          <c:spPr>
            <a:ln w="6350" cap="flat">
              <a:solidFill>
                <a:srgbClr val="3036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A9B4C2"/>
                </a:solidFill>
                <a:latin typeface="Arial"/>
              </a:defRPr>
            </a:pPr>
            <a:endParaRPr lang="en-US"/>
          </a:p>
        </c:txPr>
        <c:crossAx val="2094734554"/>
        <c:crosses val="autoZero"/>
        <c:crossBetween val="between"/>
      </c:valAx>
      <c:spPr>
        <a:solidFill>
          <a:srgbClr val="0E1117"/>
        </a:solidFill>
        <a:ln>
          <a:noFill/>
        </a:ln>
        <a:effectLst/>
      </c:spPr>
    </c:plotArea>
    <c:legend>
      <c:legendPos val="t"/>
      <c:overlay val="0"/>
      <c:txPr>
        <a:bodyPr/>
        <a:lstStyle/>
        <a:p>
          <a:pPr>
            <a:defRPr sz="1100">
              <a:solidFill>
                <a:srgbClr val="E6EDF3"/>
              </a:solidFill>
            </a:defRPr>
          </a:pPr>
          <a:endParaRPr lang="en-US"/>
        </a:p>
      </c:txPr>
    </c:legend>
    <c:plotVisOnly val="1"/>
    <c:dispBlanksAs val="span"/>
  </c:chart>
  <c:spPr>
    <a:solidFill>
      <a:srgbClr val="0E1117"/>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E6EDF3"/>
                </a:solidFill>
                <a:latin typeface="Arial"/>
              </a:defRPr>
            </a:pPr>
            <a:r>
              <a:rPr sz="1400" b="0" i="0" u="none" strike="noStrike">
                <a:solidFill>
                  <a:srgbClr val="E6EDF3"/>
                </a:solidFill>
                <a:latin typeface="Arial"/>
              </a:rPr>
              <a:t>Accuracy (%) — 1.209 baris data asli, 5-fold per siklus pity</a:t>
            </a:r>
          </a:p>
        </c:rich>
      </c:tx>
      <c:layout/>
      <c:overlay val="0"/>
    </c:title>
    <c:autoTitleDeleted val="0"/>
    <c:plotArea>
      <c:layout/>
      <c:barChart>
        <c:barDir val="col"/>
        <c:grouping val="clustered"/>
        <c:varyColors val="0"/>
        <c:ser>
          <c:idx val="0"/>
          <c:order val="0"/>
          <c:tx>
            <c:strRef>
              <c:f>Sheet1!$B$1</c:f>
              <c:strCache>
                <c:ptCount val="1"/>
                <c:pt idx="0">
                  <c:v>Accuracy (%)</c:v>
                </c:pt>
              </c:strCache>
            </c:strRef>
          </c:tx>
          <c:spPr>
            <a:solidFill>
              <a:srgbClr val="3FB950"/>
            </a:solidFill>
            <a:effectLst/>
          </c:spPr>
          <c:invertIfNegative val="0"/>
          <c:dLbls>
            <c:numFmt formatCode="0.0" sourceLinked="0"/>
            <c:txPr>
              <a:bodyPr/>
              <a:lstStyle/>
              <a:p>
                <a:pPr>
                  <a:defRPr b="0" i="0" strike="noStrike" sz="900" u="none">
                    <a:solidFill>
                      <a:srgbClr val="E6EDF3"/>
                    </a:solidFill>
                    <a:latin typeface="Arial"/>
                  </a:defRPr>
                </a:pPr>
              </a:p>
            </c:txPr>
            <c:showLegendKey val="0"/>
            <c:showVal val="1"/>
            <c:showCatName val="0"/>
            <c:showSerName val="0"/>
            <c:showPercent val="0"/>
            <c:showBubbleSize val="0"/>
            <c:showLeaderLines val="0"/>
          </c:dLbls>
          <c:cat>
            <c:multiLvlStrRef>
              <c:f>Sheet1!$A$2:$A$9</c:f>
              <c:multiLvlStrCache>
                <c:ptCount val="8"/>
                <c:lvl>
                  <c:pt idx="0">
                    <c:v>Baseline</c:v>
                  </c:pt>
                  <c:pt idx="1">
                    <c:v>Markov (teori)</c:v>
                  </c:pt>
                  <c:pt idx="2">
                    <c:v>Naive Bayes</c:v>
                  </c:pt>
                  <c:pt idx="3">
                    <c:v>KNN</c:v>
                  </c:pt>
                  <c:pt idx="4">
                    <c:v>Log. Regression</c:v>
                  </c:pt>
                  <c:pt idx="5">
                    <c:v>Decision Tree</c:v>
                  </c:pt>
                  <c:pt idx="6">
                    <c:v>Random Forest</c:v>
                  </c:pt>
                  <c:pt idx="7">
                    <c:v>XGBoost</c:v>
                  </c:pt>
                </c:lvl>
              </c:multiLvlStrCache>
            </c:multiLvlStrRef>
          </c:cat>
          <c:val>
            <c:numRef>
              <c:f>Sheet1!$B$2:$B$9</c:f>
              <c:numCache>
                <c:formatCode>General</c:formatCode>
                <c:ptCount val="8"/>
                <c:pt idx="0">
                  <c:v>86.6</c:v>
                </c:pt>
                <c:pt idx="1">
                  <c:v>93.7</c:v>
                </c:pt>
                <c:pt idx="2">
                  <c:v>87.9</c:v>
                </c:pt>
                <c:pt idx="3">
                  <c:v>87.4</c:v>
                </c:pt>
                <c:pt idx="4">
                  <c:v>90.7</c:v>
                </c:pt>
                <c:pt idx="5">
                  <c:v>93.1</c:v>
                </c:pt>
                <c:pt idx="6">
                  <c:v>93</c:v>
                </c:pt>
                <c:pt idx="7">
                  <c:v>92.2</c:v>
                </c:pt>
              </c:numCache>
            </c:numRef>
          </c:val>
        </c:ser>
        <c:dLbls>
          <c:numFmt formatCode="0.0" sourceLinked="0"/>
          <c:txPr>
            <a:bodyPr/>
            <a:lstStyle/>
            <a:p>
              <a:pPr>
                <a:defRPr b="0" i="0" strike="noStrike" sz="900" u="none">
                  <a:solidFill>
                    <a:srgbClr val="E6EDF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A9B4C2"/>
                </a:solidFill>
                <a:latin typeface="Arial"/>
              </a:defRPr>
            </a:pPr>
            <a:endParaRPr lang="en-US"/>
          </a:p>
        </c:txPr>
        <c:crossAx val="2094734552"/>
        <c:crosses val="autoZero"/>
        <c:auto val="1"/>
        <c:lblAlgn val="ctr"/>
        <c:noMultiLvlLbl val="1"/>
      </c:catAx>
      <c:valAx>
        <c:axId val="2094734552"/>
        <c:scaling>
          <c:orientation val="minMax"/>
          <c:max val="96"/>
          <c:min val="80"/>
        </c:scaling>
        <c:delete val="0"/>
        <c:axPos val="l"/>
        <c:majorGridlines>
          <c:spPr>
            <a:ln w="6350" cap="flat">
              <a:solidFill>
                <a:srgbClr val="3036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A9B4C2"/>
                </a:solidFill>
                <a:latin typeface="Arial"/>
              </a:defRPr>
            </a:pPr>
            <a:endParaRPr lang="en-US"/>
          </a:p>
        </c:txPr>
        <c:crossAx val="2094734554"/>
        <c:crosses val="autoZero"/>
        <c:crossBetween val="between"/>
      </c:valAx>
      <c:spPr>
        <a:solidFill>
          <a:srgbClr val="0E1117"/>
        </a:solidFill>
        <a:ln>
          <a:noFill/>
        </a:ln>
        <a:effectLst/>
      </c:spPr>
    </c:plotArea>
    <c:plotVisOnly val="1"/>
    <c:dispBlanksAs val="span"/>
  </c:chart>
  <c:spPr>
    <a:solidFill>
      <a:srgbClr val="0E1117"/>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Pembukaan (±1 menit). Salam, perkenalkan Kelompok 6 kelas A11.4502, mata kuliah Penambangan Data dengan dosen Bapak Ardytha Luthfiarta. Sebutkan judul: ini adalah presentasi laporan akhir proyek tentang memprediksi peluang S-Rank di gacha Zenless Zone Zero. Sampaikan bahwa aplikasinya bisa dibuka di HP lewat link di layar.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Perkenalan anggota (±1 menit). Bacakan nama dan peran setiap anggota. Ketua: Syafiq Yahya. Pengembang aplikasi: Dafi. Slide: Gastiadirrijal. Proposal dan laporan: Zabrina dan Rayya.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Latar belakang (±1,5 menit). Jelaskan apa itu gacha dan pull. S-Rank sangat langka: 0,6 persen untuk Agent. Ada sistem pity: kalau lama tidak dapat, peluang naik, dan di pull ke-90 pasti dapat. Pemain bingung menghitung peluangnya sendiri. Riwayat gacha bisa diambil dari server, jadi bisa diolah dengan data mining. Tekankan angka 1,7 persen: datanya sangat tidak seimbang, ini akan penting nanti.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Alasan memakai data mining (±1,5 menit). Sebelum memilih algoritma, kami memeriksa dulu apakah kasus ini memang butuh machine learning. Machine learning tidak perlu kalau ada atribut yang langsung menentukan hasil, atau kalau rumusnya sudah pasti. Di gacha, pity hanya mengubah peluang, hasilnya tetap acak. Rumus resminya juga tidak lengkap: rate dasar dan hard pity diumumkan, tetapi soft pity tidak, dan perkiraan komunitas berbeda-beda. Karena itu pola soft pity harus digali dari data riwayat pemain. Masalah ini termasuk klasifikasi dan estimasi peluang, yaitu supervised learning dengan label dapat S atau tidak. Markov Chain kami pakai sebagai pembanding teori, sedangkan algoritma tidak diberi tahu soal soft pity.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Rumusan masalah (±1,5 menit). Bacakan lima rumusan masalah. Rumusan kedua menjawab alasan memakai data mining: soft pity tidak diumumkan, jadi harus dicari dari data. Rumusan ketiga adalah inti tugas: membandingkan enam algoritma. Naive Bayes, KNN, dan Decision Tree sesuai materi kuliah; Logistic Regression, Random Forest, dan XGBoost sebagai pembanding tambahan.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Aturan banner (±1 menit). Fokus hanya dua banner terbatas. Angka rate dan hard pity dari detail banner resmi di game. Titik soft pity tidak diumumkan resmi, jadi memakai estimasi komunitas. Jelaskan aturan guaranteed setelah kalah 50/50.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Markov Chain (±1,5 menit). State adalah pity saat ini. Setiap pull, dengan peluang h kita dapat S dan kembali ke pity 0; jika tidak, pity naik satu. Grafik bawah menunjukkan peluang per pull: datar 0,6 persen lalu melonjak setelah soft pity sampai 100 persen di hard pity. Kenaikan per pull dicari dengan metode biseksi agar rata-ratanya sama dengan rate gabungan resmi. Markov Chain ini dipakai di kalkulator dan sebagai acuan teori pembanding algoritma. Titik soft pity-nya masih estimasi, dan nanti kami periksa dengan data asli.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Algoritma (±2 menit). Jelaskan singkat keenam algoritma. Naive Bayes, KNN, dan Decision Tree adalah materi kuliah. Logistic Regression sebagai model linear sederhana. Random Forest dan XGBoost adalah ensemble pohon. Ditambah dua pembanding: baseline yang selalu menebak tidak dapat S, dan Markov Chain sebagai acuan teori.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Metrik evaluasi (±1,5 menit). Semua metrik dihitung dari confusion matrix: TP, TN, FP, FN. Dosen menilai akurasi, dan akurasi tetap kami laporkan sebagai metrik utama. Namun karena datanya tidak seimbang, kami tambah balanced accuracy, F1, ROC-AUC, dan log loss supaya penilaian adil.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Metodologi (±1,5 menit). Kami memakai CRISP-DM, enam tahap. Jelaskan singkat setiap tahap dan apa yang dilakukan kelompok di setiap tahap.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(±1,5 menit). Riwayat satu akun terlalu sedikit untuk melatih model, jadi data latih memakai simulasi Monte Carlo dari model Markov, 400 akun. Karena simulasi dibuat dari model kami sendiri, model yang dilatih di simulasi hanya mempelajari ulang asumsi itu; karena itu data asli sangat penting. Data asli dua akun, 1.441 pull, sudah memenuhi syarat dataset tabel minimal 500 sampai 1000 baris. Data asli dipakai untuk menguji, dan di eksperimen kedua keenam algoritma juga dilatih dan diuji hanya dengan data asli. Jelaskan cara pengambilan data asli lewat script PowerShell yang hanya membaca cache game, dan bahwa authkey tidak disimpan.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Fitur dan target (±1,5 menit). Empat fitur sederhana. Dua tugas: tugas A memprediksi pull berikutnya, tugas B memprediksi dalam 10 pull. Tugas B dijadikan utama karena lebih relevan bagi pemain (satu kali ten-pull) dan kelasnya lebih seimbang.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Import Data (±1,5 menit). Tunjukkan tiga cara input. Sebaiknya demo langsung: klik Pakai data contoh. Jelaskan aspek keamanan: authkey hanya dipakai sekali.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Kalkulator (±1,5 menit). Ubah pity dan jumlah pull lalu tunjukkan grafik peluang kumulatif berubah. Tunjukkan tabel prediksi enam algoritma dibandingkan dengan Markov.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Validasi (±1 menit). Saat dicek, angka pity yang dihitung aplikasi untuk akun asli sama persis dengan yang tampil di game. Selain itu 87 test otomatis memastikan perhitungan tidak salah.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Tugas A (±1,5 menit). Ini temuan penting. Semua model, bahkan tebakan bodoh, akurasinya 98 persen. Jadi akurasi tidak bisa dipakai sendirian di data tidak seimbang. Itulah alasan tugas B dijadikan tugas utama.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Tugas B (±2 menit). Bacakan grafik. Decision Tree, Random Forest, XGBoost, dan KNN sekitar 91 persen di simulasi dan 93 persen di data asli, hampir sama dengan acuan teori Markov; selisih di antara keempatnya sangat kecil sehingga dianggap setara. Logistic Regression 88,9 persen, Naive Bayes 85,7 persen, baseline 83,4 persen. Kalau ditanya kenapa data asli lebih tinggi: kelas positifnya lebih sedikit, jadi baseline-nya juga lebih tinggi; keunggulan di atas baseline sama-sama sekitar 7 poin.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Metrik lengkap (±1,5 menit). Baris kuning adalah empat algoritma terbaik. Decision Tree terbaik di balanced accuracy, F1, ROC-AUC, dan log loss, walau selisihnya kecil dengan Random Forest, XGBoost, dan KNN.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Eksperimen kedua (±2 menit). Untuk menjawab apakah model hanya bagus di data simulasi, kami melatih dan menguji keenam algoritma hanya dengan data asli: 1.209 baris dari 2 akun, sudah di atas syarat 500 sampai 1000 baris. Data dibagi per siklus pity menjadi 5 bagian. Hasilnya: Decision Tree 93,1 persen, Random Forest 93,0 persen, XGBoost 92,2 persen. Ketiga model pohon tetap teratas seperti di simulasi, dan karena selisihnya lebih kecil dari simpangan baku, ketiganya dianggap setara, hampir menyamai acuan teori Markov 93,7 persen. Logistic Regression 90,7 persen dan Naive Bayes 87,9 persen. KNN turun ke 87,4 persen karena nilai k = 101 terlalu besar untuk data sekecil ini, jadi KNN hampir selalu menebak kelas mayoritas. Pelajarannya: hyperparameter harus disesuaikan dengan ukuran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Pola soft pity (±2 menit). Ini jawaban rumusan kedua sekaligus alasan memakai data mining. Grafik membandingkan laju S per pull di data asli (batang oranye) dengan peluang model Markov (titik hitam). Agent: hampir nol sampai pull ke-73, lalu melonjak 14 persen di pull 74 sampai 78 dan 38 persen sesudahnya, hampir sama dengan model. W-Engine: 4 dari 11 pull setelah pull ke-65 dapat S, lebih tinggi dari model, tetapi datanya masih sedikit. Decision Tree yang dilatih hanya dengan data asli juga memisahkan data di sekitar pity 66, sekitar 10 pull sebelum soft pity, padahal tidak pernah diberi tahu soal soft pity.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Kurva peluang (±2 menit). Jelaskan grafik: sumbu x pity saat ini, sumbu y peluang dapat S dalam 10 pull. Model pohon dan KNN mengikuti garis teori, termasuk lonjakan tajam. Logistic Regression dan Naive Bayes tidak mampu karena bentuk modelnya halus. Decision Tree menemukan titik soft pity sendiri dari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Confusion matrix dan fitur (±1,5 menit). Baseline tidak pernah menebak dapat S. Feature importance: pity_ratio paling penting, guaranteed hampir nol. Ini sesuai aturan game, jadi model belajar hal yang benar.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Kesimpulan (±1,5 menit). Bacakan empat kesimpulan dan saran pengembangan. Tekankan bahwa soft pity yang tidak diumumkan berhasil ditemukan dari data, dan model pohon tetap terbaik walaupun dilatih hanya dengan data asli. Sebutkan keterbatasan dengan jujur: data latih utama berasal dari simulasi, data asli baru dua akun, dan hyperparameter belum di-tuning.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Penutup (±1 menit). Ucapkan terima kasih, ajak membuka aplikasi, buka sesi tanya jawab.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7"/>
        </a:solidFill>
      </p:bgPr>
    </p:bg>
    <p:spTree>
      <p:nvGrpSpPr>
        <p:cNvPr id="1" name=""/>
        <p:cNvGrpSpPr/>
        <p:nvPr/>
      </p:nvGrpSpPr>
      <p:grpSpPr>
        <a:xfrm>
          <a:off x="0" y="0"/>
          <a:ext cx="0" cy="0"/>
          <a:chOff x="0" y="0"/>
          <a:chExt cx="0" cy="0"/>
        </a:xfrm>
      </p:grpSpPr>
      <p:sp>
        <p:nvSpPr>
          <p:cNvPr id="2" name="Shape 0"/>
          <p:cNvSpPr/>
          <p:nvPr/>
        </p:nvSpPr>
        <p:spPr>
          <a:xfrm>
            <a:off x="8503920" y="1097280"/>
            <a:ext cx="4754880" cy="4754880"/>
          </a:xfrm>
          <a:prstGeom prst="ellipse">
            <a:avLst/>
          </a:prstGeom>
          <a:solidFill>
            <a:srgbClr val="F5A623">
              <a:alpha val="12000"/>
            </a:srgbClr>
          </a:solidFill>
          <a:ln w="12700">
            <a:solidFill>
              <a:srgbClr val="F5A623">
                <a:alpha val="40000"/>
              </a:srgbClr>
            </a:solidFill>
            <a:prstDash val="solid"/>
          </a:ln>
        </p:spPr>
      </p:sp>
      <p:sp>
        <p:nvSpPr>
          <p:cNvPr id="3" name="Shape 1"/>
          <p:cNvSpPr/>
          <p:nvPr/>
        </p:nvSpPr>
        <p:spPr>
          <a:xfrm>
            <a:off x="9418320" y="2011680"/>
            <a:ext cx="2926080" cy="2926080"/>
          </a:xfrm>
          <a:prstGeom prst="ellipse">
            <a:avLst/>
          </a:prstGeom>
          <a:solidFill>
            <a:srgbClr val="58A6FF">
              <a:alpha val="15000"/>
            </a:srgbClr>
          </a:solidFill>
          <a:ln w="12700">
            <a:solidFill>
              <a:srgbClr val="58A6FF">
                <a:alpha val="40000"/>
              </a:srgbClr>
            </a:solidFill>
            <a:prstDash val="solid"/>
          </a:ln>
        </p:spPr>
      </p:sp>
      <p:sp>
        <p:nvSpPr>
          <p:cNvPr id="4" name="Text 2"/>
          <p:cNvSpPr txBox="1"/>
          <p:nvPr/>
        </p:nvSpPr>
        <p:spPr>
          <a:xfrm>
            <a:off x="9418320" y="2011680"/>
            <a:ext cx="2926080" cy="2926080"/>
          </a:xfrm>
          <a:prstGeom prst="rect">
            <a:avLst/>
          </a:prstGeom>
          <a:noFill/>
          <a:ln/>
        </p:spPr>
        <p:txBody>
          <a:bodyPr wrap="square" lIns="0" tIns="0" rIns="0" bIns="0" rtlCol="0" anchor="ctr"/>
          <a:lstStyle/>
          <a:p>
            <a:pPr algn="ctr" indent="0" marL="0">
              <a:buNone/>
            </a:pPr>
            <a:r>
              <a:rPr lang="en-US" sz="12000" b="1" dirty="0">
                <a:solidFill>
                  <a:srgbClr val="F5A623"/>
                </a:solidFill>
                <a:latin typeface="Cambria" pitchFamily="34" charset="0"/>
                <a:ea typeface="Cambria" pitchFamily="34" charset="-122"/>
                <a:cs typeface="Cambria" pitchFamily="34" charset="-120"/>
              </a:rPr>
              <a:t>S</a:t>
            </a:r>
            <a:endParaRPr lang="en-US" sz="12000" dirty="0"/>
          </a:p>
        </p:txBody>
      </p:sp>
      <p:pic>
        <p:nvPicPr>
          <p:cNvPr id="5" name="Image 0" descr="Logo Universitas Dian Nuswantoro">    </p:cNvPr>
          <p:cNvPicPr>
            <a:picLocks noChangeAspect="1"/>
          </p:cNvPicPr>
          <p:nvPr/>
        </p:nvPicPr>
        <p:blipFill>
          <a:blip r:embed="rId1"/>
          <a:stretch>
            <a:fillRect/>
          </a:stretch>
        </p:blipFill>
        <p:spPr>
          <a:xfrm>
            <a:off x="548640" y="365760"/>
            <a:ext cx="914400" cy="914400"/>
          </a:xfrm>
          <a:prstGeom prst="rect">
            <a:avLst/>
          </a:prstGeom>
        </p:spPr>
      </p:pic>
      <p:sp>
        <p:nvSpPr>
          <p:cNvPr id="6" name="Text 3"/>
          <p:cNvSpPr txBox="1"/>
          <p:nvPr/>
        </p:nvSpPr>
        <p:spPr>
          <a:xfrm>
            <a:off x="1645920" y="640080"/>
            <a:ext cx="6766560" cy="365760"/>
          </a:xfrm>
          <a:prstGeom prst="rect">
            <a:avLst/>
          </a:prstGeom>
          <a:noFill/>
          <a:ln/>
        </p:spPr>
        <p:txBody>
          <a:bodyPr wrap="square" lIns="0" tIns="0" rIns="0" bIns="0" rtlCol="0" anchor="ctr"/>
          <a:lstStyle/>
          <a:p>
            <a:pPr indent="0" marL="0">
              <a:buNone/>
            </a:pPr>
            <a:r>
              <a:rPr lang="en-US" sz="1400" b="1" spc="300" kern="0" dirty="0">
                <a:solidFill>
                  <a:srgbClr val="F5A623"/>
                </a:solidFill>
                <a:latin typeface="Calibri" pitchFamily="34" charset="0"/>
                <a:ea typeface="Calibri" pitchFamily="34" charset="-122"/>
                <a:cs typeface="Calibri" pitchFamily="34" charset="-120"/>
              </a:rPr>
              <a:t>LAPORAN AKHIR PROYEK · UAS</a:t>
            </a:r>
            <a:endParaRPr lang="en-US" sz="1400" dirty="0"/>
          </a:p>
        </p:txBody>
      </p:sp>
      <p:sp>
        <p:nvSpPr>
          <p:cNvPr id="7" name="Text 4"/>
          <p:cNvSpPr txBox="1"/>
          <p:nvPr/>
        </p:nvSpPr>
        <p:spPr>
          <a:xfrm>
            <a:off x="548640" y="1371600"/>
            <a:ext cx="7863840" cy="1005840"/>
          </a:xfrm>
          <a:prstGeom prst="rect">
            <a:avLst/>
          </a:prstGeom>
          <a:noFill/>
          <a:ln/>
        </p:spPr>
        <p:txBody>
          <a:bodyPr wrap="square" lIns="0" tIns="0" rIns="0" bIns="0" rtlCol="0" anchor="ctr"/>
          <a:lstStyle/>
          <a:p>
            <a:pPr indent="0" marL="0">
              <a:buNone/>
            </a:pPr>
            <a:r>
              <a:rPr lang="en-US" sz="4800" b="1" dirty="0">
                <a:solidFill>
                  <a:srgbClr val="E6EDF3"/>
                </a:solidFill>
                <a:latin typeface="Cambria" pitchFamily="34" charset="0"/>
                <a:ea typeface="Cambria" pitchFamily="34" charset="-122"/>
                <a:cs typeface="Cambria" pitchFamily="34" charset="-120"/>
              </a:rPr>
              <a:t>ZZZ Gacha Predictor</a:t>
            </a:r>
            <a:endParaRPr lang="en-US" sz="4800" dirty="0"/>
          </a:p>
        </p:txBody>
      </p:sp>
      <p:sp>
        <p:nvSpPr>
          <p:cNvPr id="8" name="Text 5"/>
          <p:cNvSpPr txBox="1"/>
          <p:nvPr/>
        </p:nvSpPr>
        <p:spPr>
          <a:xfrm>
            <a:off x="548640" y="2468880"/>
            <a:ext cx="7680960" cy="1188720"/>
          </a:xfrm>
          <a:prstGeom prst="rect">
            <a:avLst/>
          </a:prstGeom>
          <a:noFill/>
          <a:ln/>
        </p:spPr>
        <p:txBody>
          <a:bodyPr wrap="square" lIns="0" tIns="0" rIns="0" bIns="0" rtlCol="0" anchor="t"/>
          <a:lstStyle/>
          <a:p>
            <a:pPr indent="0" marL="0">
              <a:buNone/>
            </a:pPr>
            <a:r>
              <a:rPr lang="en-US" sz="1800" dirty="0">
                <a:solidFill>
                  <a:srgbClr val="A9B4C2"/>
                </a:solidFill>
                <a:latin typeface="Calibri" pitchFamily="34" charset="0"/>
                <a:ea typeface="Calibri" pitchFamily="34" charset="-122"/>
                <a:cs typeface="Calibri" pitchFamily="34" charset="-120"/>
              </a:rPr>
              <a:t>Perbandingan Algoritma Klasifikasi untuk Memprediksi Peluang Mendapatkan S-Rank pada Sistem Gacha Zenless Zone Zero Berbasis Web</a:t>
            </a:r>
            <a:endParaRPr lang="en-US" sz="1800" dirty="0"/>
          </a:p>
        </p:txBody>
      </p:sp>
      <p:sp>
        <p:nvSpPr>
          <p:cNvPr id="9" name="Text 6"/>
          <p:cNvSpPr txBox="1"/>
          <p:nvPr/>
        </p:nvSpPr>
        <p:spPr>
          <a:xfrm>
            <a:off x="548640" y="4114800"/>
            <a:ext cx="7315200" cy="1280160"/>
          </a:xfrm>
          <a:prstGeom prst="rect">
            <a:avLst/>
          </a:prstGeom>
          <a:noFill/>
          <a:ln/>
        </p:spPr>
        <p:txBody>
          <a:bodyPr wrap="square" lIns="0" tIns="0" rIns="0" bIns="0" rtlCol="0" anchor="t"/>
          <a:lstStyle/>
          <a:p>
            <a:pPr indent="0" marL="0">
              <a:spcAft>
                <a:spcPts val="400"/>
              </a:spcAft>
              <a:buNone/>
            </a:pPr>
            <a:r>
              <a:rPr lang="en-US" sz="1500" b="1" dirty="0">
                <a:solidFill>
                  <a:srgbClr val="E6EDF3"/>
                </a:solidFill>
                <a:latin typeface="Calibri" pitchFamily="34" charset="0"/>
                <a:ea typeface="Calibri" pitchFamily="34" charset="-122"/>
                <a:cs typeface="Calibri" pitchFamily="34" charset="-120"/>
              </a:rPr>
              <a:t>Kelompok 6 · Kelas A11.4502</a:t>
            </a:r>
            <a:endParaRPr lang="en-US" sz="1500" dirty="0"/>
          </a:p>
          <a:p>
            <a:pPr indent="0" marL="0">
              <a:spcAft>
                <a:spcPts val="400"/>
              </a:spcAft>
              <a:buNone/>
            </a:pPr>
            <a:r>
              <a:rPr lang="en-US" sz="1500" dirty="0">
                <a:solidFill>
                  <a:srgbClr val="E6EDF3"/>
                </a:solidFill>
                <a:latin typeface="Calibri" pitchFamily="34" charset="0"/>
                <a:ea typeface="Calibri" pitchFamily="34" charset="-122"/>
                <a:cs typeface="Calibri" pitchFamily="34" charset="-120"/>
              </a:rPr>
              <a:t>Mata kuliah Penambangan Data</a:t>
            </a:r>
            <a:endParaRPr lang="en-US" sz="1500" dirty="0"/>
          </a:p>
          <a:p>
            <a:pPr indent="0" marL="0">
              <a:spcAft>
                <a:spcPts val="400"/>
              </a:spcAft>
              <a:buNone/>
            </a:pPr>
            <a:r>
              <a:rPr lang="en-US" sz="1500" dirty="0">
                <a:solidFill>
                  <a:srgbClr val="E6EDF3"/>
                </a:solidFill>
                <a:latin typeface="Calibri" pitchFamily="34" charset="0"/>
                <a:ea typeface="Calibri" pitchFamily="34" charset="-122"/>
                <a:cs typeface="Calibri" pitchFamily="34" charset="-120"/>
              </a:rPr>
              <a:t>Dosen: Ardytha Luthfiarta, M.Kom, MCS</a:t>
            </a:r>
            <a:endParaRPr lang="en-US" sz="1500" dirty="0"/>
          </a:p>
          <a:p>
            <a:pPr indent="0" marL="0">
              <a:spcAft>
                <a:spcPts val="400"/>
              </a:spcAft>
              <a:buNone/>
            </a:pPr>
            <a:r>
              <a:rPr lang="en-US" sz="1500" dirty="0">
                <a:solidFill>
                  <a:srgbClr val="E6EDF3"/>
                </a:solidFill>
                <a:latin typeface="Calibri" pitchFamily="34" charset="0"/>
                <a:ea typeface="Calibri" pitchFamily="34" charset="-122"/>
                <a:cs typeface="Calibri" pitchFamily="34" charset="-120"/>
              </a:rPr>
              <a:t>Universitas Dian Nuswantoro · 2026</a:t>
            </a:r>
            <a:endParaRPr lang="en-US" sz="1500" dirty="0"/>
          </a:p>
        </p:txBody>
      </p:sp>
      <p:sp>
        <p:nvSpPr>
          <p:cNvPr id="10" name="Text 7"/>
          <p:cNvSpPr txBox="1"/>
          <p:nvPr/>
        </p:nvSpPr>
        <p:spPr>
          <a:xfrm>
            <a:off x="548640" y="5760720"/>
            <a:ext cx="7315200" cy="365760"/>
          </a:xfrm>
          <a:prstGeom prst="rect">
            <a:avLst/>
          </a:prstGeom>
          <a:noFill/>
          <a:ln/>
        </p:spPr>
        <p:txBody>
          <a:bodyPr wrap="square" lIns="0" tIns="0" rIns="0" bIns="0" rtlCol="0" anchor="ctr"/>
          <a:lstStyle/>
          <a:p>
            <a:pPr indent="0" marL="0">
              <a:buNone/>
            </a:pPr>
            <a:r>
              <a:rPr lang="en-US" sz="1400" dirty="0">
                <a:solidFill>
                  <a:srgbClr val="58A6FF"/>
                </a:solidFill>
                <a:latin typeface="Calibri" pitchFamily="34" charset="0"/>
                <a:ea typeface="Calibri" pitchFamily="34" charset="-122"/>
                <a:cs typeface="Calibri" pitchFamily="34" charset="-120"/>
              </a:rPr>
              <a:t>project-data-mining-zzz.streamlit.app</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TIM</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Anggota Kelompok 6</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2</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194560"/>
                <a:gridCol w="3108960"/>
                <a:gridCol w="5760720"/>
              </a:tblGrid>
              <a:tr h="566928">
                <a:tc>
                  <a:txBody>
                    <a:bodyPr/>
                    <a:lstStyle/>
                    <a:p>
                      <a:pPr algn="l" indent="0" marL="0">
                        <a:buNone/>
                      </a:pPr>
                      <a:r>
                        <a:rPr lang="en-US" sz="1500" b="1" dirty="0">
                          <a:solidFill>
                            <a:srgbClr val="F5A623"/>
                          </a:solidFill>
                          <a:latin typeface="Calibri" pitchFamily="34" charset="0"/>
                          <a:ea typeface="Calibri" pitchFamily="34" charset="-122"/>
                          <a:cs typeface="Calibri" pitchFamily="34" charset="-120"/>
                        </a:rPr>
                        <a:t>NIM</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algn="l" indent="0" marL="0">
                        <a:buNone/>
                      </a:pPr>
                      <a:r>
                        <a:rPr lang="en-US" sz="1500" b="1" dirty="0">
                          <a:solidFill>
                            <a:srgbClr val="F5A623"/>
                          </a:solidFill>
                          <a:latin typeface="Calibri" pitchFamily="34" charset="0"/>
                          <a:ea typeface="Calibri" pitchFamily="34" charset="-122"/>
                          <a:cs typeface="Calibri" pitchFamily="34" charset="-120"/>
                        </a:rPr>
                        <a:t>Nama</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algn="l" indent="0" marL="0">
                        <a:buNone/>
                      </a:pPr>
                      <a:r>
                        <a:rPr lang="en-US" sz="1500" b="1" dirty="0">
                          <a:solidFill>
                            <a:srgbClr val="F5A623"/>
                          </a:solidFill>
                          <a:latin typeface="Calibri" pitchFamily="34" charset="0"/>
                          <a:ea typeface="Calibri" pitchFamily="34" charset="-122"/>
                          <a:cs typeface="Calibri" pitchFamily="34" charset="-120"/>
                        </a:rPr>
                        <a:t>Peran</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566928">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A11.2024.16004</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Syafiq Yahya</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Ketua kelompok, presentasi hasil</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566928">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A11.2024.15851</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Dafi Hauzan A.H</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Pengembang aplikasi, pengumpulan &amp; pengujian data</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r>
              <a:tr h="566928">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A11.2024.15842</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Gastiadirrijal Rafi M</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Penyusun slide presentasi</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566928">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A11.2024.15826</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Zabrina Miftah Z</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Penyusun proposal &amp; laporan</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r>
              <a:tr h="566928">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A11.2024.15804</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Rayya Hasya Tamimi</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Penyusun proposal &amp; laporan</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LATAR BELAKANG</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“Pity-ku 70. Berapa peluang dapat S?”</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3</a:t>
            </a:r>
            <a:endParaRPr lang="en-US" sz="1000" dirty="0"/>
          </a:p>
        </p:txBody>
      </p:sp>
      <p:sp>
        <p:nvSpPr>
          <p:cNvPr id="6" name="Text 4"/>
          <p:cNvSpPr txBox="1"/>
          <p:nvPr/>
        </p:nvSpPr>
        <p:spPr>
          <a:xfrm>
            <a:off x="548640" y="1600200"/>
            <a:ext cx="10972800" cy="1005840"/>
          </a:xfrm>
          <a:prstGeom prst="rect">
            <a:avLst/>
          </a:prstGeom>
          <a:noFill/>
          <a:ln/>
        </p:spPr>
        <p:txBody>
          <a:bodyPr wrap="square" lIns="0" tIns="0" rIns="0" bIns="0" rtlCol="0" anchor="t"/>
          <a:lstStyle/>
          <a:p>
            <a:pPr indent="0" marL="0">
              <a:buNone/>
            </a:pPr>
            <a:r>
              <a:rPr lang="en-US" sz="1700" dirty="0">
                <a:solidFill>
                  <a:srgbClr val="A9B4C2"/>
                </a:solidFill>
                <a:latin typeface="Calibri" pitchFamily="34" charset="0"/>
                <a:ea typeface="Calibri" pitchFamily="34" charset="-122"/>
                <a:cs typeface="Calibri" pitchFamily="34" charset="-120"/>
              </a:rPr>
              <a:t>Gacha di Zenless Zone Zero memakai sistem pity: makin lama tidak dapat S-Rank, peluangnya makin besar sampai pasti dapat. Pemain sering hanya menebak-nebak. Riwayat gacha tersimpan di server, sehingga bisa diolah dengan penambangan data.</a:t>
            </a:r>
            <a:endParaRPr lang="en-US" sz="1700" dirty="0"/>
          </a:p>
        </p:txBody>
      </p:sp>
      <p:sp>
        <p:nvSpPr>
          <p:cNvPr id="7" name="Text 5"/>
          <p:cNvSpPr txBox="1"/>
          <p:nvPr/>
        </p:nvSpPr>
        <p:spPr>
          <a:xfrm>
            <a:off x="548640" y="3017520"/>
            <a:ext cx="3474720" cy="914400"/>
          </a:xfrm>
          <a:prstGeom prst="rect">
            <a:avLst/>
          </a:prstGeom>
          <a:noFill/>
          <a:ln/>
        </p:spPr>
        <p:txBody>
          <a:bodyPr wrap="square" lIns="0" tIns="0" rIns="0" bIns="0" rtlCol="0" anchor="ctr"/>
          <a:lstStyle/>
          <a:p>
            <a:pPr indent="0" marL="0">
              <a:buNone/>
            </a:pPr>
            <a:r>
              <a:rPr lang="en-US" sz="5400" b="1" dirty="0">
                <a:solidFill>
                  <a:srgbClr val="F5A623"/>
                </a:solidFill>
                <a:latin typeface="Cambria" pitchFamily="34" charset="0"/>
                <a:ea typeface="Cambria" pitchFamily="34" charset="-122"/>
                <a:cs typeface="Cambria" pitchFamily="34" charset="-120"/>
              </a:rPr>
              <a:t>0,6%</a:t>
            </a:r>
            <a:endParaRPr lang="en-US" sz="5400" dirty="0"/>
          </a:p>
        </p:txBody>
      </p:sp>
      <p:sp>
        <p:nvSpPr>
          <p:cNvPr id="8" name="Text 6"/>
          <p:cNvSpPr txBox="1"/>
          <p:nvPr/>
        </p:nvSpPr>
        <p:spPr>
          <a:xfrm>
            <a:off x="548640" y="3977640"/>
            <a:ext cx="3474720" cy="640080"/>
          </a:xfrm>
          <a:prstGeom prst="rect">
            <a:avLst/>
          </a:prstGeom>
          <a:noFill/>
          <a:ln/>
        </p:spPr>
        <p:txBody>
          <a:bodyPr wrap="square" lIns="0" tIns="0" rIns="0" bIns="0" rtlCol="0" anchor="t"/>
          <a:lstStyle/>
          <a:p>
            <a:pPr indent="0" marL="0">
              <a:buNone/>
            </a:pPr>
            <a:r>
              <a:rPr lang="en-US" sz="1400" dirty="0">
                <a:solidFill>
                  <a:srgbClr val="A9B4C2"/>
                </a:solidFill>
                <a:latin typeface="Calibri" pitchFamily="34" charset="0"/>
                <a:ea typeface="Calibri" pitchFamily="34" charset="-122"/>
                <a:cs typeface="Calibri" pitchFamily="34" charset="-120"/>
              </a:rPr>
              <a:t>peluang dasar S-Rank Agent per pull (W-Engine 1,0%)</a:t>
            </a:r>
            <a:endParaRPr lang="en-US" sz="1400" dirty="0"/>
          </a:p>
        </p:txBody>
      </p:sp>
      <p:sp>
        <p:nvSpPr>
          <p:cNvPr id="9" name="Text 7"/>
          <p:cNvSpPr txBox="1"/>
          <p:nvPr/>
        </p:nvSpPr>
        <p:spPr>
          <a:xfrm>
            <a:off x="4343400" y="3017520"/>
            <a:ext cx="3474720" cy="914400"/>
          </a:xfrm>
          <a:prstGeom prst="rect">
            <a:avLst/>
          </a:prstGeom>
          <a:noFill/>
          <a:ln/>
        </p:spPr>
        <p:txBody>
          <a:bodyPr wrap="square" lIns="0" tIns="0" rIns="0" bIns="0" rtlCol="0" anchor="ctr"/>
          <a:lstStyle/>
          <a:p>
            <a:pPr indent="0" marL="0">
              <a:buNone/>
            </a:pPr>
            <a:r>
              <a:rPr lang="en-US" sz="5400" b="1" dirty="0">
                <a:solidFill>
                  <a:srgbClr val="58A6FF"/>
                </a:solidFill>
                <a:latin typeface="Cambria" pitchFamily="34" charset="0"/>
                <a:ea typeface="Cambria" pitchFamily="34" charset="-122"/>
                <a:cs typeface="Cambria" pitchFamily="34" charset="-120"/>
              </a:rPr>
              <a:t>90</a:t>
            </a:r>
            <a:endParaRPr lang="en-US" sz="5400" dirty="0"/>
          </a:p>
        </p:txBody>
      </p:sp>
      <p:sp>
        <p:nvSpPr>
          <p:cNvPr id="10" name="Text 8"/>
          <p:cNvSpPr txBox="1"/>
          <p:nvPr/>
        </p:nvSpPr>
        <p:spPr>
          <a:xfrm>
            <a:off x="4343400" y="3977640"/>
            <a:ext cx="3474720" cy="640080"/>
          </a:xfrm>
          <a:prstGeom prst="rect">
            <a:avLst/>
          </a:prstGeom>
          <a:noFill/>
          <a:ln/>
        </p:spPr>
        <p:txBody>
          <a:bodyPr wrap="square" lIns="0" tIns="0" rIns="0" bIns="0" rtlCol="0" anchor="t"/>
          <a:lstStyle/>
          <a:p>
            <a:pPr indent="0" marL="0">
              <a:buNone/>
            </a:pPr>
            <a:r>
              <a:rPr lang="en-US" sz="1400" dirty="0">
                <a:solidFill>
                  <a:srgbClr val="A9B4C2"/>
                </a:solidFill>
                <a:latin typeface="Calibri" pitchFamily="34" charset="0"/>
                <a:ea typeface="Calibri" pitchFamily="34" charset="-122"/>
                <a:cs typeface="Calibri" pitchFamily="34" charset="-120"/>
              </a:rPr>
              <a:t>hard pity Agent: S-Rank pasti didapat (W-Engine 80)</a:t>
            </a:r>
            <a:endParaRPr lang="en-US" sz="1400" dirty="0"/>
          </a:p>
        </p:txBody>
      </p:sp>
      <p:sp>
        <p:nvSpPr>
          <p:cNvPr id="11" name="Text 9"/>
          <p:cNvSpPr txBox="1"/>
          <p:nvPr/>
        </p:nvSpPr>
        <p:spPr>
          <a:xfrm>
            <a:off x="8138160" y="3017520"/>
            <a:ext cx="3474720" cy="914400"/>
          </a:xfrm>
          <a:prstGeom prst="rect">
            <a:avLst/>
          </a:prstGeom>
          <a:noFill/>
          <a:ln/>
        </p:spPr>
        <p:txBody>
          <a:bodyPr wrap="square" lIns="0" tIns="0" rIns="0" bIns="0" rtlCol="0" anchor="ctr"/>
          <a:lstStyle/>
          <a:p>
            <a:pPr indent="0" marL="0">
              <a:buNone/>
            </a:pPr>
            <a:r>
              <a:rPr lang="en-US" sz="5400" b="1" dirty="0">
                <a:solidFill>
                  <a:srgbClr val="3FB950"/>
                </a:solidFill>
                <a:latin typeface="Cambria" pitchFamily="34" charset="0"/>
                <a:ea typeface="Cambria" pitchFamily="34" charset="-122"/>
                <a:cs typeface="Cambria" pitchFamily="34" charset="-120"/>
              </a:rPr>
              <a:t>±1,7%</a:t>
            </a:r>
            <a:endParaRPr lang="en-US" sz="5400" dirty="0"/>
          </a:p>
        </p:txBody>
      </p:sp>
      <p:sp>
        <p:nvSpPr>
          <p:cNvPr id="12" name="Text 10"/>
          <p:cNvSpPr txBox="1"/>
          <p:nvPr/>
        </p:nvSpPr>
        <p:spPr>
          <a:xfrm>
            <a:off x="8138160" y="3977640"/>
            <a:ext cx="3474720" cy="640080"/>
          </a:xfrm>
          <a:prstGeom prst="rect">
            <a:avLst/>
          </a:prstGeom>
          <a:noFill/>
          <a:ln/>
        </p:spPr>
        <p:txBody>
          <a:bodyPr wrap="square" lIns="0" tIns="0" rIns="0" bIns="0" rtlCol="0" anchor="t"/>
          <a:lstStyle/>
          <a:p>
            <a:pPr indent="0" marL="0">
              <a:buNone/>
            </a:pPr>
            <a:r>
              <a:rPr lang="en-US" sz="1400" dirty="0">
                <a:solidFill>
                  <a:srgbClr val="A9B4C2"/>
                </a:solidFill>
                <a:latin typeface="Calibri" pitchFamily="34" charset="0"/>
                <a:ea typeface="Calibri" pitchFamily="34" charset="-122"/>
                <a:cs typeface="Calibri" pitchFamily="34" charset="-120"/>
              </a:rPr>
              <a:t>pull yang benar-benar menghasilkan S-Rank → data sangat tidak seimbang</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ALASAN</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Kenapa perlu data mining, bukan rumus saja?</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4</a:t>
            </a:r>
            <a:endParaRPr lang="en-US" sz="1000" dirty="0"/>
          </a:p>
        </p:txBody>
      </p:sp>
      <p:sp>
        <p:nvSpPr>
          <p:cNvPr id="6" name="Text 4"/>
          <p:cNvSpPr txBox="1"/>
          <p:nvPr/>
        </p:nvSpPr>
        <p:spPr>
          <a:xfrm>
            <a:off x="548640" y="1508760"/>
            <a:ext cx="11064240" cy="685800"/>
          </a:xfrm>
          <a:prstGeom prst="rect">
            <a:avLst/>
          </a:prstGeom>
          <a:noFill/>
          <a:ln/>
        </p:spPr>
        <p:txBody>
          <a:bodyPr wrap="square" lIns="0" tIns="0" rIns="0" bIns="0" rtlCol="0" anchor="t"/>
          <a:lstStyle/>
          <a:p>
            <a:pPr indent="0" marL="0">
              <a:buNone/>
            </a:pPr>
            <a:r>
              <a:rPr lang="en-US" sz="1600" dirty="0">
                <a:solidFill>
                  <a:srgbClr val="A9B4C2"/>
                </a:solidFill>
                <a:latin typeface="Calibri" pitchFamily="34" charset="0"/>
                <a:ea typeface="Calibri" pitchFamily="34" charset="-122"/>
                <a:cs typeface="Calibri" pitchFamily="34" charset="-120"/>
              </a:rPr>
              <a:t>Machine learning tidak diperlukan jika ada atribut yang langsung menentukan hasil, atau sudah ada rumus yang pasti dan lengkap. Bagaimana dengan gacha ZZZ?</a:t>
            </a:r>
            <a:endParaRPr lang="en-US" sz="1600" dirty="0"/>
          </a:p>
        </p:txBody>
      </p:sp>
      <p:sp>
        <p:nvSpPr>
          <p:cNvPr id="7" name="Shape 5"/>
          <p:cNvSpPr/>
          <p:nvPr/>
        </p:nvSpPr>
        <p:spPr>
          <a:xfrm>
            <a:off x="548640" y="2331720"/>
            <a:ext cx="5440680" cy="1645920"/>
          </a:xfrm>
          <a:prstGeom prst="roundRect">
            <a:avLst>
              <a:gd name="adj" fmla="val 4444"/>
            </a:avLst>
          </a:prstGeom>
          <a:solidFill>
            <a:srgbClr val="1C2230"/>
          </a:solidFill>
          <a:ln w="9525">
            <a:solidFill>
              <a:srgbClr val="30363D"/>
            </a:solidFill>
            <a:prstDash val="solid"/>
          </a:ln>
        </p:spPr>
      </p:sp>
      <p:sp>
        <p:nvSpPr>
          <p:cNvPr id="8" name="Text 6"/>
          <p:cNvSpPr txBox="1"/>
          <p:nvPr/>
        </p:nvSpPr>
        <p:spPr>
          <a:xfrm>
            <a:off x="777240" y="2560320"/>
            <a:ext cx="4983480" cy="411480"/>
          </a:xfrm>
          <a:prstGeom prst="rect">
            <a:avLst/>
          </a:prstGeom>
          <a:noFill/>
          <a:ln/>
        </p:spPr>
        <p:txBody>
          <a:bodyPr wrap="square" lIns="0" tIns="0" rIns="0" bIns="0" rtlCol="0" anchor="t"/>
          <a:lstStyle/>
          <a:p>
            <a:pPr indent="0" marL="0">
              <a:buNone/>
            </a:pPr>
            <a:r>
              <a:rPr lang="en-US" sz="1800" b="1" dirty="0">
                <a:solidFill>
                  <a:srgbClr val="F85149"/>
                </a:solidFill>
                <a:latin typeface="Cambria" pitchFamily="34" charset="0"/>
                <a:ea typeface="Cambria" pitchFamily="34" charset="-122"/>
                <a:cs typeface="Cambria" pitchFamily="34" charset="-120"/>
              </a:rPr>
              <a:t>Ada atribut penentu hasil? Tidak</a:t>
            </a:r>
            <a:endParaRPr lang="en-US" sz="1800" dirty="0"/>
          </a:p>
        </p:txBody>
      </p:sp>
      <p:sp>
        <p:nvSpPr>
          <p:cNvPr id="9" name="Text 7"/>
          <p:cNvSpPr txBox="1"/>
          <p:nvPr/>
        </p:nvSpPr>
        <p:spPr>
          <a:xfrm>
            <a:off x="777240" y="3017520"/>
            <a:ext cx="4983480" cy="777240"/>
          </a:xfrm>
          <a:prstGeom prst="rect">
            <a:avLst/>
          </a:prstGeom>
          <a:noFill/>
          <a:ln/>
        </p:spPr>
        <p:txBody>
          <a:bodyPr wrap="square" lIns="0" tIns="0" rIns="0" bIns="0" rtlCol="0" anchor="t"/>
          <a:lstStyle/>
          <a:p>
            <a:pPr indent="0" marL="0">
              <a:spcAft>
                <a:spcPts val="400"/>
              </a:spcAft>
              <a:buNone/>
            </a:pPr>
            <a:r>
              <a:rPr lang="en-US" sz="1500" dirty="0">
                <a:solidFill>
                  <a:srgbClr val="A9B4C2"/>
                </a:solidFill>
                <a:latin typeface="Calibri" pitchFamily="34" charset="0"/>
                <a:ea typeface="Calibri" pitchFamily="34" charset="-122"/>
                <a:cs typeface="Calibri" pitchFamily="34" charset="-120"/>
              </a:rPr>
              <a:t>Pity hanya mengubah peluang; hasil setiap pull tetap acak. Kepastian hanya terjadi di hard pity.</a:t>
            </a:r>
            <a:endParaRPr lang="en-US" sz="1500" dirty="0"/>
          </a:p>
        </p:txBody>
      </p:sp>
      <p:sp>
        <p:nvSpPr>
          <p:cNvPr id="10" name="Shape 8"/>
          <p:cNvSpPr/>
          <p:nvPr/>
        </p:nvSpPr>
        <p:spPr>
          <a:xfrm>
            <a:off x="6172200" y="2331720"/>
            <a:ext cx="5440680" cy="1645920"/>
          </a:xfrm>
          <a:prstGeom prst="roundRect">
            <a:avLst>
              <a:gd name="adj" fmla="val 4444"/>
            </a:avLst>
          </a:prstGeom>
          <a:solidFill>
            <a:srgbClr val="1C2230"/>
          </a:solidFill>
          <a:ln w="9525">
            <a:solidFill>
              <a:srgbClr val="30363D"/>
            </a:solidFill>
            <a:prstDash val="solid"/>
          </a:ln>
        </p:spPr>
      </p:sp>
      <p:sp>
        <p:nvSpPr>
          <p:cNvPr id="11" name="Text 9"/>
          <p:cNvSpPr txBox="1"/>
          <p:nvPr/>
        </p:nvSpPr>
        <p:spPr>
          <a:xfrm>
            <a:off x="6400800" y="2560320"/>
            <a:ext cx="4983480" cy="411480"/>
          </a:xfrm>
          <a:prstGeom prst="rect">
            <a:avLst/>
          </a:prstGeom>
          <a:noFill/>
          <a:ln/>
        </p:spPr>
        <p:txBody>
          <a:bodyPr wrap="square" lIns="0" tIns="0" rIns="0" bIns="0" rtlCol="0" anchor="t"/>
          <a:lstStyle/>
          <a:p>
            <a:pPr indent="0" marL="0">
              <a:buNone/>
            </a:pPr>
            <a:r>
              <a:rPr lang="en-US" sz="1800" b="1" dirty="0">
                <a:solidFill>
                  <a:srgbClr val="F85149"/>
                </a:solidFill>
                <a:latin typeface="Cambria" pitchFamily="34" charset="0"/>
                <a:ea typeface="Cambria" pitchFamily="34" charset="-122"/>
                <a:cs typeface="Cambria" pitchFamily="34" charset="-120"/>
              </a:rPr>
              <a:t>Ada rumus pasti &amp; lengkap? Tidak</a:t>
            </a:r>
            <a:endParaRPr lang="en-US" sz="1800" dirty="0"/>
          </a:p>
        </p:txBody>
      </p:sp>
      <p:sp>
        <p:nvSpPr>
          <p:cNvPr id="12" name="Text 10"/>
          <p:cNvSpPr txBox="1"/>
          <p:nvPr/>
        </p:nvSpPr>
        <p:spPr>
          <a:xfrm>
            <a:off x="6400800" y="3017520"/>
            <a:ext cx="4983480" cy="777240"/>
          </a:xfrm>
          <a:prstGeom prst="rect">
            <a:avLst/>
          </a:prstGeom>
          <a:noFill/>
          <a:ln/>
        </p:spPr>
        <p:txBody>
          <a:bodyPr wrap="square" lIns="0" tIns="0" rIns="0" bIns="0" rtlCol="0" anchor="t"/>
          <a:lstStyle/>
          <a:p>
            <a:pPr indent="0" marL="0">
              <a:spcAft>
                <a:spcPts val="400"/>
              </a:spcAft>
              <a:buNone/>
            </a:pPr>
            <a:r>
              <a:rPr lang="en-US" sz="1500" dirty="0">
                <a:solidFill>
                  <a:srgbClr val="A9B4C2"/>
                </a:solidFill>
                <a:latin typeface="Calibri" pitchFamily="34" charset="0"/>
                <a:ea typeface="Calibri" pitchFamily="34" charset="-122"/>
                <a:cs typeface="Calibri" pitchFamily="34" charset="-120"/>
              </a:rPr>
              <a:t>Rate dasar &amp; hard pity resmi, tetapi soft pity (kapan &amp; seberapa cepat peluang naik) TIDAK diumumkan. Perkiraan komunitas pun berbeda-beda.</a:t>
            </a:r>
            <a:endParaRPr lang="en-US" sz="1500" dirty="0"/>
          </a:p>
        </p:txBody>
      </p:sp>
      <p:sp>
        <p:nvSpPr>
          <p:cNvPr id="13" name="Shape 11"/>
          <p:cNvSpPr/>
          <p:nvPr/>
        </p:nvSpPr>
        <p:spPr>
          <a:xfrm>
            <a:off x="548640" y="4206240"/>
            <a:ext cx="11064240" cy="1691640"/>
          </a:xfrm>
          <a:prstGeom prst="roundRect">
            <a:avLst>
              <a:gd name="adj" fmla="val 4324"/>
            </a:avLst>
          </a:prstGeom>
          <a:solidFill>
            <a:srgbClr val="1C2230"/>
          </a:solidFill>
          <a:ln w="9525">
            <a:solidFill>
              <a:srgbClr val="30363D"/>
            </a:solidFill>
            <a:prstDash val="solid"/>
          </a:ln>
        </p:spPr>
      </p:sp>
      <p:sp>
        <p:nvSpPr>
          <p:cNvPr id="14" name="Text 12"/>
          <p:cNvSpPr txBox="1"/>
          <p:nvPr/>
        </p:nvSpPr>
        <p:spPr>
          <a:xfrm>
            <a:off x="777240" y="4434840"/>
            <a:ext cx="10607040" cy="411480"/>
          </a:xfrm>
          <a:prstGeom prst="rect">
            <a:avLst/>
          </a:prstGeom>
          <a:noFill/>
          <a:ln/>
        </p:spPr>
        <p:txBody>
          <a:bodyPr wrap="square" lIns="0" tIns="0" rIns="0" bIns="0" rtlCol="0" anchor="t"/>
          <a:lstStyle/>
          <a:p>
            <a:pPr indent="0" marL="0">
              <a:buNone/>
            </a:pPr>
            <a:r>
              <a:rPr lang="en-US" sz="1800" b="1" dirty="0">
                <a:solidFill>
                  <a:srgbClr val="3FB950"/>
                </a:solidFill>
                <a:latin typeface="Cambria" pitchFamily="34" charset="0"/>
                <a:ea typeface="Cambria" pitchFamily="34" charset="-122"/>
                <a:cs typeface="Cambria" pitchFamily="34" charset="-120"/>
              </a:rPr>
              <a:t>→ Pola soft pity harus digali dari data riwayat pemain</a:t>
            </a:r>
            <a:endParaRPr lang="en-US" sz="1800" dirty="0"/>
          </a:p>
        </p:txBody>
      </p:sp>
      <p:sp>
        <p:nvSpPr>
          <p:cNvPr id="15" name="Text 13"/>
          <p:cNvSpPr txBox="1"/>
          <p:nvPr/>
        </p:nvSpPr>
        <p:spPr>
          <a:xfrm>
            <a:off x="777240" y="4892040"/>
            <a:ext cx="10607040" cy="822960"/>
          </a:xfrm>
          <a:prstGeom prst="rect">
            <a:avLst/>
          </a:prstGeom>
          <a:noFill/>
          <a:ln/>
        </p:spPr>
        <p:txBody>
          <a:bodyPr wrap="square" lIns="0" tIns="0" rIns="0" bIns="0" rtlCol="0" anchor="t"/>
          <a:lstStyle/>
          <a:p>
            <a:pPr indent="0" marL="0">
              <a:spcAft>
                <a:spcPts val="400"/>
              </a:spcAft>
              <a:buNone/>
            </a:pPr>
            <a:r>
              <a:rPr lang="en-US" sz="1500" dirty="0">
                <a:solidFill>
                  <a:srgbClr val="A9B4C2"/>
                </a:solidFill>
                <a:latin typeface="Calibri" pitchFamily="34" charset="0"/>
                <a:ea typeface="Calibri" pitchFamily="34" charset="-122"/>
                <a:cs typeface="Calibri" pitchFamily="34" charset="-120"/>
              </a:rPr>
              <a:t>Termasuk klasifikasi + estimasi peluang (supervised learning; label: dapat S-Rank atau tidak). Markov Chain menjadi pembanding teori, sedangkan algoritma tidak diberi tahu soft pity lalu diuji apakah bisa menemukannya sendiri.</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MASALAH</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Rumusan masalah</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5</a:t>
            </a:r>
            <a:endParaRPr lang="en-US" sz="1000" dirty="0"/>
          </a:p>
        </p:txBody>
      </p:sp>
      <p:sp>
        <p:nvSpPr>
          <p:cNvPr id="6" name="Shape 4"/>
          <p:cNvSpPr/>
          <p:nvPr/>
        </p:nvSpPr>
        <p:spPr>
          <a:xfrm>
            <a:off x="548640" y="1737360"/>
            <a:ext cx="2103120" cy="4206240"/>
          </a:xfrm>
          <a:prstGeom prst="roundRect">
            <a:avLst>
              <a:gd name="adj" fmla="val 3478"/>
            </a:avLst>
          </a:prstGeom>
          <a:solidFill>
            <a:srgbClr val="1C2230"/>
          </a:solidFill>
          <a:ln w="9525">
            <a:solidFill>
              <a:srgbClr val="30363D"/>
            </a:solidFill>
            <a:prstDash val="solid"/>
          </a:ln>
        </p:spPr>
      </p:sp>
      <p:sp>
        <p:nvSpPr>
          <p:cNvPr id="7" name="Shape 5"/>
          <p:cNvSpPr/>
          <p:nvPr/>
        </p:nvSpPr>
        <p:spPr>
          <a:xfrm>
            <a:off x="777240" y="1965960"/>
            <a:ext cx="457200" cy="457200"/>
          </a:xfrm>
          <a:prstGeom prst="ellipse">
            <a:avLst/>
          </a:prstGeom>
          <a:solidFill>
            <a:srgbClr val="F5A623"/>
          </a:solidFill>
          <a:ln/>
        </p:spPr>
      </p:sp>
      <p:sp>
        <p:nvSpPr>
          <p:cNvPr id="8" name="Text 6"/>
          <p:cNvSpPr txBox="1"/>
          <p:nvPr/>
        </p:nvSpPr>
        <p:spPr>
          <a:xfrm>
            <a:off x="777240" y="1965960"/>
            <a:ext cx="457200" cy="457200"/>
          </a:xfrm>
          <a:prstGeom prst="rect">
            <a:avLst/>
          </a:prstGeom>
          <a:noFill/>
          <a:ln/>
        </p:spPr>
        <p:txBody>
          <a:bodyPr wrap="square" lIns="0" tIns="0" rIns="0" bIns="0" rtlCol="0" anchor="ctr"/>
          <a:lstStyle/>
          <a:p>
            <a:pPr algn="ctr" indent="0" marL="0">
              <a:buNone/>
            </a:pPr>
            <a:r>
              <a:rPr lang="en-US" sz="1600" b="1" dirty="0">
                <a:solidFill>
                  <a:srgbClr val="0E1117"/>
                </a:solidFill>
                <a:latin typeface="Calibri" pitchFamily="34" charset="0"/>
                <a:ea typeface="Calibri" pitchFamily="34" charset="-122"/>
                <a:cs typeface="Calibri" pitchFamily="34" charset="-120"/>
              </a:rPr>
              <a:t>1</a:t>
            </a:r>
            <a:endParaRPr lang="en-US" sz="1600" dirty="0"/>
          </a:p>
        </p:txBody>
      </p:sp>
      <p:sp>
        <p:nvSpPr>
          <p:cNvPr id="9" name="Text 7"/>
          <p:cNvSpPr txBox="1"/>
          <p:nvPr/>
        </p:nvSpPr>
        <p:spPr>
          <a:xfrm>
            <a:off x="777240" y="2560320"/>
            <a:ext cx="1645920" cy="731520"/>
          </a:xfrm>
          <a:prstGeom prst="rect">
            <a:avLst/>
          </a:prstGeom>
          <a:noFill/>
          <a:ln/>
        </p:spPr>
        <p:txBody>
          <a:bodyPr wrap="square" lIns="0" tIns="0" rIns="0" bIns="0" rtlCol="0" anchor="t"/>
          <a:lstStyle/>
          <a:p>
            <a:pPr indent="0" marL="0">
              <a:buNone/>
            </a:pPr>
            <a:r>
              <a:rPr lang="en-US" sz="1700" b="1" dirty="0">
                <a:solidFill>
                  <a:srgbClr val="E6EDF3"/>
                </a:solidFill>
                <a:latin typeface="Cambria" pitchFamily="34" charset="0"/>
                <a:ea typeface="Cambria" pitchFamily="34" charset="-122"/>
                <a:cs typeface="Cambria" pitchFamily="34" charset="-120"/>
              </a:rPr>
              <a:t>Menghitung peluang</a:t>
            </a:r>
            <a:endParaRPr lang="en-US" sz="1700" dirty="0"/>
          </a:p>
        </p:txBody>
      </p:sp>
      <p:sp>
        <p:nvSpPr>
          <p:cNvPr id="10" name="Text 8"/>
          <p:cNvSpPr txBox="1"/>
          <p:nvPr/>
        </p:nvSpPr>
        <p:spPr>
          <a:xfrm>
            <a:off x="777240" y="3337560"/>
            <a:ext cx="1645920" cy="2423160"/>
          </a:xfrm>
          <a:prstGeom prst="rect">
            <a:avLst/>
          </a:prstGeom>
          <a:noFill/>
          <a:ln/>
        </p:spPr>
        <p:txBody>
          <a:bodyPr wrap="square" lIns="0" tIns="0" rIns="0" bIns="0" rtlCol="0" anchor="t"/>
          <a:lstStyle/>
          <a:p>
            <a:pPr indent="0" marL="0">
              <a:spcAft>
                <a:spcPts val="400"/>
              </a:spcAft>
              <a:buNone/>
            </a:pPr>
            <a:r>
              <a:rPr lang="en-US" sz="1400" dirty="0">
                <a:solidFill>
                  <a:srgbClr val="A9B4C2"/>
                </a:solidFill>
                <a:latin typeface="Calibri" pitchFamily="34" charset="0"/>
                <a:ea typeface="Calibri" pitchFamily="34" charset="-122"/>
                <a:cs typeface="Calibri" pitchFamily="34" charset="-120"/>
              </a:rPr>
              <a:t>Berapa peluang dapat S-Rank / S-Rank rate-up dalam N pull dari pity dan status guaranteed?</a:t>
            </a:r>
            <a:endParaRPr lang="en-US" sz="1400" dirty="0"/>
          </a:p>
        </p:txBody>
      </p:sp>
      <p:sp>
        <p:nvSpPr>
          <p:cNvPr id="11" name="Shape 9"/>
          <p:cNvSpPr/>
          <p:nvPr/>
        </p:nvSpPr>
        <p:spPr>
          <a:xfrm>
            <a:off x="2788920" y="1737360"/>
            <a:ext cx="2103120" cy="4206240"/>
          </a:xfrm>
          <a:prstGeom prst="roundRect">
            <a:avLst>
              <a:gd name="adj" fmla="val 3478"/>
            </a:avLst>
          </a:prstGeom>
          <a:solidFill>
            <a:srgbClr val="1C2230"/>
          </a:solidFill>
          <a:ln w="9525">
            <a:solidFill>
              <a:srgbClr val="30363D"/>
            </a:solidFill>
            <a:prstDash val="solid"/>
          </a:ln>
        </p:spPr>
      </p:sp>
      <p:sp>
        <p:nvSpPr>
          <p:cNvPr id="12" name="Shape 10"/>
          <p:cNvSpPr/>
          <p:nvPr/>
        </p:nvSpPr>
        <p:spPr>
          <a:xfrm>
            <a:off x="3017520" y="1965960"/>
            <a:ext cx="457200" cy="457200"/>
          </a:xfrm>
          <a:prstGeom prst="ellipse">
            <a:avLst/>
          </a:prstGeom>
          <a:solidFill>
            <a:srgbClr val="FF7EB6"/>
          </a:solidFill>
          <a:ln/>
        </p:spPr>
      </p:sp>
      <p:sp>
        <p:nvSpPr>
          <p:cNvPr id="13" name="Text 11"/>
          <p:cNvSpPr txBox="1"/>
          <p:nvPr/>
        </p:nvSpPr>
        <p:spPr>
          <a:xfrm>
            <a:off x="3017520" y="1965960"/>
            <a:ext cx="457200" cy="457200"/>
          </a:xfrm>
          <a:prstGeom prst="rect">
            <a:avLst/>
          </a:prstGeom>
          <a:noFill/>
          <a:ln/>
        </p:spPr>
        <p:txBody>
          <a:bodyPr wrap="square" lIns="0" tIns="0" rIns="0" bIns="0" rtlCol="0" anchor="ctr"/>
          <a:lstStyle/>
          <a:p>
            <a:pPr algn="ctr" indent="0" marL="0">
              <a:buNone/>
            </a:pPr>
            <a:r>
              <a:rPr lang="en-US" sz="1600" b="1" dirty="0">
                <a:solidFill>
                  <a:srgbClr val="0E1117"/>
                </a:solidFill>
                <a:latin typeface="Calibri" pitchFamily="34" charset="0"/>
                <a:ea typeface="Calibri" pitchFamily="34" charset="-122"/>
                <a:cs typeface="Calibri" pitchFamily="34" charset="-120"/>
              </a:rPr>
              <a:t>2</a:t>
            </a:r>
            <a:endParaRPr lang="en-US" sz="1600" dirty="0"/>
          </a:p>
        </p:txBody>
      </p:sp>
      <p:sp>
        <p:nvSpPr>
          <p:cNvPr id="14" name="Text 12"/>
          <p:cNvSpPr txBox="1"/>
          <p:nvPr/>
        </p:nvSpPr>
        <p:spPr>
          <a:xfrm>
            <a:off x="3017520" y="2560320"/>
            <a:ext cx="1645920" cy="731520"/>
          </a:xfrm>
          <a:prstGeom prst="rect">
            <a:avLst/>
          </a:prstGeom>
          <a:noFill/>
          <a:ln/>
        </p:spPr>
        <p:txBody>
          <a:bodyPr wrap="square" lIns="0" tIns="0" rIns="0" bIns="0" rtlCol="0" anchor="t"/>
          <a:lstStyle/>
          <a:p>
            <a:pPr indent="0" marL="0">
              <a:buNone/>
            </a:pPr>
            <a:r>
              <a:rPr lang="en-US" sz="1700" b="1" dirty="0">
                <a:solidFill>
                  <a:srgbClr val="E6EDF3"/>
                </a:solidFill>
                <a:latin typeface="Cambria" pitchFamily="34" charset="0"/>
                <a:ea typeface="Cambria" pitchFamily="34" charset="-122"/>
                <a:cs typeface="Cambria" pitchFamily="34" charset="-120"/>
              </a:rPr>
              <a:t>Pola soft pity</a:t>
            </a:r>
            <a:endParaRPr lang="en-US" sz="1700" dirty="0"/>
          </a:p>
        </p:txBody>
      </p:sp>
      <p:sp>
        <p:nvSpPr>
          <p:cNvPr id="15" name="Text 13"/>
          <p:cNvSpPr txBox="1"/>
          <p:nvPr/>
        </p:nvSpPr>
        <p:spPr>
          <a:xfrm>
            <a:off x="3017520" y="3337560"/>
            <a:ext cx="1645920" cy="2423160"/>
          </a:xfrm>
          <a:prstGeom prst="rect">
            <a:avLst/>
          </a:prstGeom>
          <a:noFill/>
          <a:ln/>
        </p:spPr>
        <p:txBody>
          <a:bodyPr wrap="square" lIns="0" tIns="0" rIns="0" bIns="0" rtlCol="0" anchor="t"/>
          <a:lstStyle/>
          <a:p>
            <a:pPr indent="0" marL="0">
              <a:spcAft>
                <a:spcPts val="400"/>
              </a:spcAft>
              <a:buNone/>
            </a:pPr>
            <a:r>
              <a:rPr lang="en-US" sz="1400" dirty="0">
                <a:solidFill>
                  <a:srgbClr val="A9B4C2"/>
                </a:solidFill>
                <a:latin typeface="Calibri" pitchFamily="34" charset="0"/>
                <a:ea typeface="Calibri" pitchFamily="34" charset="-122"/>
                <a:cs typeface="Calibri" pitchFamily="34" charset="-120"/>
              </a:rPr>
              <a:t>Bisakah soft pity yang tidak diumumkan resmi ditemukan dari data riwayat pemain?</a:t>
            </a:r>
            <a:endParaRPr lang="en-US" sz="1400" dirty="0"/>
          </a:p>
        </p:txBody>
      </p:sp>
      <p:sp>
        <p:nvSpPr>
          <p:cNvPr id="16" name="Shape 14"/>
          <p:cNvSpPr/>
          <p:nvPr/>
        </p:nvSpPr>
        <p:spPr>
          <a:xfrm>
            <a:off x="5029200" y="1737360"/>
            <a:ext cx="2103120" cy="4206240"/>
          </a:xfrm>
          <a:prstGeom prst="roundRect">
            <a:avLst>
              <a:gd name="adj" fmla="val 3478"/>
            </a:avLst>
          </a:prstGeom>
          <a:solidFill>
            <a:srgbClr val="1C2230"/>
          </a:solidFill>
          <a:ln w="9525">
            <a:solidFill>
              <a:srgbClr val="30363D"/>
            </a:solidFill>
            <a:prstDash val="solid"/>
          </a:ln>
        </p:spPr>
      </p:sp>
      <p:sp>
        <p:nvSpPr>
          <p:cNvPr id="17" name="Shape 15"/>
          <p:cNvSpPr/>
          <p:nvPr/>
        </p:nvSpPr>
        <p:spPr>
          <a:xfrm>
            <a:off x="5257800" y="1965960"/>
            <a:ext cx="457200" cy="457200"/>
          </a:xfrm>
          <a:prstGeom prst="ellipse">
            <a:avLst/>
          </a:prstGeom>
          <a:solidFill>
            <a:srgbClr val="58A6FF"/>
          </a:solidFill>
          <a:ln/>
        </p:spPr>
      </p:sp>
      <p:sp>
        <p:nvSpPr>
          <p:cNvPr id="18" name="Text 16"/>
          <p:cNvSpPr txBox="1"/>
          <p:nvPr/>
        </p:nvSpPr>
        <p:spPr>
          <a:xfrm>
            <a:off x="5257800" y="1965960"/>
            <a:ext cx="457200" cy="457200"/>
          </a:xfrm>
          <a:prstGeom prst="rect">
            <a:avLst/>
          </a:prstGeom>
          <a:noFill/>
          <a:ln/>
        </p:spPr>
        <p:txBody>
          <a:bodyPr wrap="square" lIns="0" tIns="0" rIns="0" bIns="0" rtlCol="0" anchor="ctr"/>
          <a:lstStyle/>
          <a:p>
            <a:pPr algn="ctr" indent="0" marL="0">
              <a:buNone/>
            </a:pPr>
            <a:r>
              <a:rPr lang="en-US" sz="1600" b="1" dirty="0">
                <a:solidFill>
                  <a:srgbClr val="0E1117"/>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5257800" y="2560320"/>
            <a:ext cx="1645920" cy="731520"/>
          </a:xfrm>
          <a:prstGeom prst="rect">
            <a:avLst/>
          </a:prstGeom>
          <a:noFill/>
          <a:ln/>
        </p:spPr>
        <p:txBody>
          <a:bodyPr wrap="square" lIns="0" tIns="0" rIns="0" bIns="0" rtlCol="0" anchor="t"/>
          <a:lstStyle/>
          <a:p>
            <a:pPr indent="0" marL="0">
              <a:buNone/>
            </a:pPr>
            <a:r>
              <a:rPr lang="en-US" sz="1700" b="1" dirty="0">
                <a:solidFill>
                  <a:srgbClr val="E6EDF3"/>
                </a:solidFill>
                <a:latin typeface="Cambria" pitchFamily="34" charset="0"/>
                <a:ea typeface="Cambria" pitchFamily="34" charset="-122"/>
                <a:cs typeface="Cambria" pitchFamily="34" charset="-120"/>
              </a:rPr>
              <a:t>Algoritma terbaik</a:t>
            </a:r>
            <a:endParaRPr lang="en-US" sz="1700" dirty="0"/>
          </a:p>
        </p:txBody>
      </p:sp>
      <p:sp>
        <p:nvSpPr>
          <p:cNvPr id="20" name="Text 18"/>
          <p:cNvSpPr txBox="1"/>
          <p:nvPr/>
        </p:nvSpPr>
        <p:spPr>
          <a:xfrm>
            <a:off x="5257800" y="3337560"/>
            <a:ext cx="1645920" cy="2423160"/>
          </a:xfrm>
          <a:prstGeom prst="rect">
            <a:avLst/>
          </a:prstGeom>
          <a:noFill/>
          <a:ln/>
        </p:spPr>
        <p:txBody>
          <a:bodyPr wrap="square" lIns="0" tIns="0" rIns="0" bIns="0" rtlCol="0" anchor="t"/>
          <a:lstStyle/>
          <a:p>
            <a:pPr indent="0" marL="0">
              <a:spcAft>
                <a:spcPts val="400"/>
              </a:spcAft>
              <a:buNone/>
            </a:pPr>
            <a:r>
              <a:rPr lang="en-US" sz="1400" dirty="0">
                <a:solidFill>
                  <a:srgbClr val="A9B4C2"/>
                </a:solidFill>
                <a:latin typeface="Calibri" pitchFamily="34" charset="0"/>
                <a:ea typeface="Calibri" pitchFamily="34" charset="-122"/>
                <a:cs typeface="Calibri" pitchFamily="34" charset="-120"/>
              </a:rPr>
              <a:t>Dari Naive Bayes, KNN, Logistic Regression, Decision Tree, Random Forest, dan XGBoost, mana yang paling akurat?</a:t>
            </a:r>
            <a:endParaRPr lang="en-US" sz="1400" dirty="0"/>
          </a:p>
        </p:txBody>
      </p:sp>
      <p:sp>
        <p:nvSpPr>
          <p:cNvPr id="21" name="Shape 19"/>
          <p:cNvSpPr/>
          <p:nvPr/>
        </p:nvSpPr>
        <p:spPr>
          <a:xfrm>
            <a:off x="7269480" y="1737360"/>
            <a:ext cx="2103120" cy="4206240"/>
          </a:xfrm>
          <a:prstGeom prst="roundRect">
            <a:avLst>
              <a:gd name="adj" fmla="val 3478"/>
            </a:avLst>
          </a:prstGeom>
          <a:solidFill>
            <a:srgbClr val="1C2230"/>
          </a:solidFill>
          <a:ln w="9525">
            <a:solidFill>
              <a:srgbClr val="30363D"/>
            </a:solidFill>
            <a:prstDash val="solid"/>
          </a:ln>
        </p:spPr>
      </p:sp>
      <p:sp>
        <p:nvSpPr>
          <p:cNvPr id="22" name="Shape 20"/>
          <p:cNvSpPr/>
          <p:nvPr/>
        </p:nvSpPr>
        <p:spPr>
          <a:xfrm>
            <a:off x="7498080" y="1965960"/>
            <a:ext cx="457200" cy="457200"/>
          </a:xfrm>
          <a:prstGeom prst="ellipse">
            <a:avLst/>
          </a:prstGeom>
          <a:solidFill>
            <a:srgbClr val="3FB950"/>
          </a:solidFill>
          <a:ln/>
        </p:spPr>
      </p:sp>
      <p:sp>
        <p:nvSpPr>
          <p:cNvPr id="23" name="Text 21"/>
          <p:cNvSpPr txBox="1"/>
          <p:nvPr/>
        </p:nvSpPr>
        <p:spPr>
          <a:xfrm>
            <a:off x="7498080" y="1965960"/>
            <a:ext cx="457200" cy="457200"/>
          </a:xfrm>
          <a:prstGeom prst="rect">
            <a:avLst/>
          </a:prstGeom>
          <a:noFill/>
          <a:ln/>
        </p:spPr>
        <p:txBody>
          <a:bodyPr wrap="square" lIns="0" tIns="0" rIns="0" bIns="0" rtlCol="0" anchor="ctr"/>
          <a:lstStyle/>
          <a:p>
            <a:pPr algn="ctr" indent="0" marL="0">
              <a:buNone/>
            </a:pPr>
            <a:r>
              <a:rPr lang="en-US" sz="1600" b="1" dirty="0">
                <a:solidFill>
                  <a:srgbClr val="0E1117"/>
                </a:solidFill>
                <a:latin typeface="Calibri" pitchFamily="34" charset="0"/>
                <a:ea typeface="Calibri" pitchFamily="34" charset="-122"/>
                <a:cs typeface="Calibri" pitchFamily="34" charset="-120"/>
              </a:rPr>
              <a:t>4</a:t>
            </a:r>
            <a:endParaRPr lang="en-US" sz="1600" dirty="0"/>
          </a:p>
        </p:txBody>
      </p:sp>
      <p:sp>
        <p:nvSpPr>
          <p:cNvPr id="24" name="Text 22"/>
          <p:cNvSpPr txBox="1"/>
          <p:nvPr/>
        </p:nvSpPr>
        <p:spPr>
          <a:xfrm>
            <a:off x="7498080" y="2560320"/>
            <a:ext cx="1645920" cy="731520"/>
          </a:xfrm>
          <a:prstGeom prst="rect">
            <a:avLst/>
          </a:prstGeom>
          <a:noFill/>
          <a:ln/>
        </p:spPr>
        <p:txBody>
          <a:bodyPr wrap="square" lIns="0" tIns="0" rIns="0" bIns="0" rtlCol="0" anchor="t"/>
          <a:lstStyle/>
          <a:p>
            <a:pPr indent="0" marL="0">
              <a:buNone/>
            </a:pPr>
            <a:r>
              <a:rPr lang="en-US" sz="1700" b="1" dirty="0">
                <a:solidFill>
                  <a:srgbClr val="E6EDF3"/>
                </a:solidFill>
                <a:latin typeface="Cambria" pitchFamily="34" charset="0"/>
                <a:ea typeface="Cambria" pitchFamily="34" charset="-122"/>
                <a:cs typeface="Cambria" pitchFamily="34" charset="-120"/>
              </a:rPr>
              <a:t>Evaluasi yang tepat</a:t>
            </a:r>
            <a:endParaRPr lang="en-US" sz="1700" dirty="0"/>
          </a:p>
        </p:txBody>
      </p:sp>
      <p:sp>
        <p:nvSpPr>
          <p:cNvPr id="25" name="Text 23"/>
          <p:cNvSpPr txBox="1"/>
          <p:nvPr/>
        </p:nvSpPr>
        <p:spPr>
          <a:xfrm>
            <a:off x="7498080" y="3337560"/>
            <a:ext cx="1645920" cy="2423160"/>
          </a:xfrm>
          <a:prstGeom prst="rect">
            <a:avLst/>
          </a:prstGeom>
          <a:noFill/>
          <a:ln/>
        </p:spPr>
        <p:txBody>
          <a:bodyPr wrap="square" lIns="0" tIns="0" rIns="0" bIns="0" rtlCol="0" anchor="t"/>
          <a:lstStyle/>
          <a:p>
            <a:pPr indent="0" marL="0">
              <a:spcAft>
                <a:spcPts val="400"/>
              </a:spcAft>
              <a:buNone/>
            </a:pPr>
            <a:r>
              <a:rPr lang="en-US" sz="1400" dirty="0">
                <a:solidFill>
                  <a:srgbClr val="A9B4C2"/>
                </a:solidFill>
                <a:latin typeface="Calibri" pitchFamily="34" charset="0"/>
                <a:ea typeface="Calibri" pitchFamily="34" charset="-122"/>
                <a:cs typeface="Calibri" pitchFamily="34" charset="-120"/>
              </a:rPr>
              <a:t>Bagaimana menilai model pada data yang sangat tidak seimbang?</a:t>
            </a:r>
            <a:endParaRPr lang="en-US" sz="1400" dirty="0"/>
          </a:p>
        </p:txBody>
      </p:sp>
      <p:sp>
        <p:nvSpPr>
          <p:cNvPr id="26" name="Shape 24"/>
          <p:cNvSpPr/>
          <p:nvPr/>
        </p:nvSpPr>
        <p:spPr>
          <a:xfrm>
            <a:off x="9509760" y="1737360"/>
            <a:ext cx="2103120" cy="4206240"/>
          </a:xfrm>
          <a:prstGeom prst="roundRect">
            <a:avLst>
              <a:gd name="adj" fmla="val 3478"/>
            </a:avLst>
          </a:prstGeom>
          <a:solidFill>
            <a:srgbClr val="1C2230"/>
          </a:solidFill>
          <a:ln w="9525">
            <a:solidFill>
              <a:srgbClr val="30363D"/>
            </a:solidFill>
            <a:prstDash val="solid"/>
          </a:ln>
        </p:spPr>
      </p:sp>
      <p:sp>
        <p:nvSpPr>
          <p:cNvPr id="27" name="Shape 25"/>
          <p:cNvSpPr/>
          <p:nvPr/>
        </p:nvSpPr>
        <p:spPr>
          <a:xfrm>
            <a:off x="9738360" y="1965960"/>
            <a:ext cx="457200" cy="457200"/>
          </a:xfrm>
          <a:prstGeom prst="ellipse">
            <a:avLst/>
          </a:prstGeom>
          <a:solidFill>
            <a:srgbClr val="BC8CFF"/>
          </a:solidFill>
          <a:ln/>
        </p:spPr>
      </p:sp>
      <p:sp>
        <p:nvSpPr>
          <p:cNvPr id="28" name="Text 26"/>
          <p:cNvSpPr txBox="1"/>
          <p:nvPr/>
        </p:nvSpPr>
        <p:spPr>
          <a:xfrm>
            <a:off x="9738360" y="1965960"/>
            <a:ext cx="457200" cy="457200"/>
          </a:xfrm>
          <a:prstGeom prst="rect">
            <a:avLst/>
          </a:prstGeom>
          <a:noFill/>
          <a:ln/>
        </p:spPr>
        <p:txBody>
          <a:bodyPr wrap="square" lIns="0" tIns="0" rIns="0" bIns="0" rtlCol="0" anchor="ctr"/>
          <a:lstStyle/>
          <a:p>
            <a:pPr algn="ctr" indent="0" marL="0">
              <a:buNone/>
            </a:pPr>
            <a:r>
              <a:rPr lang="en-US" sz="1600" b="1" dirty="0">
                <a:solidFill>
                  <a:srgbClr val="0E1117"/>
                </a:solidFill>
                <a:latin typeface="Calibri" pitchFamily="34" charset="0"/>
                <a:ea typeface="Calibri" pitchFamily="34" charset="-122"/>
                <a:cs typeface="Calibri" pitchFamily="34" charset="-120"/>
              </a:rPr>
              <a:t>5</a:t>
            </a:r>
            <a:endParaRPr lang="en-US" sz="1600" dirty="0"/>
          </a:p>
        </p:txBody>
      </p:sp>
      <p:sp>
        <p:nvSpPr>
          <p:cNvPr id="29" name="Text 27"/>
          <p:cNvSpPr txBox="1"/>
          <p:nvPr/>
        </p:nvSpPr>
        <p:spPr>
          <a:xfrm>
            <a:off x="9738360" y="2560320"/>
            <a:ext cx="1645920" cy="731520"/>
          </a:xfrm>
          <a:prstGeom prst="rect">
            <a:avLst/>
          </a:prstGeom>
          <a:noFill/>
          <a:ln/>
        </p:spPr>
        <p:txBody>
          <a:bodyPr wrap="square" lIns="0" tIns="0" rIns="0" bIns="0" rtlCol="0" anchor="t"/>
          <a:lstStyle/>
          <a:p>
            <a:pPr indent="0" marL="0">
              <a:buNone/>
            </a:pPr>
            <a:r>
              <a:rPr lang="en-US" sz="1700" b="1" dirty="0">
                <a:solidFill>
                  <a:srgbClr val="E6EDF3"/>
                </a:solidFill>
                <a:latin typeface="Cambria" pitchFamily="34" charset="0"/>
                <a:ea typeface="Cambria" pitchFamily="34" charset="-122"/>
                <a:cs typeface="Cambria" pitchFamily="34" charset="-120"/>
              </a:rPr>
              <a:t>Mudah diakses</a:t>
            </a:r>
            <a:endParaRPr lang="en-US" sz="1700" dirty="0"/>
          </a:p>
        </p:txBody>
      </p:sp>
      <p:sp>
        <p:nvSpPr>
          <p:cNvPr id="30" name="Text 28"/>
          <p:cNvSpPr txBox="1"/>
          <p:nvPr/>
        </p:nvSpPr>
        <p:spPr>
          <a:xfrm>
            <a:off x="9738360" y="3337560"/>
            <a:ext cx="1645920" cy="2423160"/>
          </a:xfrm>
          <a:prstGeom prst="rect">
            <a:avLst/>
          </a:prstGeom>
          <a:noFill/>
          <a:ln/>
        </p:spPr>
        <p:txBody>
          <a:bodyPr wrap="square" lIns="0" tIns="0" rIns="0" bIns="0" rtlCol="0" anchor="t"/>
          <a:lstStyle/>
          <a:p>
            <a:pPr indent="0" marL="0">
              <a:spcAft>
                <a:spcPts val="400"/>
              </a:spcAft>
              <a:buNone/>
            </a:pPr>
            <a:r>
              <a:rPr lang="en-US" sz="1400" dirty="0">
                <a:solidFill>
                  <a:srgbClr val="A9B4C2"/>
                </a:solidFill>
                <a:latin typeface="Calibri" pitchFamily="34" charset="0"/>
                <a:ea typeface="Calibri" pitchFamily="34" charset="-122"/>
                <a:cs typeface="Calibri" pitchFamily="34" charset="-120"/>
              </a:rPr>
              <a:t>Bagaimana menyajikannya dalam web yang nyaman di HP dan PC?</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OBJEK PENELITIAN</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Aturan dua banner terbatas</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766560" cy="914400"/>
        </p:xfrm>
        <a:graphic>
          <a:graphicData uri="http://schemas.openxmlformats.org/drawingml/2006/table">
            <a:tbl>
              <a:tblPr/>
              <a:tblGrid>
                <a:gridCol w="2194560"/>
                <a:gridCol w="1645920"/>
                <a:gridCol w="1737360"/>
                <a:gridCol w="1188720"/>
              </a:tblGrid>
              <a:tr h="457200">
                <a:tc>
                  <a:txBody>
                    <a:bodyPr/>
                    <a:lstStyle/>
                    <a:p>
                      <a:pPr algn="l" indent="0" marL="0">
                        <a:buNone/>
                      </a:pPr>
                      <a:r>
                        <a:rPr lang="en-US" sz="1300" b="1" dirty="0">
                          <a:solidFill>
                            <a:srgbClr val="F5A623"/>
                          </a:solidFill>
                          <a:latin typeface="Calibri" pitchFamily="34" charset="0"/>
                          <a:ea typeface="Calibri" pitchFamily="34" charset="-122"/>
                          <a:cs typeface="Calibri" pitchFamily="34" charset="-120"/>
                        </a:rPr>
                        <a:t>Parameter</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algn="ctr" indent="0" marL="0">
                        <a:buNone/>
                      </a:pPr>
                      <a:r>
                        <a:rPr lang="en-US" sz="1300" b="1" dirty="0">
                          <a:solidFill>
                            <a:srgbClr val="F5A623"/>
                          </a:solidFill>
                          <a:latin typeface="Calibri" pitchFamily="34" charset="0"/>
                          <a:ea typeface="Calibri" pitchFamily="34" charset="-122"/>
                          <a:cs typeface="Calibri" pitchFamily="34" charset="-120"/>
                        </a:rPr>
                        <a:t>Agent Terbatas</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algn="ctr" indent="0" marL="0">
                        <a:buNone/>
                      </a:pPr>
                      <a:r>
                        <a:rPr lang="en-US" sz="1300" b="1" dirty="0">
                          <a:solidFill>
                            <a:srgbClr val="F5A623"/>
                          </a:solidFill>
                          <a:latin typeface="Calibri" pitchFamily="34" charset="0"/>
                          <a:ea typeface="Calibri" pitchFamily="34" charset="-122"/>
                          <a:cs typeface="Calibri" pitchFamily="34" charset="-120"/>
                        </a:rPr>
                        <a:t>W-Engine Terbatas</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algn="ctr" indent="0" marL="0">
                        <a:buNone/>
                      </a:pPr>
                      <a:r>
                        <a:rPr lang="en-US" sz="1300" b="1" dirty="0">
                          <a:solidFill>
                            <a:srgbClr val="F5A623"/>
                          </a:solidFill>
                          <a:latin typeface="Calibri" pitchFamily="34" charset="0"/>
                          <a:ea typeface="Calibri" pitchFamily="34" charset="-122"/>
                          <a:cs typeface="Calibri" pitchFamily="34" charset="-120"/>
                        </a:rPr>
                        <a:t>Sumber</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57200">
                <a:tc>
                  <a:txBody>
                    <a:bodyPr/>
                    <a:lstStyle/>
                    <a:p>
                      <a:pPr algn="l" indent="0" marL="0">
                        <a:buNone/>
                      </a:pPr>
                      <a:r>
                        <a:rPr lang="en-US" sz="1300" dirty="0">
                          <a:solidFill>
                            <a:srgbClr val="E6EDF3"/>
                          </a:solidFill>
                          <a:latin typeface="Calibri" pitchFamily="34" charset="0"/>
                          <a:ea typeface="Calibri" pitchFamily="34" charset="-122"/>
                          <a:cs typeface="Calibri" pitchFamily="34" charset="-120"/>
                        </a:rPr>
                        <a:t>Rate dasar S-Rank</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0,6%</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Resmi</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457200">
                <a:tc>
                  <a:txBody>
                    <a:bodyPr/>
                    <a:lstStyle/>
                    <a:p>
                      <a:pPr algn="l" indent="0" marL="0">
                        <a:buNone/>
                      </a:pPr>
                      <a:r>
                        <a:rPr lang="en-US" sz="1300" dirty="0">
                          <a:solidFill>
                            <a:srgbClr val="E6EDF3"/>
                          </a:solidFill>
                          <a:latin typeface="Calibri" pitchFamily="34" charset="0"/>
                          <a:ea typeface="Calibri" pitchFamily="34" charset="-122"/>
                          <a:cs typeface="Calibri" pitchFamily="34" charset="-120"/>
                        </a:rPr>
                        <a:t>Rate gabungan</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Resmi</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r>
              <a:tr h="457200">
                <a:tc>
                  <a:txBody>
                    <a:bodyPr/>
                    <a:lstStyle/>
                    <a:p>
                      <a:pPr algn="l" indent="0" marL="0">
                        <a:buNone/>
                      </a:pPr>
                      <a:r>
                        <a:rPr lang="en-US" sz="1300" dirty="0">
                          <a:solidFill>
                            <a:srgbClr val="E6EDF3"/>
                          </a:solidFill>
                          <a:latin typeface="Calibri" pitchFamily="34" charset="0"/>
                          <a:ea typeface="Calibri" pitchFamily="34" charset="-122"/>
                          <a:cs typeface="Calibri" pitchFamily="34" charset="-120"/>
                        </a:rPr>
                        <a:t>Hard pity</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90</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80</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Resmi</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457200">
                <a:tc>
                  <a:txBody>
                    <a:bodyPr/>
                    <a:lstStyle/>
                    <a:p>
                      <a:pPr algn="l" indent="0" marL="0">
                        <a:buNone/>
                      </a:pPr>
                      <a:r>
                        <a:rPr lang="en-US" sz="1300" dirty="0">
                          <a:solidFill>
                            <a:srgbClr val="E6EDF3"/>
                          </a:solidFill>
                          <a:latin typeface="Calibri" pitchFamily="34" charset="0"/>
                          <a:ea typeface="Calibri" pitchFamily="34" charset="-122"/>
                          <a:cs typeface="Calibri" pitchFamily="34" charset="-120"/>
                        </a:rPr>
                        <a:t>Peluang rate-up</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50% (50/50)</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75% (75/25)</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Resmi</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r>
              <a:tr h="457200">
                <a:tc>
                  <a:txBody>
                    <a:bodyPr/>
                    <a:lstStyle/>
                    <a:p>
                      <a:pPr algn="l" indent="0" marL="0">
                        <a:buNone/>
                      </a:pPr>
                      <a:r>
                        <a:rPr lang="en-US" sz="1300" dirty="0">
                          <a:solidFill>
                            <a:srgbClr val="E6EDF3"/>
                          </a:solidFill>
                          <a:latin typeface="Calibri" pitchFamily="34" charset="0"/>
                          <a:ea typeface="Calibri" pitchFamily="34" charset="-122"/>
                          <a:cs typeface="Calibri" pitchFamily="34" charset="-120"/>
                        </a:rPr>
                        <a:t>Soft pity mulai</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 pull 74</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 pull 65</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Estimasi</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bl>
          </a:graphicData>
        </a:graphic>
      </p:graphicFrame>
      <p:sp>
        <p:nvSpPr>
          <p:cNvPr id="7" name="Shape 4"/>
          <p:cNvSpPr/>
          <p:nvPr/>
        </p:nvSpPr>
        <p:spPr>
          <a:xfrm>
            <a:off x="7680960" y="1645920"/>
            <a:ext cx="3931920" cy="2743200"/>
          </a:xfrm>
          <a:prstGeom prst="roundRect">
            <a:avLst>
              <a:gd name="adj" fmla="val 2667"/>
            </a:avLst>
          </a:prstGeom>
          <a:solidFill>
            <a:srgbClr val="1C2230"/>
          </a:solidFill>
          <a:ln w="9525">
            <a:solidFill>
              <a:srgbClr val="30363D"/>
            </a:solidFill>
            <a:prstDash val="solid"/>
          </a:ln>
        </p:spPr>
      </p:sp>
      <p:sp>
        <p:nvSpPr>
          <p:cNvPr id="8" name="Text 5"/>
          <p:cNvSpPr txBox="1"/>
          <p:nvPr/>
        </p:nvSpPr>
        <p:spPr>
          <a:xfrm>
            <a:off x="7909560" y="1874520"/>
            <a:ext cx="3474720" cy="411480"/>
          </a:xfrm>
          <a:prstGeom prst="rect">
            <a:avLst/>
          </a:prstGeom>
          <a:noFill/>
          <a:ln/>
        </p:spPr>
        <p:txBody>
          <a:bodyPr wrap="square" lIns="0" tIns="0" rIns="0" bIns="0" rtlCol="0" anchor="t"/>
          <a:lstStyle/>
          <a:p>
            <a:pPr indent="0" marL="0">
              <a:buNone/>
            </a:pPr>
            <a:r>
              <a:rPr lang="en-US" sz="1800" b="1" dirty="0">
                <a:solidFill>
                  <a:srgbClr val="58A6FF"/>
                </a:solidFill>
                <a:latin typeface="Cambria" pitchFamily="34" charset="0"/>
                <a:ea typeface="Cambria" pitchFamily="34" charset="-122"/>
                <a:cs typeface="Cambria" pitchFamily="34" charset="-120"/>
              </a:rPr>
              <a:t>Guaranteed</a:t>
            </a:r>
            <a:endParaRPr lang="en-US" sz="1800" dirty="0"/>
          </a:p>
        </p:txBody>
      </p:sp>
      <p:sp>
        <p:nvSpPr>
          <p:cNvPr id="9" name="Text 6"/>
          <p:cNvSpPr txBox="1"/>
          <p:nvPr/>
        </p:nvSpPr>
        <p:spPr>
          <a:xfrm>
            <a:off x="7909560" y="2331720"/>
            <a:ext cx="3474720" cy="1874520"/>
          </a:xfrm>
          <a:prstGeom prst="rect">
            <a:avLst/>
          </a:prstGeom>
          <a:noFill/>
          <a:ln/>
        </p:spPr>
        <p:txBody>
          <a:bodyPr wrap="square" lIns="0" tIns="0" rIns="0" bIns="0" rtlCol="0" anchor="t"/>
          <a:lstStyle/>
          <a:p>
            <a:pPr indent="0" marL="0">
              <a:spcAft>
                <a:spcPts val="400"/>
              </a:spcAft>
              <a:buNone/>
            </a:pPr>
            <a:r>
              <a:rPr lang="en-US" sz="1500" dirty="0">
                <a:solidFill>
                  <a:srgbClr val="A9B4C2"/>
                </a:solidFill>
                <a:latin typeface="Calibri" pitchFamily="34" charset="0"/>
                <a:ea typeface="Calibri" pitchFamily="34" charset="-122"/>
                <a:cs typeface="Calibri" pitchFamily="34" charset="-120"/>
              </a:rPr>
              <a:t>Kalah 50/50 (dapat S standar) → S-Rank berikutnya pasti rate-up.</a:t>
            </a:r>
            <a:endParaRPr lang="en-US" sz="1500" dirty="0"/>
          </a:p>
        </p:txBody>
      </p:sp>
      <p:sp>
        <p:nvSpPr>
          <p:cNvPr id="10" name="Shape 7"/>
          <p:cNvSpPr/>
          <p:nvPr/>
        </p:nvSpPr>
        <p:spPr>
          <a:xfrm>
            <a:off x="7680960" y="4572000"/>
            <a:ext cx="3931920" cy="1463040"/>
          </a:xfrm>
          <a:prstGeom prst="roundRect">
            <a:avLst>
              <a:gd name="adj" fmla="val 5000"/>
            </a:avLst>
          </a:prstGeom>
          <a:solidFill>
            <a:srgbClr val="1C2230"/>
          </a:solidFill>
          <a:ln w="9525">
            <a:solidFill>
              <a:srgbClr val="30363D"/>
            </a:solidFill>
            <a:prstDash val="solid"/>
          </a:ln>
        </p:spPr>
      </p:sp>
      <p:sp>
        <p:nvSpPr>
          <p:cNvPr id="11" name="Text 8"/>
          <p:cNvSpPr txBox="1"/>
          <p:nvPr/>
        </p:nvSpPr>
        <p:spPr>
          <a:xfrm>
            <a:off x="7909560" y="4800600"/>
            <a:ext cx="3474720" cy="411480"/>
          </a:xfrm>
          <a:prstGeom prst="rect">
            <a:avLst/>
          </a:prstGeom>
          <a:noFill/>
          <a:ln/>
        </p:spPr>
        <p:txBody>
          <a:bodyPr wrap="square" lIns="0" tIns="0" rIns="0" bIns="0" rtlCol="0" anchor="t"/>
          <a:lstStyle/>
          <a:p>
            <a:pPr indent="0" marL="0">
              <a:buNone/>
            </a:pPr>
            <a:r>
              <a:rPr lang="en-US" sz="1800" b="1" dirty="0">
                <a:solidFill>
                  <a:srgbClr val="8B949E"/>
                </a:solidFill>
                <a:latin typeface="Cambria" pitchFamily="34" charset="0"/>
                <a:ea typeface="Cambria" pitchFamily="34" charset="-122"/>
                <a:cs typeface="Cambria" pitchFamily="34" charset="-120"/>
              </a:rPr>
              <a:t>Batasan</a:t>
            </a:r>
            <a:endParaRPr lang="en-US" sz="1800" dirty="0"/>
          </a:p>
        </p:txBody>
      </p:sp>
      <p:sp>
        <p:nvSpPr>
          <p:cNvPr id="12" name="Text 9"/>
          <p:cNvSpPr txBox="1"/>
          <p:nvPr/>
        </p:nvSpPr>
        <p:spPr>
          <a:xfrm>
            <a:off x="7909560" y="5257800"/>
            <a:ext cx="3474720" cy="594360"/>
          </a:xfrm>
          <a:prstGeom prst="rect">
            <a:avLst/>
          </a:prstGeom>
          <a:noFill/>
          <a:ln/>
        </p:spPr>
        <p:txBody>
          <a:bodyPr wrap="square" lIns="0" tIns="0" rIns="0" bIns="0" rtlCol="0" anchor="t"/>
          <a:lstStyle/>
          <a:p>
            <a:pPr indent="0" marL="0">
              <a:spcAft>
                <a:spcPts val="400"/>
              </a:spcAft>
              <a:buNone/>
            </a:pPr>
            <a:r>
              <a:rPr lang="en-US" sz="1400" dirty="0">
                <a:solidFill>
                  <a:srgbClr val="A9B4C2"/>
                </a:solidFill>
                <a:latin typeface="Calibri" pitchFamily="34" charset="0"/>
                <a:ea typeface="Calibri" pitchFamily="34" charset="-122"/>
                <a:cs typeface="Calibri" pitchFamily="34" charset="-120"/>
              </a:rPr>
              <a:t>Banner standar &amp; Bangboo tidak dibahas.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LANDASAN TEORI</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Markov Chain: peluang dari aturan banner</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7</a:t>
            </a:r>
            <a:endParaRPr lang="en-US" sz="1000" dirty="0"/>
          </a:p>
        </p:txBody>
      </p:sp>
      <p:sp>
        <p:nvSpPr>
          <p:cNvPr id="6" name="Shape 4"/>
          <p:cNvSpPr/>
          <p:nvPr/>
        </p:nvSpPr>
        <p:spPr>
          <a:xfrm>
            <a:off x="438912" y="1554480"/>
            <a:ext cx="5705856" cy="2194560"/>
          </a:xfrm>
          <a:prstGeom prst="roundRect">
            <a:avLst>
              <a:gd name="adj" fmla="val 2500"/>
            </a:avLst>
          </a:prstGeom>
          <a:solidFill>
            <a:srgbClr val="FFFFFF"/>
          </a:solidFill>
          <a:ln w="12700">
            <a:solidFill>
              <a:srgbClr val="30363D"/>
            </a:solidFill>
            <a:prstDash val="solid"/>
          </a:ln>
        </p:spPr>
      </p:sp>
      <p:pic>
        <p:nvPicPr>
          <p:cNvPr id="7" name="Image 0" descr="fig_markov.png">    </p:cNvPr>
          <p:cNvPicPr>
            <a:picLocks noChangeAspect="1"/>
          </p:cNvPicPr>
          <p:nvPr/>
        </p:nvPicPr>
        <p:blipFill>
          <a:blip r:embed="rId1"/>
          <a:stretch>
            <a:fillRect/>
          </a:stretch>
        </p:blipFill>
        <p:spPr>
          <a:xfrm>
            <a:off x="548640" y="1664208"/>
            <a:ext cx="5486400" cy="1975104"/>
          </a:xfrm>
          <a:prstGeom prst="rect">
            <a:avLst/>
          </a:prstGeom>
        </p:spPr>
      </p:pic>
      <p:sp>
        <p:nvSpPr>
          <p:cNvPr id="8" name="Shape 5"/>
          <p:cNvSpPr/>
          <p:nvPr/>
        </p:nvSpPr>
        <p:spPr>
          <a:xfrm>
            <a:off x="775796" y="3822192"/>
            <a:ext cx="5032088" cy="2505456"/>
          </a:xfrm>
          <a:prstGeom prst="roundRect">
            <a:avLst>
              <a:gd name="adj" fmla="val 2190"/>
            </a:avLst>
          </a:prstGeom>
          <a:solidFill>
            <a:srgbClr val="FFFFFF"/>
          </a:solidFill>
          <a:ln w="12700">
            <a:solidFill>
              <a:srgbClr val="30363D"/>
            </a:solidFill>
            <a:prstDash val="solid"/>
          </a:ln>
        </p:spPr>
      </p:sp>
      <p:pic>
        <p:nvPicPr>
          <p:cNvPr id="9" name="Image 1" descr="fig_hazard.png">    </p:cNvPr>
          <p:cNvPicPr>
            <a:picLocks noChangeAspect="1"/>
          </p:cNvPicPr>
          <p:nvPr/>
        </p:nvPicPr>
        <p:blipFill>
          <a:blip r:embed="rId2"/>
          <a:stretch>
            <a:fillRect/>
          </a:stretch>
        </p:blipFill>
        <p:spPr>
          <a:xfrm>
            <a:off x="885524" y="3931920"/>
            <a:ext cx="4812632" cy="2286000"/>
          </a:xfrm>
          <a:prstGeom prst="rect">
            <a:avLst/>
          </a:prstGeom>
        </p:spPr>
      </p:pic>
      <p:sp>
        <p:nvSpPr>
          <p:cNvPr id="10" name="Text 6"/>
          <p:cNvSpPr txBox="1"/>
          <p:nvPr/>
        </p:nvSpPr>
        <p:spPr>
          <a:xfrm>
            <a:off x="6492240" y="1737360"/>
            <a:ext cx="5120640" cy="4389120"/>
          </a:xfrm>
          <a:prstGeom prst="rect">
            <a:avLst/>
          </a:prstGeom>
          <a:noFill/>
          <a:ln/>
        </p:spPr>
        <p:txBody>
          <a:bodyPr wrap="square" lIns="0" tIns="0" rIns="0" bIns="0" rtlCol="0" anchor="t"/>
          <a:lstStyle/>
          <a:p>
            <a:pPr marL="228600" indent="-228600">
              <a:spcAft>
                <a:spcPts val="1200"/>
              </a:spcAft>
              <a:buSzPct val="100000"/>
              <a:buChar char="•"/>
            </a:pPr>
            <a:r>
              <a:rPr lang="en-US" sz="1600" dirty="0">
                <a:solidFill>
                  <a:srgbClr val="E6EDF3"/>
                </a:solidFill>
                <a:latin typeface="Calibri" pitchFamily="34" charset="0"/>
                <a:ea typeface="Calibri" pitchFamily="34" charset="-122"/>
                <a:cs typeface="Calibri" pitchFamily="34" charset="-120"/>
              </a:rPr>
              <a:t>Peluang S di pull ke-n hanya bergantung pada pity → cocok dimodelkan Markov Chain.</a:t>
            </a:r>
            <a:endParaRPr lang="en-US" sz="1600" dirty="0"/>
          </a:p>
          <a:p>
            <a:pPr marL="228600" indent="-228600">
              <a:spcAft>
                <a:spcPts val="1200"/>
              </a:spcAft>
              <a:buSzPct val="100000"/>
              <a:buChar char="•"/>
            </a:pPr>
            <a:r>
              <a:rPr lang="en-US" sz="1600" dirty="0">
                <a:solidFill>
                  <a:srgbClr val="E6EDF3"/>
                </a:solidFill>
                <a:latin typeface="Calibri" pitchFamily="34" charset="0"/>
                <a:ea typeface="Calibri" pitchFamily="34" charset="-122"/>
                <a:cs typeface="Calibri" pitchFamily="34" charset="-120"/>
              </a:rPr>
              <a:t>h(n) = rate dasar, lalu naik k per pull setelah soft pity, dan = 1 di hard pity.</a:t>
            </a:r>
            <a:endParaRPr lang="en-US" sz="1600" dirty="0"/>
          </a:p>
          <a:p>
            <a:pPr marL="228600" indent="-228600">
              <a:spcAft>
                <a:spcPts val="1200"/>
              </a:spcAft>
              <a:buSzPct val="100000"/>
              <a:buChar char="•"/>
            </a:pPr>
            <a:r>
              <a:rPr lang="en-US" sz="1600" dirty="0">
                <a:solidFill>
                  <a:srgbClr val="E6EDF3"/>
                </a:solidFill>
                <a:latin typeface="Calibri" pitchFamily="34" charset="0"/>
                <a:ea typeface="Calibri" pitchFamily="34" charset="-122"/>
                <a:cs typeface="Calibri" pitchFamily="34" charset="-120"/>
              </a:rPr>
              <a:t>k dicari dengan metode biseksi supaya rata-rata = rate gabungan resmi (k ≈ 5,3% Agent, 5,5% W-Engine).</a:t>
            </a:r>
            <a:endParaRPr lang="en-US" sz="1600" dirty="0"/>
          </a:p>
          <a:p>
            <a:pPr marL="228600" indent="-228600">
              <a:spcAft>
                <a:spcPts val="1200"/>
              </a:spcAft>
              <a:buSzPct val="100000"/>
              <a:buChar char="•"/>
            </a:pPr>
            <a:r>
              <a:rPr lang="en-US" sz="1600" dirty="0">
                <a:solidFill>
                  <a:srgbClr val="E6EDF3"/>
                </a:solidFill>
                <a:latin typeface="Calibri" pitchFamily="34" charset="0"/>
                <a:ea typeface="Calibri" pitchFamily="34" charset="-122"/>
                <a:cs typeface="Calibri" pitchFamily="34" charset="-120"/>
              </a:rPr>
              <a:t>Hasil: peluang dapat S / S rate-up dalam N pull dihitung langsung, tanpa simulasi.</a:t>
            </a:r>
            <a:endParaRPr lang="en-US" sz="1600" dirty="0"/>
          </a:p>
          <a:p>
            <a:pPr marL="228600" indent="-228600">
              <a:spcAft>
                <a:spcPts val="1200"/>
              </a:spcAft>
              <a:buSzPct val="100000"/>
              <a:buChar char="•"/>
            </a:pPr>
            <a:r>
              <a:rPr lang="en-US" sz="1600" dirty="0">
                <a:solidFill>
                  <a:srgbClr val="E6EDF3"/>
                </a:solidFill>
                <a:latin typeface="Calibri" pitchFamily="34" charset="0"/>
                <a:ea typeface="Calibri" pitchFamily="34" charset="-122"/>
                <a:cs typeface="Calibri" pitchFamily="34" charset="-120"/>
              </a:rPr>
              <a:t>Catatan: titik soft pity bukan angka resmi → diperiksa dengan data asli.</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LANDASAN TEORI</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Enam algoritma klasifikasi yang dibandingkan</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8</a:t>
            </a:r>
            <a:endParaRPr lang="en-US" sz="1000" dirty="0"/>
          </a:p>
        </p:txBody>
      </p:sp>
      <p:sp>
        <p:nvSpPr>
          <p:cNvPr id="6" name="Shape 4"/>
          <p:cNvSpPr/>
          <p:nvPr/>
        </p:nvSpPr>
        <p:spPr>
          <a:xfrm>
            <a:off x="548640" y="1645920"/>
            <a:ext cx="3566160" cy="2057400"/>
          </a:xfrm>
          <a:prstGeom prst="roundRect">
            <a:avLst>
              <a:gd name="adj" fmla="val 3556"/>
            </a:avLst>
          </a:prstGeom>
          <a:solidFill>
            <a:srgbClr val="1C2230"/>
          </a:solidFill>
          <a:ln w="9525">
            <a:solidFill>
              <a:srgbClr val="30363D"/>
            </a:solidFill>
            <a:prstDash val="solid"/>
          </a:ln>
        </p:spPr>
      </p:sp>
      <p:sp>
        <p:nvSpPr>
          <p:cNvPr id="7" name="Text 5"/>
          <p:cNvSpPr txBox="1"/>
          <p:nvPr/>
        </p:nvSpPr>
        <p:spPr>
          <a:xfrm>
            <a:off x="777240" y="1874520"/>
            <a:ext cx="3108960" cy="411480"/>
          </a:xfrm>
          <a:prstGeom prst="rect">
            <a:avLst/>
          </a:prstGeom>
          <a:noFill/>
          <a:ln/>
        </p:spPr>
        <p:txBody>
          <a:bodyPr wrap="square" lIns="0" tIns="0" rIns="0" bIns="0" rtlCol="0" anchor="t"/>
          <a:lstStyle/>
          <a:p>
            <a:pPr indent="0" marL="0">
              <a:buNone/>
            </a:pPr>
            <a:r>
              <a:rPr lang="en-US" sz="2000" b="1" dirty="0">
                <a:solidFill>
                  <a:srgbClr val="BC8CFF"/>
                </a:solidFill>
                <a:latin typeface="Cambria" pitchFamily="34" charset="0"/>
                <a:ea typeface="Cambria" pitchFamily="34" charset="-122"/>
                <a:cs typeface="Cambria" pitchFamily="34" charset="-120"/>
              </a:rPr>
              <a:t>Naive Bayes</a:t>
            </a:r>
            <a:endParaRPr lang="en-US" sz="2000" dirty="0"/>
          </a:p>
        </p:txBody>
      </p:sp>
      <p:sp>
        <p:nvSpPr>
          <p:cNvPr id="8" name="Text 6"/>
          <p:cNvSpPr txBox="1"/>
          <p:nvPr/>
        </p:nvSpPr>
        <p:spPr>
          <a:xfrm>
            <a:off x="777240" y="2331720"/>
            <a:ext cx="3108960" cy="1188720"/>
          </a:xfrm>
          <a:prstGeom prst="rect">
            <a:avLst/>
          </a:prstGeom>
          <a:noFill/>
          <a:ln/>
        </p:spPr>
        <p:txBody>
          <a:bodyPr wrap="square" lIns="0" tIns="0" rIns="0" bIns="0" rtlCol="0" anchor="t"/>
          <a:lstStyle/>
          <a:p>
            <a:pPr indent="0" marL="0">
              <a:spcAft>
                <a:spcPts val="400"/>
              </a:spcAft>
              <a:buNone/>
            </a:pPr>
            <a:r>
              <a:rPr lang="en-US" sz="1500" dirty="0">
                <a:solidFill>
                  <a:srgbClr val="A9B4C2"/>
                </a:solidFill>
                <a:latin typeface="Calibri" pitchFamily="34" charset="0"/>
                <a:ea typeface="Calibri" pitchFamily="34" charset="-122"/>
                <a:cs typeface="Calibri" pitchFamily="34" charset="-120"/>
              </a:rPr>
              <a:t>Probabilistik, asumsi fitur saling bebas &amp; berdistribusi normal.</a:t>
            </a:r>
            <a:endParaRPr lang="en-US" sz="1500" dirty="0"/>
          </a:p>
        </p:txBody>
      </p:sp>
      <p:sp>
        <p:nvSpPr>
          <p:cNvPr id="9" name="Shape 7"/>
          <p:cNvSpPr/>
          <p:nvPr/>
        </p:nvSpPr>
        <p:spPr>
          <a:xfrm>
            <a:off x="4297680" y="1645920"/>
            <a:ext cx="3566160" cy="2057400"/>
          </a:xfrm>
          <a:prstGeom prst="roundRect">
            <a:avLst>
              <a:gd name="adj" fmla="val 3556"/>
            </a:avLst>
          </a:prstGeom>
          <a:solidFill>
            <a:srgbClr val="1C2230"/>
          </a:solidFill>
          <a:ln w="9525">
            <a:solidFill>
              <a:srgbClr val="30363D"/>
            </a:solidFill>
            <a:prstDash val="solid"/>
          </a:ln>
        </p:spPr>
      </p:sp>
      <p:sp>
        <p:nvSpPr>
          <p:cNvPr id="10" name="Text 8"/>
          <p:cNvSpPr txBox="1"/>
          <p:nvPr/>
        </p:nvSpPr>
        <p:spPr>
          <a:xfrm>
            <a:off x="4526280" y="1874520"/>
            <a:ext cx="3108960" cy="411480"/>
          </a:xfrm>
          <a:prstGeom prst="rect">
            <a:avLst/>
          </a:prstGeom>
          <a:noFill/>
          <a:ln/>
        </p:spPr>
        <p:txBody>
          <a:bodyPr wrap="square" lIns="0" tIns="0" rIns="0" bIns="0" rtlCol="0" anchor="t"/>
          <a:lstStyle/>
          <a:p>
            <a:pPr indent="0" marL="0">
              <a:buNone/>
            </a:pPr>
            <a:r>
              <a:rPr lang="en-US" sz="2000" b="1" dirty="0">
                <a:solidFill>
                  <a:srgbClr val="FF7EB6"/>
                </a:solidFill>
                <a:latin typeface="Cambria" pitchFamily="34" charset="0"/>
                <a:ea typeface="Cambria" pitchFamily="34" charset="-122"/>
                <a:cs typeface="Cambria" pitchFamily="34" charset="-120"/>
              </a:rPr>
              <a:t>KNN</a:t>
            </a:r>
            <a:endParaRPr lang="en-US" sz="2000" dirty="0"/>
          </a:p>
        </p:txBody>
      </p:sp>
      <p:sp>
        <p:nvSpPr>
          <p:cNvPr id="11" name="Text 9"/>
          <p:cNvSpPr txBox="1"/>
          <p:nvPr/>
        </p:nvSpPr>
        <p:spPr>
          <a:xfrm>
            <a:off x="4526280" y="2331720"/>
            <a:ext cx="3108960" cy="1188720"/>
          </a:xfrm>
          <a:prstGeom prst="rect">
            <a:avLst/>
          </a:prstGeom>
          <a:noFill/>
          <a:ln/>
        </p:spPr>
        <p:txBody>
          <a:bodyPr wrap="square" lIns="0" tIns="0" rIns="0" bIns="0" rtlCol="0" anchor="t"/>
          <a:lstStyle/>
          <a:p>
            <a:pPr indent="0" marL="0">
              <a:spcAft>
                <a:spcPts val="400"/>
              </a:spcAft>
              <a:buNone/>
            </a:pPr>
            <a:r>
              <a:rPr lang="en-US" sz="1500" dirty="0">
                <a:solidFill>
                  <a:srgbClr val="A9B4C2"/>
                </a:solidFill>
                <a:latin typeface="Calibri" pitchFamily="34" charset="0"/>
                <a:ea typeface="Calibri" pitchFamily="34" charset="-122"/>
                <a:cs typeface="Calibri" pitchFamily="34" charset="-120"/>
              </a:rPr>
              <a:t>Menebak dari 101 data latih terdekat (fitur dinormalisasi).</a:t>
            </a:r>
            <a:endParaRPr lang="en-US" sz="1500" dirty="0"/>
          </a:p>
        </p:txBody>
      </p:sp>
      <p:sp>
        <p:nvSpPr>
          <p:cNvPr id="12" name="Shape 10"/>
          <p:cNvSpPr/>
          <p:nvPr/>
        </p:nvSpPr>
        <p:spPr>
          <a:xfrm>
            <a:off x="8046720" y="1645920"/>
            <a:ext cx="3566160" cy="2057400"/>
          </a:xfrm>
          <a:prstGeom prst="roundRect">
            <a:avLst>
              <a:gd name="adj" fmla="val 3556"/>
            </a:avLst>
          </a:prstGeom>
          <a:solidFill>
            <a:srgbClr val="1C2230"/>
          </a:solidFill>
          <a:ln w="9525">
            <a:solidFill>
              <a:srgbClr val="30363D"/>
            </a:solidFill>
            <a:prstDash val="solid"/>
          </a:ln>
        </p:spPr>
      </p:sp>
      <p:sp>
        <p:nvSpPr>
          <p:cNvPr id="13" name="Text 11"/>
          <p:cNvSpPr txBox="1"/>
          <p:nvPr/>
        </p:nvSpPr>
        <p:spPr>
          <a:xfrm>
            <a:off x="8275320" y="1874520"/>
            <a:ext cx="3108960" cy="411480"/>
          </a:xfrm>
          <a:prstGeom prst="rect">
            <a:avLst/>
          </a:prstGeom>
          <a:noFill/>
          <a:ln/>
        </p:spPr>
        <p:txBody>
          <a:bodyPr wrap="square" lIns="0" tIns="0" rIns="0" bIns="0" rtlCol="0" anchor="t"/>
          <a:lstStyle/>
          <a:p>
            <a:pPr indent="0" marL="0">
              <a:buNone/>
            </a:pPr>
            <a:r>
              <a:rPr lang="en-US" sz="2000" b="1" dirty="0">
                <a:solidFill>
                  <a:srgbClr val="58A6FF"/>
                </a:solidFill>
                <a:latin typeface="Cambria" pitchFamily="34" charset="0"/>
                <a:ea typeface="Cambria" pitchFamily="34" charset="-122"/>
                <a:cs typeface="Cambria" pitchFamily="34" charset="-120"/>
              </a:rPr>
              <a:t>Logistic Regression</a:t>
            </a:r>
            <a:endParaRPr lang="en-US" sz="2000" dirty="0"/>
          </a:p>
        </p:txBody>
      </p:sp>
      <p:sp>
        <p:nvSpPr>
          <p:cNvPr id="14" name="Text 12"/>
          <p:cNvSpPr txBox="1"/>
          <p:nvPr/>
        </p:nvSpPr>
        <p:spPr>
          <a:xfrm>
            <a:off x="8275320" y="2331720"/>
            <a:ext cx="3108960" cy="1188720"/>
          </a:xfrm>
          <a:prstGeom prst="rect">
            <a:avLst/>
          </a:prstGeom>
          <a:noFill/>
          <a:ln/>
        </p:spPr>
        <p:txBody>
          <a:bodyPr wrap="square" lIns="0" tIns="0" rIns="0" bIns="0" rtlCol="0" anchor="t"/>
          <a:lstStyle/>
          <a:p>
            <a:pPr indent="0" marL="0">
              <a:spcAft>
                <a:spcPts val="400"/>
              </a:spcAft>
              <a:buNone/>
            </a:pPr>
            <a:r>
              <a:rPr lang="en-US" sz="1500" dirty="0">
                <a:solidFill>
                  <a:srgbClr val="A9B4C2"/>
                </a:solidFill>
                <a:latin typeface="Calibri" pitchFamily="34" charset="0"/>
                <a:ea typeface="Calibri" pitchFamily="34" charset="-122"/>
                <a:cs typeface="Calibri" pitchFamily="34" charset="-120"/>
              </a:rPr>
              <a:t>Kurva sigmoid dari kombinasi linear fitur.</a:t>
            </a:r>
            <a:endParaRPr lang="en-US" sz="1500" dirty="0"/>
          </a:p>
        </p:txBody>
      </p:sp>
      <p:sp>
        <p:nvSpPr>
          <p:cNvPr id="15" name="Shape 13"/>
          <p:cNvSpPr/>
          <p:nvPr/>
        </p:nvSpPr>
        <p:spPr>
          <a:xfrm>
            <a:off x="548640" y="3886200"/>
            <a:ext cx="3566160" cy="2057400"/>
          </a:xfrm>
          <a:prstGeom prst="roundRect">
            <a:avLst>
              <a:gd name="adj" fmla="val 3556"/>
            </a:avLst>
          </a:prstGeom>
          <a:solidFill>
            <a:srgbClr val="1C2230"/>
          </a:solidFill>
          <a:ln w="9525">
            <a:solidFill>
              <a:srgbClr val="30363D"/>
            </a:solidFill>
            <a:prstDash val="solid"/>
          </a:ln>
        </p:spPr>
      </p:sp>
      <p:sp>
        <p:nvSpPr>
          <p:cNvPr id="16" name="Text 14"/>
          <p:cNvSpPr txBox="1"/>
          <p:nvPr/>
        </p:nvSpPr>
        <p:spPr>
          <a:xfrm>
            <a:off x="777240" y="4114800"/>
            <a:ext cx="3108960" cy="411480"/>
          </a:xfrm>
          <a:prstGeom prst="rect">
            <a:avLst/>
          </a:prstGeom>
          <a:noFill/>
          <a:ln/>
        </p:spPr>
        <p:txBody>
          <a:bodyPr wrap="square" lIns="0" tIns="0" rIns="0" bIns="0" rtlCol="0" anchor="t"/>
          <a:lstStyle/>
          <a:p>
            <a:pPr indent="0" marL="0">
              <a:buNone/>
            </a:pPr>
            <a:r>
              <a:rPr lang="en-US" sz="2000" b="1" dirty="0">
                <a:solidFill>
                  <a:srgbClr val="F5A623"/>
                </a:solidFill>
                <a:latin typeface="Cambria" pitchFamily="34" charset="0"/>
                <a:ea typeface="Cambria" pitchFamily="34" charset="-122"/>
                <a:cs typeface="Cambria" pitchFamily="34" charset="-120"/>
              </a:rPr>
              <a:t>Decision Tree</a:t>
            </a:r>
            <a:endParaRPr lang="en-US" sz="2000" dirty="0"/>
          </a:p>
        </p:txBody>
      </p:sp>
      <p:sp>
        <p:nvSpPr>
          <p:cNvPr id="17" name="Text 15"/>
          <p:cNvSpPr txBox="1"/>
          <p:nvPr/>
        </p:nvSpPr>
        <p:spPr>
          <a:xfrm>
            <a:off x="777240" y="4572000"/>
            <a:ext cx="3108960" cy="1188720"/>
          </a:xfrm>
          <a:prstGeom prst="rect">
            <a:avLst/>
          </a:prstGeom>
          <a:noFill/>
          <a:ln/>
        </p:spPr>
        <p:txBody>
          <a:bodyPr wrap="square" lIns="0" tIns="0" rIns="0" bIns="0" rtlCol="0" anchor="t"/>
          <a:lstStyle/>
          <a:p>
            <a:pPr indent="0" marL="0">
              <a:spcAft>
                <a:spcPts val="400"/>
              </a:spcAft>
              <a:buNone/>
            </a:pPr>
            <a:r>
              <a:rPr lang="en-US" sz="1500" dirty="0">
                <a:solidFill>
                  <a:srgbClr val="A9B4C2"/>
                </a:solidFill>
                <a:latin typeface="Calibri" pitchFamily="34" charset="0"/>
                <a:ea typeface="Calibri" pitchFamily="34" charset="-122"/>
                <a:cs typeface="Calibri" pitchFamily="34" charset="-120"/>
              </a:rPr>
              <a:t>Aturan jika–maka yang mudah dibaca (max depth 6).</a:t>
            </a:r>
            <a:endParaRPr lang="en-US" sz="1500" dirty="0"/>
          </a:p>
        </p:txBody>
      </p:sp>
      <p:sp>
        <p:nvSpPr>
          <p:cNvPr id="18" name="Shape 16"/>
          <p:cNvSpPr/>
          <p:nvPr/>
        </p:nvSpPr>
        <p:spPr>
          <a:xfrm>
            <a:off x="4297680" y="3886200"/>
            <a:ext cx="3566160" cy="2057400"/>
          </a:xfrm>
          <a:prstGeom prst="roundRect">
            <a:avLst>
              <a:gd name="adj" fmla="val 3556"/>
            </a:avLst>
          </a:prstGeom>
          <a:solidFill>
            <a:srgbClr val="1C2230"/>
          </a:solidFill>
          <a:ln w="9525">
            <a:solidFill>
              <a:srgbClr val="30363D"/>
            </a:solidFill>
            <a:prstDash val="solid"/>
          </a:ln>
        </p:spPr>
      </p:sp>
      <p:sp>
        <p:nvSpPr>
          <p:cNvPr id="19" name="Text 17"/>
          <p:cNvSpPr txBox="1"/>
          <p:nvPr/>
        </p:nvSpPr>
        <p:spPr>
          <a:xfrm>
            <a:off x="4526280" y="4114800"/>
            <a:ext cx="3108960" cy="411480"/>
          </a:xfrm>
          <a:prstGeom prst="rect">
            <a:avLst/>
          </a:prstGeom>
          <a:noFill/>
          <a:ln/>
        </p:spPr>
        <p:txBody>
          <a:bodyPr wrap="square" lIns="0" tIns="0" rIns="0" bIns="0" rtlCol="0" anchor="t"/>
          <a:lstStyle/>
          <a:p>
            <a:pPr indent="0" marL="0">
              <a:buNone/>
            </a:pPr>
            <a:r>
              <a:rPr lang="en-US" sz="2000" b="1" dirty="0">
                <a:solidFill>
                  <a:srgbClr val="F85149"/>
                </a:solidFill>
                <a:latin typeface="Cambria" pitchFamily="34" charset="0"/>
                <a:ea typeface="Cambria" pitchFamily="34" charset="-122"/>
                <a:cs typeface="Cambria" pitchFamily="34" charset="-120"/>
              </a:rPr>
              <a:t>Random Forest</a:t>
            </a:r>
            <a:endParaRPr lang="en-US" sz="2000" dirty="0"/>
          </a:p>
        </p:txBody>
      </p:sp>
      <p:sp>
        <p:nvSpPr>
          <p:cNvPr id="20" name="Text 18"/>
          <p:cNvSpPr txBox="1"/>
          <p:nvPr/>
        </p:nvSpPr>
        <p:spPr>
          <a:xfrm>
            <a:off x="4526280" y="4572000"/>
            <a:ext cx="3108960" cy="1188720"/>
          </a:xfrm>
          <a:prstGeom prst="rect">
            <a:avLst/>
          </a:prstGeom>
          <a:noFill/>
          <a:ln/>
        </p:spPr>
        <p:txBody>
          <a:bodyPr wrap="square" lIns="0" tIns="0" rIns="0" bIns="0" rtlCol="0" anchor="t"/>
          <a:lstStyle/>
          <a:p>
            <a:pPr indent="0" marL="0">
              <a:spcAft>
                <a:spcPts val="400"/>
              </a:spcAft>
              <a:buNone/>
            </a:pPr>
            <a:r>
              <a:rPr lang="en-US" sz="1500" dirty="0">
                <a:solidFill>
                  <a:srgbClr val="A9B4C2"/>
                </a:solidFill>
                <a:latin typeface="Calibri" pitchFamily="34" charset="0"/>
                <a:ea typeface="Calibri" pitchFamily="34" charset="-122"/>
                <a:cs typeface="Calibri" pitchFamily="34" charset="-120"/>
              </a:rPr>
              <a:t>150 pohon acak, hasil dirata-rata (bagging).</a:t>
            </a:r>
            <a:endParaRPr lang="en-US" sz="1500" dirty="0"/>
          </a:p>
        </p:txBody>
      </p:sp>
      <p:sp>
        <p:nvSpPr>
          <p:cNvPr id="21" name="Shape 19"/>
          <p:cNvSpPr/>
          <p:nvPr/>
        </p:nvSpPr>
        <p:spPr>
          <a:xfrm>
            <a:off x="8046720" y="3886200"/>
            <a:ext cx="3566160" cy="2057400"/>
          </a:xfrm>
          <a:prstGeom prst="roundRect">
            <a:avLst>
              <a:gd name="adj" fmla="val 3556"/>
            </a:avLst>
          </a:prstGeom>
          <a:solidFill>
            <a:srgbClr val="1C2230"/>
          </a:solidFill>
          <a:ln w="9525">
            <a:solidFill>
              <a:srgbClr val="30363D"/>
            </a:solidFill>
            <a:prstDash val="solid"/>
          </a:ln>
        </p:spPr>
      </p:sp>
      <p:sp>
        <p:nvSpPr>
          <p:cNvPr id="22" name="Text 20"/>
          <p:cNvSpPr txBox="1"/>
          <p:nvPr/>
        </p:nvSpPr>
        <p:spPr>
          <a:xfrm>
            <a:off x="8275320" y="4114800"/>
            <a:ext cx="3108960" cy="411480"/>
          </a:xfrm>
          <a:prstGeom prst="rect">
            <a:avLst/>
          </a:prstGeom>
          <a:noFill/>
          <a:ln/>
        </p:spPr>
        <p:txBody>
          <a:bodyPr wrap="square" lIns="0" tIns="0" rIns="0" bIns="0" rtlCol="0" anchor="t"/>
          <a:lstStyle/>
          <a:p>
            <a:pPr indent="0" marL="0">
              <a:buNone/>
            </a:pPr>
            <a:r>
              <a:rPr lang="en-US" sz="2000" b="1" dirty="0">
                <a:solidFill>
                  <a:srgbClr val="3FB950"/>
                </a:solidFill>
                <a:latin typeface="Cambria" pitchFamily="34" charset="0"/>
                <a:ea typeface="Cambria" pitchFamily="34" charset="-122"/>
                <a:cs typeface="Cambria" pitchFamily="34" charset="-120"/>
              </a:rPr>
              <a:t>XGBoost</a:t>
            </a:r>
            <a:endParaRPr lang="en-US" sz="2000" dirty="0"/>
          </a:p>
        </p:txBody>
      </p:sp>
      <p:sp>
        <p:nvSpPr>
          <p:cNvPr id="23" name="Text 21"/>
          <p:cNvSpPr txBox="1"/>
          <p:nvPr/>
        </p:nvSpPr>
        <p:spPr>
          <a:xfrm>
            <a:off x="8275320" y="4572000"/>
            <a:ext cx="3108960" cy="1188720"/>
          </a:xfrm>
          <a:prstGeom prst="rect">
            <a:avLst/>
          </a:prstGeom>
          <a:noFill/>
          <a:ln/>
        </p:spPr>
        <p:txBody>
          <a:bodyPr wrap="square" lIns="0" tIns="0" rIns="0" bIns="0" rtlCol="0" anchor="t"/>
          <a:lstStyle/>
          <a:p>
            <a:pPr indent="0" marL="0">
              <a:spcAft>
                <a:spcPts val="400"/>
              </a:spcAft>
              <a:buNone/>
            </a:pPr>
            <a:r>
              <a:rPr lang="en-US" sz="1500" dirty="0">
                <a:solidFill>
                  <a:srgbClr val="A9B4C2"/>
                </a:solidFill>
                <a:latin typeface="Calibri" pitchFamily="34" charset="0"/>
                <a:ea typeface="Calibri" pitchFamily="34" charset="-122"/>
                <a:cs typeface="Calibri" pitchFamily="34" charset="-120"/>
              </a:rPr>
              <a:t>300 pohon berurutan memperbaiki kesalahan (boosting).</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LANDASAN TEORI</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Evaluasi: akurasi saja tidak cukup</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400800" cy="914400"/>
        </p:xfrm>
        <a:graphic>
          <a:graphicData uri="http://schemas.openxmlformats.org/drawingml/2006/table">
            <a:tbl>
              <a:tblPr/>
              <a:tblGrid>
                <a:gridCol w="2194560"/>
                <a:gridCol w="4206240"/>
              </a:tblGrid>
              <a:tr h="502920">
                <a:tc>
                  <a:txBody>
                    <a:bodyPr/>
                    <a:lstStyle/>
                    <a:p>
                      <a:pPr algn="l" indent="0" marL="0">
                        <a:buNone/>
                      </a:pPr>
                      <a:r>
                        <a:rPr lang="en-US" sz="1400" b="1" dirty="0">
                          <a:solidFill>
                            <a:srgbClr val="F5A623"/>
                          </a:solidFill>
                          <a:latin typeface="Calibri" pitchFamily="34" charset="0"/>
                          <a:ea typeface="Calibri" pitchFamily="34" charset="-122"/>
                          <a:cs typeface="Calibri" pitchFamily="34" charset="-120"/>
                        </a:rPr>
                        <a:t>Metrik</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algn="ctr" indent="0" marL="0">
                        <a:buNone/>
                      </a:pPr>
                      <a:r>
                        <a:rPr lang="en-US" sz="1400" b="1" dirty="0">
                          <a:solidFill>
                            <a:srgbClr val="F5A623"/>
                          </a:solidFill>
                          <a:latin typeface="Calibri" pitchFamily="34" charset="0"/>
                          <a:ea typeface="Calibri" pitchFamily="34" charset="-122"/>
                          <a:cs typeface="Calibri" pitchFamily="34" charset="-120"/>
                        </a:rPr>
                        <a:t>Arti</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502920">
                <a:tc>
                  <a:txBody>
                    <a:bodyPr/>
                    <a:lstStyle/>
                    <a:p>
                      <a:pPr algn="l" indent="0" marL="0">
                        <a:buNone/>
                      </a:pPr>
                      <a:r>
                        <a:rPr lang="en-US" sz="1400" dirty="0">
                          <a:solidFill>
                            <a:srgbClr val="E6EDF3"/>
                          </a:solidFill>
                          <a:latin typeface="Calibri" pitchFamily="34" charset="0"/>
                          <a:ea typeface="Calibri" pitchFamily="34" charset="-122"/>
                          <a:cs typeface="Calibri" pitchFamily="34" charset="-120"/>
                        </a:rPr>
                        <a:t>Accuracy</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(TP + TN) / semua data</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502920">
                <a:tc>
                  <a:txBody>
                    <a:bodyPr/>
                    <a:lstStyle/>
                    <a:p>
                      <a:pPr algn="l" indent="0" marL="0">
                        <a:buNone/>
                      </a:pPr>
                      <a:r>
                        <a:rPr lang="en-US" sz="1400" dirty="0">
                          <a:solidFill>
                            <a:srgbClr val="E6EDF3"/>
                          </a:solidFill>
                          <a:latin typeface="Calibri" pitchFamily="34" charset="0"/>
                          <a:ea typeface="Calibri" pitchFamily="34" charset="-122"/>
                          <a:cs typeface="Calibri" pitchFamily="34" charset="-120"/>
                        </a:rPr>
                        <a:t>Precision / Recall</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kualitas tebakan pada kelas "dapat S"</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r>
              <a:tr h="502920">
                <a:tc>
                  <a:txBody>
                    <a:bodyPr/>
                    <a:lstStyle/>
                    <a:p>
                      <a:pPr algn="l" indent="0" marL="0">
                        <a:buNone/>
                      </a:pPr>
                      <a:r>
                        <a:rPr lang="en-US" sz="1400" dirty="0">
                          <a:solidFill>
                            <a:srgbClr val="E6EDF3"/>
                          </a:solidFill>
                          <a:latin typeface="Calibri" pitchFamily="34" charset="0"/>
                          <a:ea typeface="Calibri" pitchFamily="34" charset="-122"/>
                          <a:cs typeface="Calibri" pitchFamily="34" charset="-120"/>
                        </a:rPr>
                        <a:t>F1-score</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rata-rata harmonik precision &amp; recall</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502920">
                <a:tc>
                  <a:txBody>
                    <a:bodyPr/>
                    <a:lstStyle/>
                    <a:p>
                      <a:pPr algn="l" indent="0" marL="0">
                        <a:buNone/>
                      </a:pPr>
                      <a:r>
                        <a:rPr lang="en-US" sz="1400" dirty="0">
                          <a:solidFill>
                            <a:srgbClr val="E6EDF3"/>
                          </a:solidFill>
                          <a:latin typeface="Calibri" pitchFamily="34" charset="0"/>
                          <a:ea typeface="Calibri" pitchFamily="34" charset="-122"/>
                          <a:cs typeface="Calibri" pitchFamily="34" charset="-120"/>
                        </a:rPr>
                        <a:t>Balanced Accuracy</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rata-rata recall dua kelas</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r>
              <a:tr h="502920">
                <a:tc>
                  <a:txBody>
                    <a:bodyPr/>
                    <a:lstStyle/>
                    <a:p>
                      <a:pPr algn="l" indent="0" marL="0">
                        <a:buNone/>
                      </a:pPr>
                      <a:r>
                        <a:rPr lang="en-US" sz="1400" dirty="0">
                          <a:solidFill>
                            <a:srgbClr val="E6EDF3"/>
                          </a:solidFill>
                          <a:latin typeface="Calibri" pitchFamily="34" charset="0"/>
                          <a:ea typeface="Calibri" pitchFamily="34" charset="-122"/>
                          <a:cs typeface="Calibri" pitchFamily="34" charset="-120"/>
                        </a:rPr>
                        <a:t>ROC-AUC</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kemampuan membedakan kelas</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502920">
                <a:tc>
                  <a:txBody>
                    <a:bodyPr/>
                    <a:lstStyle/>
                    <a:p>
                      <a:pPr algn="l" indent="0" marL="0">
                        <a:buNone/>
                      </a:pPr>
                      <a:r>
                        <a:rPr lang="en-US" sz="1400" dirty="0">
                          <a:solidFill>
                            <a:srgbClr val="E6EDF3"/>
                          </a:solidFill>
                          <a:latin typeface="Calibri" pitchFamily="34" charset="0"/>
                          <a:ea typeface="Calibri" pitchFamily="34" charset="-122"/>
                          <a:cs typeface="Calibri" pitchFamily="34" charset="-120"/>
                        </a:rPr>
                        <a:t>Log Loss</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ketepatan angka peluang (kecil = baik)</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r>
            </a:tbl>
          </a:graphicData>
        </a:graphic>
      </p:graphicFrame>
      <p:sp>
        <p:nvSpPr>
          <p:cNvPr id="7" name="Shape 4"/>
          <p:cNvSpPr/>
          <p:nvPr/>
        </p:nvSpPr>
        <p:spPr>
          <a:xfrm>
            <a:off x="7315200" y="1645920"/>
            <a:ext cx="4297680" cy="4114800"/>
          </a:xfrm>
          <a:prstGeom prst="roundRect">
            <a:avLst>
              <a:gd name="adj" fmla="val 1778"/>
            </a:avLst>
          </a:prstGeom>
          <a:solidFill>
            <a:srgbClr val="1C2230"/>
          </a:solidFill>
          <a:ln w="9525">
            <a:solidFill>
              <a:srgbClr val="30363D"/>
            </a:solidFill>
            <a:prstDash val="solid"/>
          </a:ln>
        </p:spPr>
      </p:sp>
      <p:sp>
        <p:nvSpPr>
          <p:cNvPr id="8" name="Text 5"/>
          <p:cNvSpPr txBox="1"/>
          <p:nvPr/>
        </p:nvSpPr>
        <p:spPr>
          <a:xfrm>
            <a:off x="7543800" y="1874520"/>
            <a:ext cx="3840480" cy="411480"/>
          </a:xfrm>
          <a:prstGeom prst="rect">
            <a:avLst/>
          </a:prstGeom>
          <a:noFill/>
          <a:ln/>
        </p:spPr>
        <p:txBody>
          <a:bodyPr wrap="square" lIns="0" tIns="0" rIns="0" bIns="0" rtlCol="0" anchor="t"/>
          <a:lstStyle/>
          <a:p>
            <a:pPr indent="0" marL="0">
              <a:buNone/>
            </a:pPr>
            <a:r>
              <a:rPr lang="en-US" sz="1800" b="1" dirty="0">
                <a:solidFill>
                  <a:srgbClr val="F5A623"/>
                </a:solidFill>
                <a:latin typeface="Cambria" pitchFamily="34" charset="0"/>
                <a:ea typeface="Cambria" pitchFamily="34" charset="-122"/>
                <a:cs typeface="Cambria" pitchFamily="34" charset="-120"/>
              </a:rPr>
              <a:t>Kenapa?</a:t>
            </a:r>
            <a:endParaRPr lang="en-US" sz="1800" dirty="0"/>
          </a:p>
        </p:txBody>
      </p:sp>
      <p:sp>
        <p:nvSpPr>
          <p:cNvPr id="9" name="Text 6"/>
          <p:cNvSpPr txBox="1"/>
          <p:nvPr/>
        </p:nvSpPr>
        <p:spPr>
          <a:xfrm>
            <a:off x="7543800" y="2331720"/>
            <a:ext cx="3840480" cy="3246120"/>
          </a:xfrm>
          <a:prstGeom prst="rect">
            <a:avLst/>
          </a:prstGeom>
          <a:noFill/>
          <a:ln/>
        </p:spPr>
        <p:txBody>
          <a:bodyPr wrap="square" lIns="0" tIns="0" rIns="0" bIns="0" rtlCol="0" anchor="t"/>
          <a:lstStyle/>
          <a:p>
            <a:pPr indent="0" marL="0">
              <a:spcAft>
                <a:spcPts val="400"/>
              </a:spcAft>
              <a:buNone/>
            </a:pPr>
            <a:r>
              <a:rPr lang="en-US" sz="1600" dirty="0">
                <a:solidFill>
                  <a:srgbClr val="A9B4C2"/>
                </a:solidFill>
                <a:latin typeface="Calibri" pitchFamily="34" charset="0"/>
                <a:ea typeface="Calibri" pitchFamily="34" charset="-122"/>
                <a:cs typeface="Calibri" pitchFamily="34" charset="-120"/>
              </a:rPr>
              <a:t>Kalau S-Rank hanya ±1,7%, model yang SELALU menebak "tidak dapat S" sudah benar 98% dari waktu. Akurasinya tinggi, tetapi tidak berguna. Karena itu metrik lain wajib ditampilkan, dan semuanya dihitung dari confusion matrix.</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METODE</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Metodologi: CRISP-DM</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10</a:t>
            </a:r>
            <a:endParaRPr lang="en-US" sz="1000" dirty="0"/>
          </a:p>
        </p:txBody>
      </p:sp>
      <p:sp>
        <p:nvSpPr>
          <p:cNvPr id="6" name="Shape 4"/>
          <p:cNvSpPr/>
          <p:nvPr/>
        </p:nvSpPr>
        <p:spPr>
          <a:xfrm>
            <a:off x="548640" y="2103120"/>
            <a:ext cx="1645920" cy="1463040"/>
          </a:xfrm>
          <a:prstGeom prst="roundRect">
            <a:avLst>
              <a:gd name="adj" fmla="val 5000"/>
            </a:avLst>
          </a:prstGeom>
          <a:solidFill>
            <a:srgbClr val="1C2230"/>
          </a:solidFill>
          <a:ln w="12700">
            <a:solidFill>
              <a:srgbClr val="30363D"/>
            </a:solidFill>
            <a:prstDash val="solid"/>
          </a:ln>
        </p:spPr>
      </p:sp>
      <p:sp>
        <p:nvSpPr>
          <p:cNvPr id="7" name="Text 5"/>
          <p:cNvSpPr txBox="1"/>
          <p:nvPr/>
        </p:nvSpPr>
        <p:spPr>
          <a:xfrm>
            <a:off x="594360" y="2194560"/>
            <a:ext cx="1554480" cy="914400"/>
          </a:xfrm>
          <a:prstGeom prst="rect">
            <a:avLst/>
          </a:prstGeom>
          <a:noFill/>
          <a:ln/>
        </p:spPr>
        <p:txBody>
          <a:bodyPr wrap="square" lIns="0" tIns="0" rIns="0" bIns="0" rtlCol="0" anchor="ctr"/>
          <a:lstStyle/>
          <a:p>
            <a:pPr algn="ctr" indent="0" marL="0">
              <a:buNone/>
            </a:pPr>
            <a:r>
              <a:rPr lang="en-US" sz="1200" b="1" dirty="0">
                <a:solidFill>
                  <a:srgbClr val="E6EDF3"/>
                </a:solidFill>
                <a:latin typeface="Calibri" pitchFamily="34" charset="0"/>
                <a:ea typeface="Calibri" pitchFamily="34" charset="-122"/>
                <a:cs typeface="Calibri" pitchFamily="34" charset="-120"/>
              </a:rPr>
              <a:t>Business</a:t>
            </a:r>
            <a:endParaRPr lang="en-US" sz="1200" dirty="0"/>
          </a:p>
          <a:p>
            <a:pPr algn="ctr" indent="0" marL="0">
              <a:buNone/>
            </a:pPr>
            <a:r>
              <a:rPr lang="en-US" sz="1200" b="1" dirty="0">
                <a:solidFill>
                  <a:srgbClr val="E6EDF3"/>
                </a:solidFill>
                <a:latin typeface="Calibri" pitchFamily="34" charset="0"/>
                <a:ea typeface="Calibri" pitchFamily="34" charset="-122"/>
                <a:cs typeface="Calibri" pitchFamily="34" charset="-120"/>
              </a:rPr>
              <a:t>Understanding</a:t>
            </a:r>
            <a:endParaRPr lang="en-US" sz="1200" dirty="0"/>
          </a:p>
        </p:txBody>
      </p:sp>
      <p:sp>
        <p:nvSpPr>
          <p:cNvPr id="8" name="Text 6"/>
          <p:cNvSpPr txBox="1"/>
          <p:nvPr/>
        </p:nvSpPr>
        <p:spPr>
          <a:xfrm>
            <a:off x="640080" y="3154680"/>
            <a:ext cx="1463040" cy="320040"/>
          </a:xfrm>
          <a:prstGeom prst="rect">
            <a:avLst/>
          </a:prstGeom>
          <a:noFill/>
          <a:ln/>
        </p:spPr>
        <p:txBody>
          <a:bodyPr wrap="square" lIns="0" tIns="0" rIns="0" bIns="0" rtlCol="0" anchor="ctr"/>
          <a:lstStyle/>
          <a:p>
            <a:pPr algn="ctr" indent="0" marL="0">
              <a:buNone/>
            </a:pPr>
            <a:r>
              <a:rPr lang="en-US" sz="1200" b="1" dirty="0">
                <a:solidFill>
                  <a:srgbClr val="F5A623"/>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548640" y="3749040"/>
            <a:ext cx="1645920" cy="731520"/>
          </a:xfrm>
          <a:prstGeom prst="rect">
            <a:avLst/>
          </a:prstGeom>
          <a:noFill/>
          <a:ln/>
        </p:spPr>
        <p:txBody>
          <a:bodyPr wrap="square" lIns="0" tIns="0" rIns="0" bIns="0" rtlCol="0" anchor="t"/>
          <a:lstStyle/>
          <a:p>
            <a:pPr algn="ctr" indent="0" marL="0">
              <a:buNone/>
            </a:pPr>
            <a:r>
              <a:rPr lang="en-US" sz="1300" dirty="0">
                <a:solidFill>
                  <a:srgbClr val="A9B4C2"/>
                </a:solidFill>
                <a:latin typeface="Calibri" pitchFamily="34" charset="0"/>
                <a:ea typeface="Calibri" pitchFamily="34" charset="-122"/>
                <a:cs typeface="Calibri" pitchFamily="34" charset="-120"/>
              </a:rPr>
              <a:t>Kebutuhan pemain</a:t>
            </a:r>
            <a:endParaRPr lang="en-US" sz="1300" dirty="0"/>
          </a:p>
        </p:txBody>
      </p:sp>
      <p:sp>
        <p:nvSpPr>
          <p:cNvPr id="10" name="Shape 8"/>
          <p:cNvSpPr/>
          <p:nvPr/>
        </p:nvSpPr>
        <p:spPr>
          <a:xfrm>
            <a:off x="2221992" y="2715768"/>
            <a:ext cx="182880" cy="237744"/>
          </a:xfrm>
          <a:prstGeom prst="rightArrow">
            <a:avLst/>
          </a:prstGeom>
          <a:solidFill>
            <a:srgbClr val="F5A623"/>
          </a:solidFill>
          <a:ln w="12700">
            <a:solidFill>
              <a:srgbClr val="F5A623"/>
            </a:solidFill>
            <a:prstDash val="solid"/>
          </a:ln>
        </p:spPr>
      </p:sp>
      <p:sp>
        <p:nvSpPr>
          <p:cNvPr id="11" name="Shape 9"/>
          <p:cNvSpPr/>
          <p:nvPr/>
        </p:nvSpPr>
        <p:spPr>
          <a:xfrm>
            <a:off x="2423160" y="2103120"/>
            <a:ext cx="1645920" cy="1463040"/>
          </a:xfrm>
          <a:prstGeom prst="roundRect">
            <a:avLst>
              <a:gd name="adj" fmla="val 5000"/>
            </a:avLst>
          </a:prstGeom>
          <a:solidFill>
            <a:srgbClr val="1C2230"/>
          </a:solidFill>
          <a:ln w="12700">
            <a:solidFill>
              <a:srgbClr val="30363D"/>
            </a:solidFill>
            <a:prstDash val="solid"/>
          </a:ln>
        </p:spPr>
      </p:sp>
      <p:sp>
        <p:nvSpPr>
          <p:cNvPr id="12" name="Text 10"/>
          <p:cNvSpPr txBox="1"/>
          <p:nvPr/>
        </p:nvSpPr>
        <p:spPr>
          <a:xfrm>
            <a:off x="2468880" y="2194560"/>
            <a:ext cx="1554480" cy="914400"/>
          </a:xfrm>
          <a:prstGeom prst="rect">
            <a:avLst/>
          </a:prstGeom>
          <a:noFill/>
          <a:ln/>
        </p:spPr>
        <p:txBody>
          <a:bodyPr wrap="square" lIns="0" tIns="0" rIns="0" bIns="0" rtlCol="0" anchor="ctr"/>
          <a:lstStyle/>
          <a:p>
            <a:pPr algn="ctr" indent="0" marL="0">
              <a:buNone/>
            </a:pPr>
            <a:r>
              <a:rPr lang="en-US" sz="1200" b="1" dirty="0">
                <a:solidFill>
                  <a:srgbClr val="E6EDF3"/>
                </a:solidFill>
                <a:latin typeface="Calibri" pitchFamily="34" charset="0"/>
                <a:ea typeface="Calibri" pitchFamily="34" charset="-122"/>
                <a:cs typeface="Calibri" pitchFamily="34" charset="-120"/>
              </a:rPr>
              <a:t>Data</a:t>
            </a:r>
            <a:endParaRPr lang="en-US" sz="1200" dirty="0"/>
          </a:p>
          <a:p>
            <a:pPr algn="ctr" indent="0" marL="0">
              <a:buNone/>
            </a:pPr>
            <a:r>
              <a:rPr lang="en-US" sz="1200" b="1" dirty="0">
                <a:solidFill>
                  <a:srgbClr val="E6EDF3"/>
                </a:solidFill>
                <a:latin typeface="Calibri" pitchFamily="34" charset="0"/>
                <a:ea typeface="Calibri" pitchFamily="34" charset="-122"/>
                <a:cs typeface="Calibri" pitchFamily="34" charset="-120"/>
              </a:rPr>
              <a:t>Understanding</a:t>
            </a:r>
            <a:endParaRPr lang="en-US" sz="1200" dirty="0"/>
          </a:p>
        </p:txBody>
      </p:sp>
      <p:sp>
        <p:nvSpPr>
          <p:cNvPr id="13" name="Text 11"/>
          <p:cNvSpPr txBox="1"/>
          <p:nvPr/>
        </p:nvSpPr>
        <p:spPr>
          <a:xfrm>
            <a:off x="2514600" y="3154680"/>
            <a:ext cx="1463040" cy="320040"/>
          </a:xfrm>
          <a:prstGeom prst="rect">
            <a:avLst/>
          </a:prstGeom>
          <a:noFill/>
          <a:ln/>
        </p:spPr>
        <p:txBody>
          <a:bodyPr wrap="square" lIns="0" tIns="0" rIns="0" bIns="0" rtlCol="0" anchor="ctr"/>
          <a:lstStyle/>
          <a:p>
            <a:pPr algn="ctr" indent="0" marL="0">
              <a:buNone/>
            </a:pPr>
            <a:r>
              <a:rPr lang="en-US" sz="1200" b="1" dirty="0">
                <a:solidFill>
                  <a:srgbClr val="F5A623"/>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2423160" y="3749040"/>
            <a:ext cx="1645920" cy="731520"/>
          </a:xfrm>
          <a:prstGeom prst="rect">
            <a:avLst/>
          </a:prstGeom>
          <a:noFill/>
          <a:ln/>
        </p:spPr>
        <p:txBody>
          <a:bodyPr wrap="square" lIns="0" tIns="0" rIns="0" bIns="0" rtlCol="0" anchor="t"/>
          <a:lstStyle/>
          <a:p>
            <a:pPr algn="ctr" indent="0" marL="0">
              <a:buNone/>
            </a:pPr>
            <a:r>
              <a:rPr lang="en-US" sz="1300" dirty="0">
                <a:solidFill>
                  <a:srgbClr val="A9B4C2"/>
                </a:solidFill>
                <a:latin typeface="Calibri" pitchFamily="34" charset="0"/>
                <a:ea typeface="Calibri" pitchFamily="34" charset="-122"/>
                <a:cs typeface="Calibri" pitchFamily="34" charset="-120"/>
              </a:rPr>
              <a:t>Struktur riwayat gacha</a:t>
            </a:r>
            <a:endParaRPr lang="en-US" sz="1300" dirty="0"/>
          </a:p>
        </p:txBody>
      </p:sp>
      <p:sp>
        <p:nvSpPr>
          <p:cNvPr id="15" name="Shape 13"/>
          <p:cNvSpPr/>
          <p:nvPr/>
        </p:nvSpPr>
        <p:spPr>
          <a:xfrm>
            <a:off x="4096512" y="2715768"/>
            <a:ext cx="182880" cy="237744"/>
          </a:xfrm>
          <a:prstGeom prst="rightArrow">
            <a:avLst/>
          </a:prstGeom>
          <a:solidFill>
            <a:srgbClr val="F5A623"/>
          </a:solidFill>
          <a:ln w="12700">
            <a:solidFill>
              <a:srgbClr val="F5A623"/>
            </a:solidFill>
            <a:prstDash val="solid"/>
          </a:ln>
        </p:spPr>
      </p:sp>
      <p:sp>
        <p:nvSpPr>
          <p:cNvPr id="16" name="Shape 14"/>
          <p:cNvSpPr/>
          <p:nvPr/>
        </p:nvSpPr>
        <p:spPr>
          <a:xfrm>
            <a:off x="4297680" y="2103120"/>
            <a:ext cx="1645920" cy="1463040"/>
          </a:xfrm>
          <a:prstGeom prst="roundRect">
            <a:avLst>
              <a:gd name="adj" fmla="val 5000"/>
            </a:avLst>
          </a:prstGeom>
          <a:solidFill>
            <a:srgbClr val="1C2230"/>
          </a:solidFill>
          <a:ln w="12700">
            <a:solidFill>
              <a:srgbClr val="30363D"/>
            </a:solidFill>
            <a:prstDash val="solid"/>
          </a:ln>
        </p:spPr>
      </p:sp>
      <p:sp>
        <p:nvSpPr>
          <p:cNvPr id="17" name="Text 15"/>
          <p:cNvSpPr txBox="1"/>
          <p:nvPr/>
        </p:nvSpPr>
        <p:spPr>
          <a:xfrm>
            <a:off x="4343400" y="2194560"/>
            <a:ext cx="1554480" cy="914400"/>
          </a:xfrm>
          <a:prstGeom prst="rect">
            <a:avLst/>
          </a:prstGeom>
          <a:noFill/>
          <a:ln/>
        </p:spPr>
        <p:txBody>
          <a:bodyPr wrap="square" lIns="0" tIns="0" rIns="0" bIns="0" rtlCol="0" anchor="ctr"/>
          <a:lstStyle/>
          <a:p>
            <a:pPr algn="ctr" indent="0" marL="0">
              <a:buNone/>
            </a:pPr>
            <a:r>
              <a:rPr lang="en-US" sz="1200" b="1" dirty="0">
                <a:solidFill>
                  <a:srgbClr val="E6EDF3"/>
                </a:solidFill>
                <a:latin typeface="Calibri" pitchFamily="34" charset="0"/>
                <a:ea typeface="Calibri" pitchFamily="34" charset="-122"/>
                <a:cs typeface="Calibri" pitchFamily="34" charset="-120"/>
              </a:rPr>
              <a:t>Data</a:t>
            </a:r>
            <a:endParaRPr lang="en-US" sz="1200" dirty="0"/>
          </a:p>
          <a:p>
            <a:pPr algn="ctr" indent="0" marL="0">
              <a:buNone/>
            </a:pPr>
            <a:r>
              <a:rPr lang="en-US" sz="1200" b="1" dirty="0">
                <a:solidFill>
                  <a:srgbClr val="E6EDF3"/>
                </a:solidFill>
                <a:latin typeface="Calibri" pitchFamily="34" charset="0"/>
                <a:ea typeface="Calibri" pitchFamily="34" charset="-122"/>
                <a:cs typeface="Calibri" pitchFamily="34" charset="-120"/>
              </a:rPr>
              <a:t>Preparation</a:t>
            </a:r>
            <a:endParaRPr lang="en-US" sz="1200" dirty="0"/>
          </a:p>
        </p:txBody>
      </p:sp>
      <p:sp>
        <p:nvSpPr>
          <p:cNvPr id="18" name="Text 16"/>
          <p:cNvSpPr txBox="1"/>
          <p:nvPr/>
        </p:nvSpPr>
        <p:spPr>
          <a:xfrm>
            <a:off x="4389120" y="3154680"/>
            <a:ext cx="1463040" cy="320040"/>
          </a:xfrm>
          <a:prstGeom prst="rect">
            <a:avLst/>
          </a:prstGeom>
          <a:noFill/>
          <a:ln/>
        </p:spPr>
        <p:txBody>
          <a:bodyPr wrap="square" lIns="0" tIns="0" rIns="0" bIns="0" rtlCol="0" anchor="ctr"/>
          <a:lstStyle/>
          <a:p>
            <a:pPr algn="ctr" indent="0" marL="0">
              <a:buNone/>
            </a:pPr>
            <a:r>
              <a:rPr lang="en-US" sz="1200" b="1" dirty="0">
                <a:solidFill>
                  <a:srgbClr val="F5A623"/>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4297680" y="3749040"/>
            <a:ext cx="1645920" cy="731520"/>
          </a:xfrm>
          <a:prstGeom prst="rect">
            <a:avLst/>
          </a:prstGeom>
          <a:noFill/>
          <a:ln/>
        </p:spPr>
        <p:txBody>
          <a:bodyPr wrap="square" lIns="0" tIns="0" rIns="0" bIns="0" rtlCol="0" anchor="t"/>
          <a:lstStyle/>
          <a:p>
            <a:pPr algn="ctr" indent="0" marL="0">
              <a:buNone/>
            </a:pPr>
            <a:r>
              <a:rPr lang="en-US" sz="1300" dirty="0">
                <a:solidFill>
                  <a:srgbClr val="A9B4C2"/>
                </a:solidFill>
                <a:latin typeface="Calibri" pitchFamily="34" charset="0"/>
                <a:ea typeface="Calibri" pitchFamily="34" charset="-122"/>
                <a:cs typeface="Calibri" pitchFamily="34" charset="-120"/>
              </a:rPr>
              <a:t>Pity, guaranteed, fitur</a:t>
            </a:r>
            <a:endParaRPr lang="en-US" sz="1300" dirty="0"/>
          </a:p>
        </p:txBody>
      </p:sp>
      <p:sp>
        <p:nvSpPr>
          <p:cNvPr id="20" name="Shape 18"/>
          <p:cNvSpPr/>
          <p:nvPr/>
        </p:nvSpPr>
        <p:spPr>
          <a:xfrm>
            <a:off x="5971032" y="2715768"/>
            <a:ext cx="182880" cy="237744"/>
          </a:xfrm>
          <a:prstGeom prst="rightArrow">
            <a:avLst/>
          </a:prstGeom>
          <a:solidFill>
            <a:srgbClr val="F5A623"/>
          </a:solidFill>
          <a:ln w="12700">
            <a:solidFill>
              <a:srgbClr val="F5A623"/>
            </a:solidFill>
            <a:prstDash val="solid"/>
          </a:ln>
        </p:spPr>
      </p:sp>
      <p:sp>
        <p:nvSpPr>
          <p:cNvPr id="21" name="Shape 19"/>
          <p:cNvSpPr/>
          <p:nvPr/>
        </p:nvSpPr>
        <p:spPr>
          <a:xfrm>
            <a:off x="6172200" y="2103120"/>
            <a:ext cx="1645920" cy="1463040"/>
          </a:xfrm>
          <a:prstGeom prst="roundRect">
            <a:avLst>
              <a:gd name="adj" fmla="val 5000"/>
            </a:avLst>
          </a:prstGeom>
          <a:solidFill>
            <a:srgbClr val="1C2230"/>
          </a:solidFill>
          <a:ln w="12700">
            <a:solidFill>
              <a:srgbClr val="F5A623"/>
            </a:solidFill>
            <a:prstDash val="solid"/>
          </a:ln>
        </p:spPr>
      </p:sp>
      <p:sp>
        <p:nvSpPr>
          <p:cNvPr id="22" name="Text 20"/>
          <p:cNvSpPr txBox="1"/>
          <p:nvPr/>
        </p:nvSpPr>
        <p:spPr>
          <a:xfrm>
            <a:off x="6217920" y="2194560"/>
            <a:ext cx="1554480" cy="914400"/>
          </a:xfrm>
          <a:prstGeom prst="rect">
            <a:avLst/>
          </a:prstGeom>
          <a:noFill/>
          <a:ln/>
        </p:spPr>
        <p:txBody>
          <a:bodyPr wrap="square" lIns="0" tIns="0" rIns="0" bIns="0" rtlCol="0" anchor="ctr"/>
          <a:lstStyle/>
          <a:p>
            <a:pPr algn="ctr" indent="0" marL="0">
              <a:buNone/>
            </a:pPr>
            <a:r>
              <a:rPr lang="en-US" sz="1200" b="1" dirty="0">
                <a:solidFill>
                  <a:srgbClr val="E6EDF3"/>
                </a:solidFill>
                <a:latin typeface="Calibri" pitchFamily="34" charset="0"/>
                <a:ea typeface="Calibri" pitchFamily="34" charset="-122"/>
                <a:cs typeface="Calibri" pitchFamily="34" charset="-120"/>
              </a:rPr>
              <a:t>Modeling</a:t>
            </a:r>
            <a:endParaRPr lang="en-US" sz="1200" dirty="0"/>
          </a:p>
        </p:txBody>
      </p:sp>
      <p:sp>
        <p:nvSpPr>
          <p:cNvPr id="23" name="Text 21"/>
          <p:cNvSpPr txBox="1"/>
          <p:nvPr/>
        </p:nvSpPr>
        <p:spPr>
          <a:xfrm>
            <a:off x="6263640" y="3154680"/>
            <a:ext cx="1463040" cy="320040"/>
          </a:xfrm>
          <a:prstGeom prst="rect">
            <a:avLst/>
          </a:prstGeom>
          <a:noFill/>
          <a:ln/>
        </p:spPr>
        <p:txBody>
          <a:bodyPr wrap="square" lIns="0" tIns="0" rIns="0" bIns="0" rtlCol="0" anchor="ctr"/>
          <a:lstStyle/>
          <a:p>
            <a:pPr algn="ctr" indent="0" marL="0">
              <a:buNone/>
            </a:pPr>
            <a:r>
              <a:rPr lang="en-US" sz="1200" b="1" dirty="0">
                <a:solidFill>
                  <a:srgbClr val="F5A623"/>
                </a:solidFill>
                <a:latin typeface="Calibri" pitchFamily="34" charset="0"/>
                <a:ea typeface="Calibri" pitchFamily="34" charset="-122"/>
                <a:cs typeface="Calibri" pitchFamily="34" charset="-120"/>
              </a:rPr>
              <a:t>4</a:t>
            </a:r>
            <a:endParaRPr lang="en-US" sz="1200" dirty="0"/>
          </a:p>
        </p:txBody>
      </p:sp>
      <p:sp>
        <p:nvSpPr>
          <p:cNvPr id="24" name="Text 22"/>
          <p:cNvSpPr txBox="1"/>
          <p:nvPr/>
        </p:nvSpPr>
        <p:spPr>
          <a:xfrm>
            <a:off x="6172200" y="3749040"/>
            <a:ext cx="1645920" cy="731520"/>
          </a:xfrm>
          <a:prstGeom prst="rect">
            <a:avLst/>
          </a:prstGeom>
          <a:noFill/>
          <a:ln/>
        </p:spPr>
        <p:txBody>
          <a:bodyPr wrap="square" lIns="0" tIns="0" rIns="0" bIns="0" rtlCol="0" anchor="t"/>
          <a:lstStyle/>
          <a:p>
            <a:pPr algn="ctr" indent="0" marL="0">
              <a:buNone/>
            </a:pPr>
            <a:r>
              <a:rPr lang="en-US" sz="1300" dirty="0">
                <a:solidFill>
                  <a:srgbClr val="A9B4C2"/>
                </a:solidFill>
                <a:latin typeface="Calibri" pitchFamily="34" charset="0"/>
                <a:ea typeface="Calibri" pitchFamily="34" charset="-122"/>
                <a:cs typeface="Calibri" pitchFamily="34" charset="-120"/>
              </a:rPr>
              <a:t>6 algoritma + Markov</a:t>
            </a:r>
            <a:endParaRPr lang="en-US" sz="1300" dirty="0"/>
          </a:p>
        </p:txBody>
      </p:sp>
      <p:sp>
        <p:nvSpPr>
          <p:cNvPr id="25" name="Shape 23"/>
          <p:cNvSpPr/>
          <p:nvPr/>
        </p:nvSpPr>
        <p:spPr>
          <a:xfrm>
            <a:off x="7845552" y="2715768"/>
            <a:ext cx="182880" cy="237744"/>
          </a:xfrm>
          <a:prstGeom prst="rightArrow">
            <a:avLst/>
          </a:prstGeom>
          <a:solidFill>
            <a:srgbClr val="F5A623"/>
          </a:solidFill>
          <a:ln w="12700">
            <a:solidFill>
              <a:srgbClr val="F5A623"/>
            </a:solidFill>
            <a:prstDash val="solid"/>
          </a:ln>
        </p:spPr>
      </p:sp>
      <p:sp>
        <p:nvSpPr>
          <p:cNvPr id="26" name="Shape 24"/>
          <p:cNvSpPr/>
          <p:nvPr/>
        </p:nvSpPr>
        <p:spPr>
          <a:xfrm>
            <a:off x="8046720" y="2103120"/>
            <a:ext cx="1645920" cy="1463040"/>
          </a:xfrm>
          <a:prstGeom prst="roundRect">
            <a:avLst>
              <a:gd name="adj" fmla="val 5000"/>
            </a:avLst>
          </a:prstGeom>
          <a:solidFill>
            <a:srgbClr val="1C2230"/>
          </a:solidFill>
          <a:ln w="12700">
            <a:solidFill>
              <a:srgbClr val="30363D"/>
            </a:solidFill>
            <a:prstDash val="solid"/>
          </a:ln>
        </p:spPr>
      </p:sp>
      <p:sp>
        <p:nvSpPr>
          <p:cNvPr id="27" name="Text 25"/>
          <p:cNvSpPr txBox="1"/>
          <p:nvPr/>
        </p:nvSpPr>
        <p:spPr>
          <a:xfrm>
            <a:off x="8092440" y="2194560"/>
            <a:ext cx="1554480" cy="914400"/>
          </a:xfrm>
          <a:prstGeom prst="rect">
            <a:avLst/>
          </a:prstGeom>
          <a:noFill/>
          <a:ln/>
        </p:spPr>
        <p:txBody>
          <a:bodyPr wrap="square" lIns="0" tIns="0" rIns="0" bIns="0" rtlCol="0" anchor="ctr"/>
          <a:lstStyle/>
          <a:p>
            <a:pPr algn="ctr" indent="0" marL="0">
              <a:buNone/>
            </a:pPr>
            <a:r>
              <a:rPr lang="en-US" sz="1200" b="1" dirty="0">
                <a:solidFill>
                  <a:srgbClr val="E6EDF3"/>
                </a:solidFill>
                <a:latin typeface="Calibri" pitchFamily="34" charset="0"/>
                <a:ea typeface="Calibri" pitchFamily="34" charset="-122"/>
                <a:cs typeface="Calibri" pitchFamily="34" charset="-120"/>
              </a:rPr>
              <a:t>Evaluation</a:t>
            </a:r>
            <a:endParaRPr lang="en-US" sz="1200" dirty="0"/>
          </a:p>
        </p:txBody>
      </p:sp>
      <p:sp>
        <p:nvSpPr>
          <p:cNvPr id="28" name="Text 26"/>
          <p:cNvSpPr txBox="1"/>
          <p:nvPr/>
        </p:nvSpPr>
        <p:spPr>
          <a:xfrm>
            <a:off x="8138160" y="3154680"/>
            <a:ext cx="1463040" cy="320040"/>
          </a:xfrm>
          <a:prstGeom prst="rect">
            <a:avLst/>
          </a:prstGeom>
          <a:noFill/>
          <a:ln/>
        </p:spPr>
        <p:txBody>
          <a:bodyPr wrap="square" lIns="0" tIns="0" rIns="0" bIns="0" rtlCol="0" anchor="ctr"/>
          <a:lstStyle/>
          <a:p>
            <a:pPr algn="ctr" indent="0" marL="0">
              <a:buNone/>
            </a:pPr>
            <a:r>
              <a:rPr lang="en-US" sz="1200" b="1" dirty="0">
                <a:solidFill>
                  <a:srgbClr val="F5A623"/>
                </a:solidFill>
                <a:latin typeface="Calibri" pitchFamily="34" charset="0"/>
                <a:ea typeface="Calibri" pitchFamily="34" charset="-122"/>
                <a:cs typeface="Calibri" pitchFamily="34" charset="-120"/>
              </a:rPr>
              <a:t>5</a:t>
            </a:r>
            <a:endParaRPr lang="en-US" sz="1200" dirty="0"/>
          </a:p>
        </p:txBody>
      </p:sp>
      <p:sp>
        <p:nvSpPr>
          <p:cNvPr id="29" name="Text 27"/>
          <p:cNvSpPr txBox="1"/>
          <p:nvPr/>
        </p:nvSpPr>
        <p:spPr>
          <a:xfrm>
            <a:off x="8046720" y="3749040"/>
            <a:ext cx="1645920" cy="731520"/>
          </a:xfrm>
          <a:prstGeom prst="rect">
            <a:avLst/>
          </a:prstGeom>
          <a:noFill/>
          <a:ln/>
        </p:spPr>
        <p:txBody>
          <a:bodyPr wrap="square" lIns="0" tIns="0" rIns="0" bIns="0" rtlCol="0" anchor="t"/>
          <a:lstStyle/>
          <a:p>
            <a:pPr algn="ctr" indent="0" marL="0">
              <a:buNone/>
            </a:pPr>
            <a:r>
              <a:rPr lang="en-US" sz="1300" dirty="0">
                <a:solidFill>
                  <a:srgbClr val="A9B4C2"/>
                </a:solidFill>
                <a:latin typeface="Calibri" pitchFamily="34" charset="0"/>
                <a:ea typeface="Calibri" pitchFamily="34" charset="-122"/>
                <a:cs typeface="Calibri" pitchFamily="34" charset="-120"/>
              </a:rPr>
              <a:t>5-fold CV + data asli</a:t>
            </a:r>
            <a:endParaRPr lang="en-US" sz="1300" dirty="0"/>
          </a:p>
        </p:txBody>
      </p:sp>
      <p:sp>
        <p:nvSpPr>
          <p:cNvPr id="30" name="Shape 28"/>
          <p:cNvSpPr/>
          <p:nvPr/>
        </p:nvSpPr>
        <p:spPr>
          <a:xfrm>
            <a:off x="9720072" y="2715768"/>
            <a:ext cx="182880" cy="237744"/>
          </a:xfrm>
          <a:prstGeom prst="rightArrow">
            <a:avLst/>
          </a:prstGeom>
          <a:solidFill>
            <a:srgbClr val="F5A623"/>
          </a:solidFill>
          <a:ln w="12700">
            <a:solidFill>
              <a:srgbClr val="F5A623"/>
            </a:solidFill>
            <a:prstDash val="solid"/>
          </a:ln>
        </p:spPr>
      </p:sp>
      <p:sp>
        <p:nvSpPr>
          <p:cNvPr id="31" name="Shape 29"/>
          <p:cNvSpPr/>
          <p:nvPr/>
        </p:nvSpPr>
        <p:spPr>
          <a:xfrm>
            <a:off x="9921240" y="2103120"/>
            <a:ext cx="1645920" cy="1463040"/>
          </a:xfrm>
          <a:prstGeom prst="roundRect">
            <a:avLst>
              <a:gd name="adj" fmla="val 5000"/>
            </a:avLst>
          </a:prstGeom>
          <a:solidFill>
            <a:srgbClr val="1C2230"/>
          </a:solidFill>
          <a:ln w="12700">
            <a:solidFill>
              <a:srgbClr val="30363D"/>
            </a:solidFill>
            <a:prstDash val="solid"/>
          </a:ln>
        </p:spPr>
      </p:sp>
      <p:sp>
        <p:nvSpPr>
          <p:cNvPr id="32" name="Text 30"/>
          <p:cNvSpPr txBox="1"/>
          <p:nvPr/>
        </p:nvSpPr>
        <p:spPr>
          <a:xfrm>
            <a:off x="9966960" y="2194560"/>
            <a:ext cx="1554480" cy="914400"/>
          </a:xfrm>
          <a:prstGeom prst="rect">
            <a:avLst/>
          </a:prstGeom>
          <a:noFill/>
          <a:ln/>
        </p:spPr>
        <p:txBody>
          <a:bodyPr wrap="square" lIns="0" tIns="0" rIns="0" bIns="0" rtlCol="0" anchor="ctr"/>
          <a:lstStyle/>
          <a:p>
            <a:pPr algn="ctr" indent="0" marL="0">
              <a:buNone/>
            </a:pPr>
            <a:r>
              <a:rPr lang="en-US" sz="1200" b="1" dirty="0">
                <a:solidFill>
                  <a:srgbClr val="E6EDF3"/>
                </a:solidFill>
                <a:latin typeface="Calibri" pitchFamily="34" charset="0"/>
                <a:ea typeface="Calibri" pitchFamily="34" charset="-122"/>
                <a:cs typeface="Calibri" pitchFamily="34" charset="-120"/>
              </a:rPr>
              <a:t>Deployment</a:t>
            </a:r>
            <a:endParaRPr lang="en-US" sz="1200" dirty="0"/>
          </a:p>
        </p:txBody>
      </p:sp>
      <p:sp>
        <p:nvSpPr>
          <p:cNvPr id="33" name="Text 31"/>
          <p:cNvSpPr txBox="1"/>
          <p:nvPr/>
        </p:nvSpPr>
        <p:spPr>
          <a:xfrm>
            <a:off x="10012680" y="3154680"/>
            <a:ext cx="1463040" cy="320040"/>
          </a:xfrm>
          <a:prstGeom prst="rect">
            <a:avLst/>
          </a:prstGeom>
          <a:noFill/>
          <a:ln/>
        </p:spPr>
        <p:txBody>
          <a:bodyPr wrap="square" lIns="0" tIns="0" rIns="0" bIns="0" rtlCol="0" anchor="ctr"/>
          <a:lstStyle/>
          <a:p>
            <a:pPr algn="ctr" indent="0" marL="0">
              <a:buNone/>
            </a:pPr>
            <a:r>
              <a:rPr lang="en-US" sz="1200" b="1" dirty="0">
                <a:solidFill>
                  <a:srgbClr val="F5A623"/>
                </a:solidFill>
                <a:latin typeface="Calibri" pitchFamily="34" charset="0"/>
                <a:ea typeface="Calibri" pitchFamily="34" charset="-122"/>
                <a:cs typeface="Calibri" pitchFamily="34" charset="-120"/>
              </a:rPr>
              <a:t>6</a:t>
            </a:r>
            <a:endParaRPr lang="en-US" sz="1200" dirty="0"/>
          </a:p>
        </p:txBody>
      </p:sp>
      <p:sp>
        <p:nvSpPr>
          <p:cNvPr id="34" name="Text 32"/>
          <p:cNvSpPr txBox="1"/>
          <p:nvPr/>
        </p:nvSpPr>
        <p:spPr>
          <a:xfrm>
            <a:off x="9921240" y="3749040"/>
            <a:ext cx="1645920" cy="731520"/>
          </a:xfrm>
          <a:prstGeom prst="rect">
            <a:avLst/>
          </a:prstGeom>
          <a:noFill/>
          <a:ln/>
        </p:spPr>
        <p:txBody>
          <a:bodyPr wrap="square" lIns="0" tIns="0" rIns="0" bIns="0" rtlCol="0" anchor="t"/>
          <a:lstStyle/>
          <a:p>
            <a:pPr algn="ctr" indent="0" marL="0">
              <a:buNone/>
            </a:pPr>
            <a:r>
              <a:rPr lang="en-US" sz="1300" dirty="0">
                <a:solidFill>
                  <a:srgbClr val="A9B4C2"/>
                </a:solidFill>
                <a:latin typeface="Calibri" pitchFamily="34" charset="0"/>
                <a:ea typeface="Calibri" pitchFamily="34" charset="-122"/>
                <a:cs typeface="Calibri" pitchFamily="34" charset="-120"/>
              </a:rPr>
              <a:t>Web Streamlit</a:t>
            </a:r>
            <a:endParaRPr lang="en-US" sz="1300" dirty="0"/>
          </a:p>
        </p:txBody>
      </p:sp>
      <p:sp>
        <p:nvSpPr>
          <p:cNvPr id="35" name="Text 33"/>
          <p:cNvSpPr txBox="1"/>
          <p:nvPr/>
        </p:nvSpPr>
        <p:spPr>
          <a:xfrm>
            <a:off x="548640" y="5029200"/>
            <a:ext cx="10972800" cy="548640"/>
          </a:xfrm>
          <a:prstGeom prst="rect">
            <a:avLst/>
          </a:prstGeom>
          <a:noFill/>
          <a:ln/>
        </p:spPr>
        <p:txBody>
          <a:bodyPr wrap="square" lIns="0" tIns="0" rIns="0" bIns="0" rtlCol="0" anchor="ctr"/>
          <a:lstStyle/>
          <a:p>
            <a:pPr indent="0" marL="0">
              <a:buNone/>
            </a:pPr>
            <a:r>
              <a:rPr lang="en-US" sz="1500" dirty="0">
                <a:solidFill>
                  <a:srgbClr val="A9B4C2"/>
                </a:solidFill>
                <a:latin typeface="Calibri" pitchFamily="34" charset="0"/>
                <a:ea typeface="Calibri" pitchFamily="34" charset="-122"/>
                <a:cs typeface="Calibri" pitchFamily="34" charset="-120"/>
              </a:rPr>
              <a:t>Kerangka standar proses data mining (Chapman et al., 2000), diterapkan dari pemahaman masalah sampai aplikasi web.</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DATA</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Data: simulasi + data asli pemain</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11</a:t>
            </a:r>
            <a:endParaRPr lang="en-US" sz="1000" dirty="0"/>
          </a:p>
        </p:txBody>
      </p:sp>
      <p:sp>
        <p:nvSpPr>
          <p:cNvPr id="6" name="Shape 4"/>
          <p:cNvSpPr/>
          <p:nvPr/>
        </p:nvSpPr>
        <p:spPr>
          <a:xfrm>
            <a:off x="548640" y="1645920"/>
            <a:ext cx="5394960" cy="2194560"/>
          </a:xfrm>
          <a:prstGeom prst="roundRect">
            <a:avLst>
              <a:gd name="adj" fmla="val 3333"/>
            </a:avLst>
          </a:prstGeom>
          <a:solidFill>
            <a:srgbClr val="1C2230"/>
          </a:solidFill>
          <a:ln w="9525">
            <a:solidFill>
              <a:srgbClr val="30363D"/>
            </a:solidFill>
            <a:prstDash val="solid"/>
          </a:ln>
        </p:spPr>
      </p:sp>
      <p:sp>
        <p:nvSpPr>
          <p:cNvPr id="7" name="Text 5"/>
          <p:cNvSpPr txBox="1"/>
          <p:nvPr/>
        </p:nvSpPr>
        <p:spPr>
          <a:xfrm>
            <a:off x="777240" y="1874520"/>
            <a:ext cx="4937760" cy="411480"/>
          </a:xfrm>
          <a:prstGeom prst="rect">
            <a:avLst/>
          </a:prstGeom>
          <a:noFill/>
          <a:ln/>
        </p:spPr>
        <p:txBody>
          <a:bodyPr wrap="square" lIns="0" tIns="0" rIns="0" bIns="0" rtlCol="0" anchor="t"/>
          <a:lstStyle/>
          <a:p>
            <a:pPr indent="0" marL="0">
              <a:buNone/>
            </a:pPr>
            <a:r>
              <a:rPr lang="en-US" sz="1800" b="1" dirty="0">
                <a:solidFill>
                  <a:srgbClr val="58A6FF"/>
                </a:solidFill>
                <a:latin typeface="Cambria" pitchFamily="34" charset="0"/>
                <a:ea typeface="Cambria" pitchFamily="34" charset="-122"/>
                <a:cs typeface="Cambria" pitchFamily="34" charset="-120"/>
              </a:rPr>
              <a:t>Simulasi Monte Carlo</a:t>
            </a:r>
            <a:endParaRPr lang="en-US" sz="1800" dirty="0"/>
          </a:p>
        </p:txBody>
      </p:sp>
      <p:sp>
        <p:nvSpPr>
          <p:cNvPr id="8" name="Text 6"/>
          <p:cNvSpPr txBox="1"/>
          <p:nvPr/>
        </p:nvSpPr>
        <p:spPr>
          <a:xfrm>
            <a:off x="777240" y="2331720"/>
            <a:ext cx="4937760" cy="1325880"/>
          </a:xfrm>
          <a:prstGeom prst="rect">
            <a:avLst/>
          </a:prstGeom>
          <a:noFill/>
          <a:ln/>
        </p:spPr>
        <p:txBody>
          <a:bodyPr wrap="square" lIns="0" tIns="0" rIns="0" bIns="0" rtlCol="0" anchor="t"/>
          <a:lstStyle/>
          <a:p>
            <a:pPr indent="0" marL="0">
              <a:spcAft>
                <a:spcPts val="400"/>
              </a:spcAft>
              <a:buNone/>
            </a:pPr>
            <a:r>
              <a:rPr lang="en-US" sz="1600" dirty="0">
                <a:solidFill>
                  <a:srgbClr val="A9B4C2"/>
                </a:solidFill>
                <a:latin typeface="Calibri" pitchFamily="34" charset="0"/>
                <a:ea typeface="Calibri" pitchFamily="34" charset="-122"/>
                <a:cs typeface="Calibri" pitchFamily="34" charset="-120"/>
              </a:rPr>
              <a:t>400 akun virtual · ±314 ribu pull · dibangkitkan dari model Markov (seed 42), jadi memuat asumsi soft pity. Dipakai untuk melatih dan menguji.</a:t>
            </a:r>
            <a:endParaRPr lang="en-US" sz="1600" dirty="0"/>
          </a:p>
        </p:txBody>
      </p:sp>
      <p:sp>
        <p:nvSpPr>
          <p:cNvPr id="9" name="Shape 7"/>
          <p:cNvSpPr/>
          <p:nvPr/>
        </p:nvSpPr>
        <p:spPr>
          <a:xfrm>
            <a:off x="6217920" y="1645920"/>
            <a:ext cx="5394960" cy="2194560"/>
          </a:xfrm>
          <a:prstGeom prst="roundRect">
            <a:avLst>
              <a:gd name="adj" fmla="val 3333"/>
            </a:avLst>
          </a:prstGeom>
          <a:solidFill>
            <a:srgbClr val="1C2230"/>
          </a:solidFill>
          <a:ln w="9525">
            <a:solidFill>
              <a:srgbClr val="30363D"/>
            </a:solidFill>
            <a:prstDash val="solid"/>
          </a:ln>
        </p:spPr>
      </p:sp>
      <p:sp>
        <p:nvSpPr>
          <p:cNvPr id="10" name="Text 8"/>
          <p:cNvSpPr txBox="1"/>
          <p:nvPr/>
        </p:nvSpPr>
        <p:spPr>
          <a:xfrm>
            <a:off x="6446520" y="1874520"/>
            <a:ext cx="4937760" cy="411480"/>
          </a:xfrm>
          <a:prstGeom prst="rect">
            <a:avLst/>
          </a:prstGeom>
          <a:noFill/>
          <a:ln/>
        </p:spPr>
        <p:txBody>
          <a:bodyPr wrap="square" lIns="0" tIns="0" rIns="0" bIns="0" rtlCol="0" anchor="t"/>
          <a:lstStyle/>
          <a:p>
            <a:pPr indent="0" marL="0">
              <a:buNone/>
            </a:pPr>
            <a:r>
              <a:rPr lang="en-US" sz="1800" b="1" dirty="0">
                <a:solidFill>
                  <a:srgbClr val="3FB950"/>
                </a:solidFill>
                <a:latin typeface="Cambria" pitchFamily="34" charset="0"/>
                <a:ea typeface="Cambria" pitchFamily="34" charset="-122"/>
                <a:cs typeface="Cambria" pitchFamily="34" charset="-120"/>
              </a:rPr>
              <a:t>Data asli (2 akun)</a:t>
            </a:r>
            <a:endParaRPr lang="en-US" sz="1800" dirty="0"/>
          </a:p>
        </p:txBody>
      </p:sp>
      <p:sp>
        <p:nvSpPr>
          <p:cNvPr id="11" name="Text 9"/>
          <p:cNvSpPr txBox="1"/>
          <p:nvPr/>
        </p:nvSpPr>
        <p:spPr>
          <a:xfrm>
            <a:off x="6446520" y="2331720"/>
            <a:ext cx="4937760" cy="1325880"/>
          </a:xfrm>
          <a:prstGeom prst="rect">
            <a:avLst/>
          </a:prstGeom>
          <a:noFill/>
          <a:ln/>
        </p:spPr>
        <p:txBody>
          <a:bodyPr wrap="square" lIns="0" tIns="0" rIns="0" bIns="0" rtlCol="0" anchor="t"/>
          <a:lstStyle/>
          <a:p>
            <a:pPr indent="0" marL="0">
              <a:spcAft>
                <a:spcPts val="400"/>
              </a:spcAft>
              <a:buNone/>
            </a:pPr>
            <a:r>
              <a:rPr lang="en-US" sz="1600" dirty="0">
                <a:solidFill>
                  <a:srgbClr val="A9B4C2"/>
                </a:solidFill>
                <a:latin typeface="Calibri" pitchFamily="34" charset="0"/>
                <a:ea typeface="Calibri" pitchFamily="34" charset="-122"/>
                <a:cs typeface="Calibri" pitchFamily="34" charset="-120"/>
              </a:rPr>
              <a:t>1.441 pull · 22 S-Rank · anonim. Dipakai untuk menguji model, memeriksa pola soft pity, dan melatih + menguji sendiri (1.209 baris).</a:t>
            </a:r>
            <a:endParaRPr lang="en-US" sz="1600" dirty="0"/>
          </a:p>
        </p:txBody>
      </p:sp>
      <p:sp>
        <p:nvSpPr>
          <p:cNvPr id="12" name="Text 10"/>
          <p:cNvSpPr txBox="1"/>
          <p:nvPr/>
        </p:nvSpPr>
        <p:spPr>
          <a:xfrm>
            <a:off x="548640" y="4160520"/>
            <a:ext cx="10972800" cy="365760"/>
          </a:xfrm>
          <a:prstGeom prst="rect">
            <a:avLst/>
          </a:prstGeom>
          <a:noFill/>
          <a:ln/>
        </p:spPr>
        <p:txBody>
          <a:bodyPr wrap="square" lIns="0" tIns="0" rIns="0" bIns="0" rtlCol="0" anchor="ctr"/>
          <a:lstStyle/>
          <a:p>
            <a:pPr indent="0" marL="0">
              <a:buNone/>
            </a:pPr>
            <a:r>
              <a:rPr lang="en-US" sz="1600" b="1" dirty="0">
                <a:solidFill>
                  <a:srgbClr val="E6EDF3"/>
                </a:solidFill>
                <a:latin typeface="Calibri" pitchFamily="34" charset="0"/>
                <a:ea typeface="Calibri" pitchFamily="34" charset="-122"/>
                <a:cs typeface="Calibri" pitchFamily="34" charset="-120"/>
              </a:rPr>
              <a:t>Cara ambil data asli:</a:t>
            </a:r>
            <a:endParaRPr lang="en-US" sz="1600" dirty="0"/>
          </a:p>
        </p:txBody>
      </p:sp>
      <p:sp>
        <p:nvSpPr>
          <p:cNvPr id="13" name="Text 11"/>
          <p:cNvSpPr txBox="1"/>
          <p:nvPr/>
        </p:nvSpPr>
        <p:spPr>
          <a:xfrm>
            <a:off x="548640" y="4572000"/>
            <a:ext cx="10972800" cy="16459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E6EDF3"/>
                </a:solidFill>
                <a:latin typeface="Calibri" pitchFamily="34" charset="0"/>
                <a:ea typeface="Calibri" pitchFamily="34" charset="-122"/>
                <a:cs typeface="Calibri" pitchFamily="34" charset="-120"/>
              </a:rPr>
              <a:t>Script PowerShell membaca URL riwayat dari cache game di PC (Steam/HoYoPlay) → server HoYoverse</a:t>
            </a:r>
            <a:endParaRPr lang="en-US" sz="1500" dirty="0"/>
          </a:p>
          <a:p>
            <a:pPr marL="228600" indent="-228600">
              <a:spcAft>
                <a:spcPts val="1000"/>
              </a:spcAft>
              <a:buSzPct val="100000"/>
              <a:buChar char="•"/>
            </a:pPr>
            <a:r>
              <a:rPr lang="en-US" sz="1500" dirty="0">
                <a:solidFill>
                  <a:srgbClr val="E6EDF3"/>
                </a:solidFill>
                <a:latin typeface="Calibri" pitchFamily="34" charset="0"/>
                <a:ea typeface="Calibri" pitchFamily="34" charset="-122"/>
                <a:cs typeface="Calibri" pitchFamily="34" charset="-120"/>
              </a:rPr>
              <a:t>Upload file UIGF v4 (cocok untuk HP) atau input manual pity</a:t>
            </a:r>
            <a:endParaRPr lang="en-US" sz="1500" dirty="0"/>
          </a:p>
          <a:p>
            <a:pPr marL="228600" indent="-228600">
              <a:spcAft>
                <a:spcPts val="1000"/>
              </a:spcAft>
              <a:buSzPct val="100000"/>
              <a:buChar char="•"/>
            </a:pPr>
            <a:r>
              <a:rPr lang="en-US" sz="1500" dirty="0">
                <a:solidFill>
                  <a:srgbClr val="E6EDF3"/>
                </a:solidFill>
                <a:latin typeface="Calibri" pitchFamily="34" charset="0"/>
                <a:ea typeface="Calibri" pitchFamily="34" charset="-122"/>
                <a:cs typeface="Calibri" pitchFamily="34" charset="-120"/>
              </a:rPr>
              <a:t>Pra-pemrosesan: buang duplikat, urutkan per akun, hitung pity &amp; guaranteed, buang segmen pertama yang tidak lengkap</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DATA PREPARATION</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Fitur dan target</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12</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6035040" cy="914400"/>
        </p:xfrm>
        <a:graphic>
          <a:graphicData uri="http://schemas.openxmlformats.org/drawingml/2006/table">
            <a:tbl>
              <a:tblPr/>
              <a:tblGrid>
                <a:gridCol w="1828800"/>
                <a:gridCol w="4206240"/>
              </a:tblGrid>
              <a:tr h="548640">
                <a:tc>
                  <a:txBody>
                    <a:bodyPr/>
                    <a:lstStyle/>
                    <a:p>
                      <a:pPr algn="l" indent="0" marL="0">
                        <a:buNone/>
                      </a:pPr>
                      <a:r>
                        <a:rPr lang="en-US" sz="1500" b="1" dirty="0">
                          <a:solidFill>
                            <a:srgbClr val="F5A623"/>
                          </a:solidFill>
                          <a:latin typeface="Calibri" pitchFamily="34" charset="0"/>
                          <a:ea typeface="Calibri" pitchFamily="34" charset="-122"/>
                          <a:cs typeface="Calibri" pitchFamily="34" charset="-120"/>
                        </a:rPr>
                        <a:t>Fitur</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algn="ctr" indent="0" marL="0">
                        <a:buNone/>
                      </a:pPr>
                      <a:r>
                        <a:rPr lang="en-US" sz="1500" b="1" dirty="0">
                          <a:solidFill>
                            <a:srgbClr val="F5A623"/>
                          </a:solidFill>
                          <a:latin typeface="Calibri" pitchFamily="34" charset="0"/>
                          <a:ea typeface="Calibri" pitchFamily="34" charset="-122"/>
                          <a:cs typeface="Calibri" pitchFamily="34" charset="-120"/>
                        </a:rPr>
                        <a:t>Keterangan</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548640">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pity</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500" dirty="0">
                          <a:solidFill>
                            <a:srgbClr val="E6EDF3"/>
                          </a:solidFill>
                          <a:latin typeface="Calibri" pitchFamily="34" charset="0"/>
                          <a:ea typeface="Calibri" pitchFamily="34" charset="-122"/>
                          <a:cs typeface="Calibri" pitchFamily="34" charset="-120"/>
                        </a:rPr>
                        <a:t>pull sejak S-Rank terakhir (0 – 89)</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548640">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pity_ratio</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500" dirty="0">
                          <a:solidFill>
                            <a:srgbClr val="E6EDF3"/>
                          </a:solidFill>
                          <a:latin typeface="Calibri" pitchFamily="34" charset="0"/>
                          <a:ea typeface="Calibri" pitchFamily="34" charset="-122"/>
                          <a:cs typeface="Calibri" pitchFamily="34" charset="-120"/>
                        </a:rPr>
                        <a:t>pity ÷ hard pity</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r>
              <a:tr h="548640">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guaranteed</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500" dirty="0">
                          <a:solidFill>
                            <a:srgbClr val="E6EDF3"/>
                          </a:solidFill>
                          <a:latin typeface="Calibri" pitchFamily="34" charset="0"/>
                          <a:ea typeface="Calibri" pitchFamily="34" charset="-122"/>
                          <a:cs typeface="Calibri" pitchFamily="34" charset="-120"/>
                        </a:rPr>
                        <a:t>1 jika S berikutnya pasti rate-up</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548640">
                <a:tc>
                  <a:txBody>
                    <a:bodyPr/>
                    <a:lstStyle/>
                    <a:p>
                      <a:pPr algn="l" indent="0" marL="0">
                        <a:buNone/>
                      </a:pPr>
                      <a:r>
                        <a:rPr lang="en-US" sz="1500" dirty="0">
                          <a:solidFill>
                            <a:srgbClr val="E6EDF3"/>
                          </a:solidFill>
                          <a:latin typeface="Calibri" pitchFamily="34" charset="0"/>
                          <a:ea typeface="Calibri" pitchFamily="34" charset="-122"/>
                          <a:cs typeface="Calibri" pitchFamily="34" charset="-120"/>
                        </a:rPr>
                        <a:t>is_wengine</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500" dirty="0">
                          <a:solidFill>
                            <a:srgbClr val="E6EDF3"/>
                          </a:solidFill>
                          <a:latin typeface="Calibri" pitchFamily="34" charset="0"/>
                          <a:ea typeface="Calibri" pitchFamily="34" charset="-122"/>
                          <a:cs typeface="Calibri" pitchFamily="34" charset="-120"/>
                        </a:rPr>
                        <a:t>1 = W-Engine, 0 = Agent</a:t>
                      </a:r>
                      <a:endParaRPr lang="en-US" sz="15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r>
            </a:tbl>
          </a:graphicData>
        </a:graphic>
      </p:graphicFrame>
      <p:sp>
        <p:nvSpPr>
          <p:cNvPr id="7" name="Shape 4"/>
          <p:cNvSpPr/>
          <p:nvPr/>
        </p:nvSpPr>
        <p:spPr>
          <a:xfrm>
            <a:off x="6949440" y="1645920"/>
            <a:ext cx="4663440" cy="1920240"/>
          </a:xfrm>
          <a:prstGeom prst="roundRect">
            <a:avLst>
              <a:gd name="adj" fmla="val 3810"/>
            </a:avLst>
          </a:prstGeom>
          <a:solidFill>
            <a:srgbClr val="1C2230"/>
          </a:solidFill>
          <a:ln w="9525">
            <a:solidFill>
              <a:srgbClr val="30363D"/>
            </a:solidFill>
            <a:prstDash val="solid"/>
          </a:ln>
        </p:spPr>
      </p:sp>
      <p:sp>
        <p:nvSpPr>
          <p:cNvPr id="8" name="Text 5"/>
          <p:cNvSpPr txBox="1"/>
          <p:nvPr/>
        </p:nvSpPr>
        <p:spPr>
          <a:xfrm>
            <a:off x="7178040" y="1874520"/>
            <a:ext cx="4206240" cy="411480"/>
          </a:xfrm>
          <a:prstGeom prst="rect">
            <a:avLst/>
          </a:prstGeom>
          <a:noFill/>
          <a:ln/>
        </p:spPr>
        <p:txBody>
          <a:bodyPr wrap="square" lIns="0" tIns="0" rIns="0" bIns="0" rtlCol="0" anchor="t"/>
          <a:lstStyle/>
          <a:p>
            <a:pPr indent="0" marL="0">
              <a:buNone/>
            </a:pPr>
            <a:r>
              <a:rPr lang="en-US" sz="1800" b="1" dirty="0">
                <a:solidFill>
                  <a:srgbClr val="8B949E"/>
                </a:solidFill>
                <a:latin typeface="Cambria" pitchFamily="34" charset="0"/>
                <a:ea typeface="Cambria" pitchFamily="34" charset="-122"/>
                <a:cs typeface="Cambria" pitchFamily="34" charset="-120"/>
              </a:rPr>
              <a:t>Tugas A</a:t>
            </a:r>
            <a:endParaRPr lang="en-US" sz="1800" dirty="0"/>
          </a:p>
        </p:txBody>
      </p:sp>
      <p:sp>
        <p:nvSpPr>
          <p:cNvPr id="9" name="Text 6"/>
          <p:cNvSpPr txBox="1"/>
          <p:nvPr/>
        </p:nvSpPr>
        <p:spPr>
          <a:xfrm>
            <a:off x="7178040" y="2331720"/>
            <a:ext cx="4206240" cy="1051560"/>
          </a:xfrm>
          <a:prstGeom prst="rect">
            <a:avLst/>
          </a:prstGeom>
          <a:noFill/>
          <a:ln/>
        </p:spPr>
        <p:txBody>
          <a:bodyPr wrap="square" lIns="0" tIns="0" rIns="0" bIns="0" rtlCol="0" anchor="t"/>
          <a:lstStyle/>
          <a:p>
            <a:pPr indent="0" marL="0">
              <a:spcAft>
                <a:spcPts val="400"/>
              </a:spcAft>
              <a:buNone/>
            </a:pPr>
            <a:r>
              <a:rPr lang="en-US" sz="1600" dirty="0">
                <a:solidFill>
                  <a:srgbClr val="A9B4C2"/>
                </a:solidFill>
                <a:latin typeface="Calibri" pitchFamily="34" charset="0"/>
                <a:ea typeface="Calibri" pitchFamily="34" charset="-122"/>
                <a:cs typeface="Calibri" pitchFamily="34" charset="-120"/>
              </a:rPr>
              <a:t>Dapat S-Rank di pull berikutnya? Kelas positif ±1,7%.</a:t>
            </a:r>
            <a:endParaRPr lang="en-US" sz="1600" dirty="0"/>
          </a:p>
        </p:txBody>
      </p:sp>
      <p:sp>
        <p:nvSpPr>
          <p:cNvPr id="10" name="Shape 7"/>
          <p:cNvSpPr/>
          <p:nvPr/>
        </p:nvSpPr>
        <p:spPr>
          <a:xfrm>
            <a:off x="6949440" y="3794760"/>
            <a:ext cx="4663440" cy="1920240"/>
          </a:xfrm>
          <a:prstGeom prst="roundRect">
            <a:avLst>
              <a:gd name="adj" fmla="val 3810"/>
            </a:avLst>
          </a:prstGeom>
          <a:solidFill>
            <a:srgbClr val="1C2230"/>
          </a:solidFill>
          <a:ln w="9525">
            <a:solidFill>
              <a:srgbClr val="30363D"/>
            </a:solidFill>
            <a:prstDash val="solid"/>
          </a:ln>
        </p:spPr>
      </p:sp>
      <p:sp>
        <p:nvSpPr>
          <p:cNvPr id="11" name="Text 8"/>
          <p:cNvSpPr txBox="1"/>
          <p:nvPr/>
        </p:nvSpPr>
        <p:spPr>
          <a:xfrm>
            <a:off x="7178040" y="4023360"/>
            <a:ext cx="4206240" cy="411480"/>
          </a:xfrm>
          <a:prstGeom prst="rect">
            <a:avLst/>
          </a:prstGeom>
          <a:noFill/>
          <a:ln/>
        </p:spPr>
        <p:txBody>
          <a:bodyPr wrap="square" lIns="0" tIns="0" rIns="0" bIns="0" rtlCol="0" anchor="t"/>
          <a:lstStyle/>
          <a:p>
            <a:pPr indent="0" marL="0">
              <a:buNone/>
            </a:pPr>
            <a:r>
              <a:rPr lang="en-US" sz="1800" b="1" dirty="0">
                <a:solidFill>
                  <a:srgbClr val="F5A623"/>
                </a:solidFill>
                <a:latin typeface="Cambria" pitchFamily="34" charset="0"/>
                <a:ea typeface="Cambria" pitchFamily="34" charset="-122"/>
                <a:cs typeface="Cambria" pitchFamily="34" charset="-120"/>
              </a:rPr>
              <a:t>Tugas B (utama)</a:t>
            </a:r>
            <a:endParaRPr lang="en-US" sz="1800" dirty="0"/>
          </a:p>
        </p:txBody>
      </p:sp>
      <p:sp>
        <p:nvSpPr>
          <p:cNvPr id="12" name="Text 9"/>
          <p:cNvSpPr txBox="1"/>
          <p:nvPr/>
        </p:nvSpPr>
        <p:spPr>
          <a:xfrm>
            <a:off x="7178040" y="4480560"/>
            <a:ext cx="4206240" cy="1051560"/>
          </a:xfrm>
          <a:prstGeom prst="rect">
            <a:avLst/>
          </a:prstGeom>
          <a:noFill/>
          <a:ln/>
        </p:spPr>
        <p:txBody>
          <a:bodyPr wrap="square" lIns="0" tIns="0" rIns="0" bIns="0" rtlCol="0" anchor="t"/>
          <a:lstStyle/>
          <a:p>
            <a:pPr indent="0" marL="0">
              <a:spcAft>
                <a:spcPts val="400"/>
              </a:spcAft>
              <a:buNone/>
            </a:pPr>
            <a:r>
              <a:rPr lang="en-US" sz="1600" dirty="0">
                <a:solidFill>
                  <a:srgbClr val="A9B4C2"/>
                </a:solidFill>
                <a:latin typeface="Calibri" pitchFamily="34" charset="0"/>
                <a:ea typeface="Calibri" pitchFamily="34" charset="-122"/>
                <a:cs typeface="Calibri" pitchFamily="34" charset="-120"/>
              </a:rPr>
              <a:t>Dapat S-Rank dalam 10 pull berikutnya (1x ten-pull)? Kelas positif ±16,6%.</a:t>
            </a:r>
            <a:endParaRPr lang="en-US" sz="1600" dirty="0"/>
          </a:p>
        </p:txBody>
      </p:sp>
      <p:sp>
        <p:nvSpPr>
          <p:cNvPr id="13" name="Text 10"/>
          <p:cNvSpPr txBox="1"/>
          <p:nvPr/>
        </p:nvSpPr>
        <p:spPr>
          <a:xfrm>
            <a:off x="548640" y="4754880"/>
            <a:ext cx="6035040" cy="822960"/>
          </a:xfrm>
          <a:prstGeom prst="rect">
            <a:avLst/>
          </a:prstGeom>
          <a:noFill/>
          <a:ln/>
        </p:spPr>
        <p:txBody>
          <a:bodyPr wrap="square" lIns="0" tIns="0" rIns="0" bIns="0" rtlCol="0" anchor="t"/>
          <a:lstStyle/>
          <a:p>
            <a:pPr indent="0" marL="0">
              <a:buNone/>
            </a:pPr>
            <a:r>
              <a:rPr lang="en-US" sz="1500" dirty="0">
                <a:solidFill>
                  <a:srgbClr val="A9B4C2"/>
                </a:solidFill>
                <a:latin typeface="Calibri" pitchFamily="34" charset="0"/>
                <a:ea typeface="Calibri" pitchFamily="34" charset="-122"/>
                <a:cs typeface="Calibri" pitchFamily="34" charset="-120"/>
              </a:rPr>
              <a:t>Semua fitur diketahui SEBELUM pull dilakukan → tidak ada kebocoran data.</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IMPLEMENTASI</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Aplikasi: Import Data</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13</a:t>
            </a:r>
            <a:endParaRPr lang="en-US" sz="1000" dirty="0"/>
          </a:p>
        </p:txBody>
      </p:sp>
      <p:pic>
        <p:nvPicPr>
          <p:cNvPr id="6" name="Image 0" descr="app_import.png">    </p:cNvPr>
          <p:cNvPicPr>
            <a:picLocks noChangeAspect="1"/>
          </p:cNvPicPr>
          <p:nvPr/>
        </p:nvPicPr>
        <p:blipFill>
          <a:blip r:embed="rId1"/>
          <a:stretch>
            <a:fillRect/>
          </a:stretch>
        </p:blipFill>
        <p:spPr>
          <a:xfrm>
            <a:off x="1571954" y="1463040"/>
            <a:ext cx="3805531" cy="4800600"/>
          </a:xfrm>
          <a:prstGeom prst="rect">
            <a:avLst/>
          </a:prstGeom>
        </p:spPr>
      </p:pic>
      <p:sp>
        <p:nvSpPr>
          <p:cNvPr id="7" name="Text 4"/>
          <p:cNvSpPr txBox="1"/>
          <p:nvPr/>
        </p:nvSpPr>
        <p:spPr>
          <a:xfrm>
            <a:off x="6675120" y="1737360"/>
            <a:ext cx="4937760" cy="43891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E6EDF3"/>
                </a:solidFill>
                <a:latin typeface="Calibri" pitchFamily="34" charset="0"/>
                <a:ea typeface="Calibri" pitchFamily="34" charset="-122"/>
                <a:cs typeface="Calibri" pitchFamily="34" charset="-120"/>
              </a:rPr>
              <a:t>URL dari script PowerShell (PC)</a:t>
            </a:r>
            <a:endParaRPr lang="en-US" sz="1600" dirty="0"/>
          </a:p>
          <a:p>
            <a:pPr marL="228600" indent="-228600">
              <a:spcAft>
                <a:spcPts val="1000"/>
              </a:spcAft>
              <a:buSzPct val="100000"/>
              <a:buChar char="•"/>
            </a:pPr>
            <a:r>
              <a:rPr lang="en-US" sz="1600" dirty="0">
                <a:solidFill>
                  <a:srgbClr val="E6EDF3"/>
                </a:solidFill>
                <a:latin typeface="Calibri" pitchFamily="34" charset="0"/>
                <a:ea typeface="Calibri" pitchFamily="34" charset="-122"/>
                <a:cs typeface="Calibri" pitchFamily="34" charset="-120"/>
              </a:rPr>
              <a:t>Upload file UIGF v4 (HP)</a:t>
            </a:r>
            <a:endParaRPr lang="en-US" sz="1600" dirty="0"/>
          </a:p>
          <a:p>
            <a:pPr marL="228600" indent="-228600">
              <a:spcAft>
                <a:spcPts val="1000"/>
              </a:spcAft>
              <a:buSzPct val="100000"/>
              <a:buChar char="•"/>
            </a:pPr>
            <a:r>
              <a:rPr lang="en-US" sz="1600" dirty="0">
                <a:solidFill>
                  <a:srgbClr val="E6EDF3"/>
                </a:solidFill>
                <a:latin typeface="Calibri" pitchFamily="34" charset="0"/>
                <a:ea typeface="Calibri" pitchFamily="34" charset="-122"/>
                <a:cs typeface="Calibri" pitchFamily="34" charset="-120"/>
              </a:rPr>
              <a:t>Input manual pity (HP)</a:t>
            </a:r>
            <a:endParaRPr lang="en-US" sz="1600" dirty="0"/>
          </a:p>
          <a:p>
            <a:pPr marL="228600" indent="-228600">
              <a:spcAft>
                <a:spcPts val="1000"/>
              </a:spcAft>
              <a:buSzPct val="100000"/>
              <a:buChar char="•"/>
            </a:pPr>
            <a:r>
              <a:rPr lang="en-US" sz="1600" dirty="0">
                <a:solidFill>
                  <a:srgbClr val="E6EDF3"/>
                </a:solidFill>
                <a:latin typeface="Calibri" pitchFamily="34" charset="0"/>
                <a:ea typeface="Calibri" pitchFamily="34" charset="-122"/>
                <a:cs typeface="Calibri" pitchFamily="34" charset="-120"/>
              </a:rPr>
              <a:t>Data contoh untuk yang tidak punya game</a:t>
            </a:r>
            <a:endParaRPr lang="en-US" sz="1600" dirty="0"/>
          </a:p>
          <a:p>
            <a:pPr marL="228600" indent="-228600">
              <a:spcAft>
                <a:spcPts val="1000"/>
              </a:spcAft>
              <a:buSzPct val="100000"/>
              <a:buChar char="•"/>
            </a:pPr>
            <a:r>
              <a:rPr lang="en-US" sz="1600" dirty="0">
                <a:solidFill>
                  <a:srgbClr val="E6EDF3"/>
                </a:solidFill>
                <a:latin typeface="Calibri" pitchFamily="34" charset="0"/>
                <a:ea typeface="Calibri" pitchFamily="34" charset="-122"/>
                <a:cs typeface="Calibri" pitchFamily="34" charset="-120"/>
              </a:rPr>
              <a:t>authkey tidak disimpan; riwayat hanya ada di sesi browser</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IMPLEMENTASI</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Aplikasi: Kalkulator Peluang</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14</a:t>
            </a:r>
            <a:endParaRPr lang="en-US" sz="1000" dirty="0"/>
          </a:p>
        </p:txBody>
      </p:sp>
      <p:pic>
        <p:nvPicPr>
          <p:cNvPr id="6" name="Image 0" descr="app_kalkulator_top.png">    </p:cNvPr>
          <p:cNvPicPr>
            <a:picLocks noChangeAspect="1"/>
          </p:cNvPicPr>
          <p:nvPr/>
        </p:nvPicPr>
        <p:blipFill>
          <a:blip r:embed="rId1"/>
          <a:stretch>
            <a:fillRect/>
          </a:stretch>
        </p:blipFill>
        <p:spPr>
          <a:xfrm>
            <a:off x="1734503" y="1463040"/>
            <a:ext cx="3480435" cy="4800600"/>
          </a:xfrm>
          <a:prstGeom prst="rect">
            <a:avLst/>
          </a:prstGeom>
        </p:spPr>
      </p:pic>
      <p:sp>
        <p:nvSpPr>
          <p:cNvPr id="7" name="Text 4"/>
          <p:cNvSpPr txBox="1"/>
          <p:nvPr/>
        </p:nvSpPr>
        <p:spPr>
          <a:xfrm>
            <a:off x="6675120" y="1737360"/>
            <a:ext cx="4937760" cy="43891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rgbClr val="E6EDF3"/>
                </a:solidFill>
                <a:latin typeface="Calibri" pitchFamily="34" charset="0"/>
                <a:ea typeface="Calibri" pitchFamily="34" charset="-122"/>
                <a:cs typeface="Calibri" pitchFamily="34" charset="-120"/>
              </a:rPr>
              <a:t>Peluang dapat S / S rate-up dalam N pull (Markov Chain)</a:t>
            </a:r>
            <a:endParaRPr lang="en-US" sz="1600" dirty="0"/>
          </a:p>
          <a:p>
            <a:pPr marL="228600" indent="-228600">
              <a:spcAft>
                <a:spcPts val="1000"/>
              </a:spcAft>
              <a:buSzPct val="100000"/>
              <a:buChar char="•"/>
            </a:pPr>
            <a:r>
              <a:rPr lang="en-US" sz="1600" dirty="0">
                <a:solidFill>
                  <a:srgbClr val="E6EDF3"/>
                </a:solidFill>
                <a:latin typeface="Calibri" pitchFamily="34" charset="0"/>
                <a:ea typeface="Calibri" pitchFamily="34" charset="-122"/>
                <a:cs typeface="Calibri" pitchFamily="34" charset="-120"/>
              </a:rPr>
              <a:t>Rata-rata &amp; paling sial sampai S rate-up</a:t>
            </a:r>
            <a:endParaRPr lang="en-US" sz="1600" dirty="0"/>
          </a:p>
          <a:p>
            <a:pPr marL="228600" indent="-228600">
              <a:spcAft>
                <a:spcPts val="1000"/>
              </a:spcAft>
              <a:buSzPct val="100000"/>
              <a:buChar char="•"/>
            </a:pPr>
            <a:r>
              <a:rPr lang="en-US" sz="1600" dirty="0">
                <a:solidFill>
                  <a:srgbClr val="E6EDF3"/>
                </a:solidFill>
                <a:latin typeface="Calibri" pitchFamily="34" charset="0"/>
                <a:ea typeface="Calibri" pitchFamily="34" charset="-122"/>
                <a:cs typeface="Calibri" pitchFamily="34" charset="-120"/>
              </a:rPr>
              <a:t>Konversi Polychrome → jumlah pull</a:t>
            </a:r>
            <a:endParaRPr lang="en-US" sz="1600" dirty="0"/>
          </a:p>
          <a:p>
            <a:pPr marL="228600" indent="-228600">
              <a:spcAft>
                <a:spcPts val="1000"/>
              </a:spcAft>
              <a:buSzPct val="100000"/>
              <a:buChar char="•"/>
            </a:pPr>
            <a:r>
              <a:rPr lang="en-US" sz="1600" dirty="0">
                <a:solidFill>
                  <a:srgbClr val="E6EDF3"/>
                </a:solidFill>
                <a:latin typeface="Calibri" pitchFamily="34" charset="0"/>
                <a:ea typeface="Calibri" pitchFamily="34" charset="-122"/>
                <a:cs typeface="Calibri" pitchFamily="34" charset="-120"/>
              </a:rPr>
              <a:t>Prediksi 6 algoritma untuk 1 pull &amp; 10 pull</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HASIL</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Validasi dengan akun asli</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15</a:t>
            </a:r>
            <a:endParaRPr lang="en-US" sz="1000" dirty="0"/>
          </a:p>
        </p:txBody>
      </p:sp>
      <p:sp>
        <p:nvSpPr>
          <p:cNvPr id="6" name="Text 4"/>
          <p:cNvSpPr txBox="1"/>
          <p:nvPr/>
        </p:nvSpPr>
        <p:spPr>
          <a:xfrm>
            <a:off x="548640" y="1828800"/>
            <a:ext cx="3474720" cy="914400"/>
          </a:xfrm>
          <a:prstGeom prst="rect">
            <a:avLst/>
          </a:prstGeom>
          <a:noFill/>
          <a:ln/>
        </p:spPr>
        <p:txBody>
          <a:bodyPr wrap="square" lIns="0" tIns="0" rIns="0" bIns="0" rtlCol="0" anchor="ctr"/>
          <a:lstStyle/>
          <a:p>
            <a:pPr indent="0" marL="0">
              <a:buNone/>
            </a:pPr>
            <a:r>
              <a:rPr lang="en-US" sz="5400" b="1" dirty="0">
                <a:solidFill>
                  <a:srgbClr val="F5A623"/>
                </a:solidFill>
                <a:latin typeface="Cambria" pitchFamily="34" charset="0"/>
                <a:ea typeface="Cambria" pitchFamily="34" charset="-122"/>
                <a:cs typeface="Cambria" pitchFamily="34" charset="-120"/>
              </a:rPr>
              <a:t>70 / 90</a:t>
            </a:r>
            <a:endParaRPr lang="en-US" sz="5400" dirty="0"/>
          </a:p>
        </p:txBody>
      </p:sp>
      <p:sp>
        <p:nvSpPr>
          <p:cNvPr id="7" name="Text 5"/>
          <p:cNvSpPr txBox="1"/>
          <p:nvPr/>
        </p:nvSpPr>
        <p:spPr>
          <a:xfrm>
            <a:off x="548640" y="2788920"/>
            <a:ext cx="3474720" cy="640080"/>
          </a:xfrm>
          <a:prstGeom prst="rect">
            <a:avLst/>
          </a:prstGeom>
          <a:noFill/>
          <a:ln/>
        </p:spPr>
        <p:txBody>
          <a:bodyPr wrap="square" lIns="0" tIns="0" rIns="0" bIns="0" rtlCol="0" anchor="t"/>
          <a:lstStyle/>
          <a:p>
            <a:pPr indent="0" marL="0">
              <a:buNone/>
            </a:pPr>
            <a:r>
              <a:rPr lang="en-US" sz="1400" dirty="0">
                <a:solidFill>
                  <a:srgbClr val="A9B4C2"/>
                </a:solidFill>
                <a:latin typeface="Calibri" pitchFamily="34" charset="0"/>
                <a:ea typeface="Calibri" pitchFamily="34" charset="-122"/>
                <a:cs typeface="Calibri" pitchFamily="34" charset="-120"/>
              </a:rPr>
              <a:t>pity Agent dihitung aplikasi = di game</a:t>
            </a:r>
            <a:endParaRPr lang="en-US" sz="1400" dirty="0"/>
          </a:p>
        </p:txBody>
      </p:sp>
      <p:sp>
        <p:nvSpPr>
          <p:cNvPr id="8" name="Text 6"/>
          <p:cNvSpPr txBox="1"/>
          <p:nvPr/>
        </p:nvSpPr>
        <p:spPr>
          <a:xfrm>
            <a:off x="4343400" y="1828800"/>
            <a:ext cx="3474720" cy="914400"/>
          </a:xfrm>
          <a:prstGeom prst="rect">
            <a:avLst/>
          </a:prstGeom>
          <a:noFill/>
          <a:ln/>
        </p:spPr>
        <p:txBody>
          <a:bodyPr wrap="square" lIns="0" tIns="0" rIns="0" bIns="0" rtlCol="0" anchor="ctr"/>
          <a:lstStyle/>
          <a:p>
            <a:pPr indent="0" marL="0">
              <a:buNone/>
            </a:pPr>
            <a:r>
              <a:rPr lang="en-US" sz="5400" b="1" dirty="0">
                <a:solidFill>
                  <a:srgbClr val="58A6FF"/>
                </a:solidFill>
                <a:latin typeface="Cambria" pitchFamily="34" charset="0"/>
                <a:ea typeface="Cambria" pitchFamily="34" charset="-122"/>
                <a:cs typeface="Cambria" pitchFamily="34" charset="-120"/>
              </a:rPr>
              <a:t>46 / 80</a:t>
            </a:r>
            <a:endParaRPr lang="en-US" sz="5400" dirty="0"/>
          </a:p>
        </p:txBody>
      </p:sp>
      <p:sp>
        <p:nvSpPr>
          <p:cNvPr id="9" name="Text 7"/>
          <p:cNvSpPr txBox="1"/>
          <p:nvPr/>
        </p:nvSpPr>
        <p:spPr>
          <a:xfrm>
            <a:off x="4343400" y="2788920"/>
            <a:ext cx="3474720" cy="640080"/>
          </a:xfrm>
          <a:prstGeom prst="rect">
            <a:avLst/>
          </a:prstGeom>
          <a:noFill/>
          <a:ln/>
        </p:spPr>
        <p:txBody>
          <a:bodyPr wrap="square" lIns="0" tIns="0" rIns="0" bIns="0" rtlCol="0" anchor="t"/>
          <a:lstStyle/>
          <a:p>
            <a:pPr indent="0" marL="0">
              <a:buNone/>
            </a:pPr>
            <a:r>
              <a:rPr lang="en-US" sz="1400" dirty="0">
                <a:solidFill>
                  <a:srgbClr val="A9B4C2"/>
                </a:solidFill>
                <a:latin typeface="Calibri" pitchFamily="34" charset="0"/>
                <a:ea typeface="Calibri" pitchFamily="34" charset="-122"/>
                <a:cs typeface="Calibri" pitchFamily="34" charset="-120"/>
              </a:rPr>
              <a:t>pity W-Engine + guaranteed = di game</a:t>
            </a:r>
            <a:endParaRPr lang="en-US" sz="1400" dirty="0"/>
          </a:p>
        </p:txBody>
      </p:sp>
      <p:sp>
        <p:nvSpPr>
          <p:cNvPr id="10" name="Text 8"/>
          <p:cNvSpPr txBox="1"/>
          <p:nvPr/>
        </p:nvSpPr>
        <p:spPr>
          <a:xfrm>
            <a:off x="8138160" y="1828800"/>
            <a:ext cx="3474720" cy="914400"/>
          </a:xfrm>
          <a:prstGeom prst="rect">
            <a:avLst/>
          </a:prstGeom>
          <a:noFill/>
          <a:ln/>
        </p:spPr>
        <p:txBody>
          <a:bodyPr wrap="square" lIns="0" tIns="0" rIns="0" bIns="0" rtlCol="0" anchor="ctr"/>
          <a:lstStyle/>
          <a:p>
            <a:pPr indent="0" marL="0">
              <a:buNone/>
            </a:pPr>
            <a:r>
              <a:rPr lang="en-US" sz="5400" b="1" dirty="0">
                <a:solidFill>
                  <a:srgbClr val="3FB950"/>
                </a:solidFill>
                <a:latin typeface="Cambria" pitchFamily="34" charset="0"/>
                <a:ea typeface="Cambria" pitchFamily="34" charset="-122"/>
                <a:cs typeface="Cambria" pitchFamily="34" charset="-120"/>
              </a:rPr>
              <a:t>87 / 87</a:t>
            </a:r>
            <a:endParaRPr lang="en-US" sz="5400" dirty="0"/>
          </a:p>
        </p:txBody>
      </p:sp>
      <p:sp>
        <p:nvSpPr>
          <p:cNvPr id="11" name="Text 9"/>
          <p:cNvSpPr txBox="1"/>
          <p:nvPr/>
        </p:nvSpPr>
        <p:spPr>
          <a:xfrm>
            <a:off x="8138160" y="2788920"/>
            <a:ext cx="3474720" cy="640080"/>
          </a:xfrm>
          <a:prstGeom prst="rect">
            <a:avLst/>
          </a:prstGeom>
          <a:noFill/>
          <a:ln/>
        </p:spPr>
        <p:txBody>
          <a:bodyPr wrap="square" lIns="0" tIns="0" rIns="0" bIns="0" rtlCol="0" anchor="t"/>
          <a:lstStyle/>
          <a:p>
            <a:pPr indent="0" marL="0">
              <a:buNone/>
            </a:pPr>
            <a:r>
              <a:rPr lang="en-US" sz="1400" dirty="0">
                <a:solidFill>
                  <a:srgbClr val="A9B4C2"/>
                </a:solidFill>
                <a:latin typeface="Calibri" pitchFamily="34" charset="0"/>
                <a:ea typeface="Calibri" pitchFamily="34" charset="-122"/>
                <a:cs typeface="Calibri" pitchFamily="34" charset="-120"/>
              </a:rPr>
              <a:t>test otomatis lolos (pytest + GitHub Actions)</a:t>
            </a:r>
            <a:endParaRPr lang="en-US" sz="1400" dirty="0"/>
          </a:p>
        </p:txBody>
      </p:sp>
      <p:sp>
        <p:nvSpPr>
          <p:cNvPr id="12" name="Text 10"/>
          <p:cNvSpPr txBox="1"/>
          <p:nvPr/>
        </p:nvSpPr>
        <p:spPr>
          <a:xfrm>
            <a:off x="548640" y="4206240"/>
            <a:ext cx="10972800" cy="822960"/>
          </a:xfrm>
          <a:prstGeom prst="rect">
            <a:avLst/>
          </a:prstGeom>
          <a:noFill/>
          <a:ln/>
        </p:spPr>
        <p:txBody>
          <a:bodyPr wrap="square" lIns="0" tIns="0" rIns="0" bIns="0" rtlCol="0" anchor="t"/>
          <a:lstStyle/>
          <a:p>
            <a:pPr indent="0" marL="0">
              <a:buNone/>
            </a:pPr>
            <a:r>
              <a:rPr lang="en-US" sz="1800" dirty="0">
                <a:solidFill>
                  <a:srgbClr val="A9B4C2"/>
                </a:solidFill>
                <a:latin typeface="Calibri" pitchFamily="34" charset="0"/>
                <a:ea typeface="Calibri" pitchFamily="34" charset="-122"/>
                <a:cs typeface="Calibri" pitchFamily="34" charset="-120"/>
              </a:rPr>
              <a:t>Pengambilan data, perhitungan pity, dan deteksi 50/50 terbukti benar dengan data game sungguhan (versi Steam).</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1B22"/>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HASIL</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Tugas A: jebakan akurasi</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16</a:t>
            </a:r>
            <a:endParaRPr lang="en-US" sz="1000" dirty="0"/>
          </a:p>
        </p:txBody>
      </p:sp>
      <p:sp>
        <p:nvSpPr>
          <p:cNvPr id="6" name="Text 4"/>
          <p:cNvSpPr txBox="1"/>
          <p:nvPr/>
        </p:nvSpPr>
        <p:spPr>
          <a:xfrm>
            <a:off x="548640" y="1737360"/>
            <a:ext cx="4114800" cy="914400"/>
          </a:xfrm>
          <a:prstGeom prst="rect">
            <a:avLst/>
          </a:prstGeom>
          <a:noFill/>
          <a:ln/>
        </p:spPr>
        <p:txBody>
          <a:bodyPr wrap="square" lIns="0" tIns="0" rIns="0" bIns="0" rtlCol="0" anchor="ctr"/>
          <a:lstStyle/>
          <a:p>
            <a:pPr indent="0" marL="0">
              <a:buNone/>
            </a:pPr>
            <a:r>
              <a:rPr lang="en-US" sz="5400" b="1" dirty="0">
                <a:solidFill>
                  <a:srgbClr val="F5A623"/>
                </a:solidFill>
                <a:latin typeface="Cambria" pitchFamily="34" charset="0"/>
                <a:ea typeface="Cambria" pitchFamily="34" charset="-122"/>
                <a:cs typeface="Cambria" pitchFamily="34" charset="-120"/>
              </a:rPr>
              <a:t>98,3%</a:t>
            </a:r>
            <a:endParaRPr lang="en-US" sz="5400" dirty="0"/>
          </a:p>
        </p:txBody>
      </p:sp>
      <p:sp>
        <p:nvSpPr>
          <p:cNvPr id="7" name="Text 5"/>
          <p:cNvSpPr txBox="1"/>
          <p:nvPr/>
        </p:nvSpPr>
        <p:spPr>
          <a:xfrm>
            <a:off x="548640" y="2697480"/>
            <a:ext cx="4114800" cy="640080"/>
          </a:xfrm>
          <a:prstGeom prst="rect">
            <a:avLst/>
          </a:prstGeom>
          <a:noFill/>
          <a:ln/>
        </p:spPr>
        <p:txBody>
          <a:bodyPr wrap="square" lIns="0" tIns="0" rIns="0" bIns="0" rtlCol="0" anchor="t"/>
          <a:lstStyle/>
          <a:p>
            <a:pPr indent="0" marL="0">
              <a:buNone/>
            </a:pPr>
            <a:r>
              <a:rPr lang="en-US" sz="1400" dirty="0">
                <a:solidFill>
                  <a:srgbClr val="A9B4C2"/>
                </a:solidFill>
                <a:latin typeface="Calibri" pitchFamily="34" charset="0"/>
                <a:ea typeface="Calibri" pitchFamily="34" charset="-122"/>
                <a:cs typeface="Calibri" pitchFamily="34" charset="-120"/>
              </a:rPr>
              <a:t>akurasi model yang SELALU menebak "tidak dapat S"</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120640" y="1645920"/>
          <a:ext cx="6492240" cy="914400"/>
        </p:xfrm>
        <a:graphic>
          <a:graphicData uri="http://schemas.openxmlformats.org/drawingml/2006/table">
            <a:tbl>
              <a:tblPr/>
              <a:tblGrid>
                <a:gridCol w="2651760"/>
                <a:gridCol w="1280160"/>
                <a:gridCol w="1280160"/>
                <a:gridCol w="1280160"/>
              </a:tblGrid>
              <a:tr h="438912">
                <a:tc>
                  <a:txBody>
                    <a:bodyPr/>
                    <a:lstStyle/>
                    <a:p>
                      <a:pPr algn="l" indent="0" marL="0">
                        <a:buNone/>
                      </a:pPr>
                      <a:r>
                        <a:rPr lang="en-US" sz="1300" b="1" dirty="0">
                          <a:solidFill>
                            <a:srgbClr val="F5A623"/>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algn="ctr" indent="0" marL="0">
                        <a:buNone/>
                      </a:pPr>
                      <a:r>
                        <a:rPr lang="en-US" sz="1300" b="1" dirty="0">
                          <a:solidFill>
                            <a:srgbClr val="F5A623"/>
                          </a:solidFill>
                          <a:latin typeface="Calibri" pitchFamily="34" charset="0"/>
                          <a:ea typeface="Calibri" pitchFamily="34" charset="-122"/>
                          <a:cs typeface="Calibri" pitchFamily="34" charset="-120"/>
                        </a:rPr>
                        <a:t>Accuracy</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algn="ctr" indent="0" marL="0">
                        <a:buNone/>
                      </a:pPr>
                      <a:r>
                        <a:rPr lang="en-US" sz="1300" b="1" dirty="0">
                          <a:solidFill>
                            <a:srgbClr val="F5A623"/>
                          </a:solidFill>
                          <a:latin typeface="Calibri" pitchFamily="34" charset="0"/>
                          <a:ea typeface="Calibri" pitchFamily="34" charset="-122"/>
                          <a:cs typeface="Calibri" pitchFamily="34" charset="-120"/>
                        </a:rPr>
                        <a:t>Bal. Acc.</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algn="ctr" indent="0" marL="0">
                        <a:buNone/>
                      </a:pPr>
                      <a:r>
                        <a:rPr lang="en-US" sz="1300" b="1" dirty="0">
                          <a:solidFill>
                            <a:srgbClr val="F5A623"/>
                          </a:solidFill>
                          <a:latin typeface="Calibri" pitchFamily="34" charset="0"/>
                          <a:ea typeface="Calibri" pitchFamily="34" charset="-122"/>
                          <a:cs typeface="Calibri" pitchFamily="34" charset="-120"/>
                        </a:rPr>
                        <a:t>ROC-AUC</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38912">
                <a:tc>
                  <a:txBody>
                    <a:bodyPr/>
                    <a:lstStyle/>
                    <a:p>
                      <a:pPr algn="l" indent="0" marL="0">
                        <a:buNone/>
                      </a:pPr>
                      <a:r>
                        <a:rPr lang="en-US" sz="1300" dirty="0">
                          <a:solidFill>
                            <a:srgbClr val="E6EDF3"/>
                          </a:solidFill>
                          <a:latin typeface="Calibri" pitchFamily="34" charset="0"/>
                          <a:ea typeface="Calibri" pitchFamily="34" charset="-122"/>
                          <a:cs typeface="Calibri" pitchFamily="34" charset="-120"/>
                        </a:rPr>
                        <a:t>Baseline</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0,9828</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0,5000</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0,5000</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438912">
                <a:tc>
                  <a:txBody>
                    <a:bodyPr/>
                    <a:lstStyle/>
                    <a:p>
                      <a:pPr algn="l" indent="0" marL="0">
                        <a:buNone/>
                      </a:pPr>
                      <a:r>
                        <a:rPr lang="en-US" sz="1300" dirty="0">
                          <a:solidFill>
                            <a:srgbClr val="E6EDF3"/>
                          </a:solidFill>
                          <a:latin typeface="Calibri" pitchFamily="34" charset="0"/>
                          <a:ea typeface="Calibri" pitchFamily="34" charset="-122"/>
                          <a:cs typeface="Calibri" pitchFamily="34" charset="-120"/>
                        </a:rPr>
                        <a:t>Markov (teori)</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0,9830</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0,5184</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0,7890</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r>
              <a:tr h="438912">
                <a:tc>
                  <a:txBody>
                    <a:bodyPr/>
                    <a:lstStyle/>
                    <a:p>
                      <a:pPr algn="l" indent="0" marL="0">
                        <a:buNone/>
                      </a:pPr>
                      <a:r>
                        <a:rPr lang="en-US" sz="1300" dirty="0">
                          <a:solidFill>
                            <a:srgbClr val="E6EDF3"/>
                          </a:solidFill>
                          <a:latin typeface="Calibri" pitchFamily="34" charset="0"/>
                          <a:ea typeface="Calibri" pitchFamily="34" charset="-122"/>
                          <a:cs typeface="Calibri" pitchFamily="34" charset="-120"/>
                        </a:rPr>
                        <a:t>Naive Bayes</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0,9829</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0,5007</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0,7563</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438912">
                <a:tc>
                  <a:txBody>
                    <a:bodyPr/>
                    <a:lstStyle/>
                    <a:p>
                      <a:pPr algn="l" indent="0" marL="0">
                        <a:buNone/>
                      </a:pPr>
                      <a:r>
                        <a:rPr lang="en-US" sz="1300" dirty="0">
                          <a:solidFill>
                            <a:srgbClr val="E6EDF3"/>
                          </a:solidFill>
                          <a:latin typeface="Calibri" pitchFamily="34" charset="0"/>
                          <a:ea typeface="Calibri" pitchFamily="34" charset="-122"/>
                          <a:cs typeface="Calibri" pitchFamily="34" charset="-120"/>
                        </a:rPr>
                        <a:t>KNN</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0,9829</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0,5150</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0,7728</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r>
              <a:tr h="438912">
                <a:tc>
                  <a:txBody>
                    <a:bodyPr/>
                    <a:lstStyle/>
                    <a:p>
                      <a:pPr algn="l" indent="0" marL="0">
                        <a:buNone/>
                      </a:pPr>
                      <a:r>
                        <a:rPr lang="en-US" sz="1300" dirty="0">
                          <a:solidFill>
                            <a:srgbClr val="E6EDF3"/>
                          </a:solidFill>
                          <a:latin typeface="Calibri" pitchFamily="34" charset="0"/>
                          <a:ea typeface="Calibri" pitchFamily="34" charset="-122"/>
                          <a:cs typeface="Calibri" pitchFamily="34" charset="-120"/>
                        </a:rPr>
                        <a:t>Logistic Regression</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0,9828</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0,5000</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0,7578</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438912">
                <a:tc>
                  <a:txBody>
                    <a:bodyPr/>
                    <a:lstStyle/>
                    <a:p>
                      <a:pPr algn="l" indent="0" marL="0">
                        <a:buNone/>
                      </a:pPr>
                      <a:r>
                        <a:rPr lang="en-US" sz="1300" dirty="0">
                          <a:solidFill>
                            <a:srgbClr val="E6EDF3"/>
                          </a:solidFill>
                          <a:latin typeface="Calibri" pitchFamily="34" charset="0"/>
                          <a:ea typeface="Calibri" pitchFamily="34" charset="-122"/>
                          <a:cs typeface="Calibri" pitchFamily="34" charset="-120"/>
                        </a:rPr>
                        <a:t>Decision Tree</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0,9830</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0,5136</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0,7889</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r>
              <a:tr h="438912">
                <a:tc>
                  <a:txBody>
                    <a:bodyPr/>
                    <a:lstStyle/>
                    <a:p>
                      <a:pPr algn="l" indent="0" marL="0">
                        <a:buNone/>
                      </a:pPr>
                      <a:r>
                        <a:rPr lang="en-US" sz="1300" dirty="0">
                          <a:solidFill>
                            <a:srgbClr val="E6EDF3"/>
                          </a:solidFill>
                          <a:latin typeface="Calibri" pitchFamily="34" charset="0"/>
                          <a:ea typeface="Calibri" pitchFamily="34" charset="-122"/>
                          <a:cs typeface="Calibri" pitchFamily="34" charset="-120"/>
                        </a:rPr>
                        <a:t>Random Forest</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0,9830</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0,5151</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0,7877</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438912">
                <a:tc>
                  <a:txBody>
                    <a:bodyPr/>
                    <a:lstStyle/>
                    <a:p>
                      <a:pPr algn="l" indent="0" marL="0">
                        <a:buNone/>
                      </a:pPr>
                      <a:r>
                        <a:rPr lang="en-US" sz="1300" dirty="0">
                          <a:solidFill>
                            <a:srgbClr val="E6EDF3"/>
                          </a:solidFill>
                          <a:latin typeface="Calibri" pitchFamily="34" charset="0"/>
                          <a:ea typeface="Calibri" pitchFamily="34" charset="-122"/>
                          <a:cs typeface="Calibri" pitchFamily="34" charset="-120"/>
                        </a:rPr>
                        <a:t>XGBoost</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0,9829</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0,5162</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300" dirty="0">
                          <a:solidFill>
                            <a:srgbClr val="E6EDF3"/>
                          </a:solidFill>
                          <a:latin typeface="Calibri" pitchFamily="34" charset="0"/>
                          <a:ea typeface="Calibri" pitchFamily="34" charset="-122"/>
                          <a:cs typeface="Calibri" pitchFamily="34" charset="-120"/>
                        </a:rPr>
                        <a:t>0,7862</a:t>
                      </a:r>
                      <a:endParaRPr lang="en-US" sz="13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r>
            </a:tbl>
          </a:graphicData>
        </a:graphic>
      </p:graphicFrame>
      <p:sp>
        <p:nvSpPr>
          <p:cNvPr id="9" name="Text 6"/>
          <p:cNvSpPr txBox="1"/>
          <p:nvPr/>
        </p:nvSpPr>
        <p:spPr>
          <a:xfrm>
            <a:off x="548640" y="3840480"/>
            <a:ext cx="4206240" cy="1828800"/>
          </a:xfrm>
          <a:prstGeom prst="rect">
            <a:avLst/>
          </a:prstGeom>
          <a:noFill/>
          <a:ln/>
        </p:spPr>
        <p:txBody>
          <a:bodyPr wrap="square" lIns="0" tIns="0" rIns="0" bIns="0" rtlCol="0" anchor="t"/>
          <a:lstStyle/>
          <a:p>
            <a:pPr indent="0" marL="0">
              <a:buNone/>
            </a:pPr>
            <a:r>
              <a:rPr lang="en-US" sz="1600" dirty="0">
                <a:solidFill>
                  <a:srgbClr val="A9B4C2"/>
                </a:solidFill>
                <a:latin typeface="Calibri" pitchFamily="34" charset="0"/>
                <a:ea typeface="Calibri" pitchFamily="34" charset="-122"/>
                <a:cs typeface="Calibri" pitchFamily="34" charset="-120"/>
              </a:rPr>
              <a:t>Semua model ±98,3% → akurasi tidak bisa membedakan model. Perbedaan baru terlihat di ROC-AUC &amp; Log Loss.</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HASIL</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Tugas B: akurasi 6 algoritma</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17</a:t>
            </a:r>
            <a:endParaRPr lang="en-US" sz="1000" dirty="0"/>
          </a:p>
        </p:txBody>
      </p:sp>
      <p:graphicFrame>
        <p:nvGraphicFramePr>
          <p:cNvPr id="6" name="Chart 0" descr=""/>
          <p:cNvGraphicFramePr/>
          <p:nvPr/>
        </p:nvGraphicFramePr>
        <p:xfrm>
          <a:off x="548640" y="1554480"/>
          <a:ext cx="11064240" cy="41605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48640" y="5760720"/>
            <a:ext cx="11064240" cy="548640"/>
          </a:xfrm>
          <a:prstGeom prst="rect">
            <a:avLst/>
          </a:prstGeom>
          <a:noFill/>
          <a:ln/>
        </p:spPr>
        <p:txBody>
          <a:bodyPr wrap="square" lIns="0" tIns="0" rIns="0" bIns="0" rtlCol="0" anchor="t"/>
          <a:lstStyle/>
          <a:p>
            <a:pPr indent="0" marL="0">
              <a:buNone/>
            </a:pPr>
            <a:r>
              <a:rPr lang="en-US" sz="1400" dirty="0">
                <a:solidFill>
                  <a:srgbClr val="A9B4C2"/>
                </a:solidFill>
                <a:latin typeface="Calibri" pitchFamily="34" charset="0"/>
                <a:ea typeface="Calibri" pitchFamily="34" charset="-122"/>
                <a:cs typeface="Calibri" pitchFamily="34" charset="-120"/>
              </a:rPr>
              <a:t>Akurasi data asli lebih tinggi karena kelas positifnya lebih sedikit (13,4% vs 16,6%), sehingga baseline ikut naik (86,6% vs 83,4%). Keunggulan di atas baseline sama-sama ±7 poin.</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HASIL</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Tugas B: metrik lengkap (cross-validation)</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18</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3291840"/>
                <a:gridCol w="1554480"/>
                <a:gridCol w="1554480"/>
                <a:gridCol w="1554480"/>
                <a:gridCol w="1554480"/>
                <a:gridCol w="1554480"/>
              </a:tblGrid>
              <a:tr h="475488">
                <a:tc>
                  <a:txBody>
                    <a:bodyPr/>
                    <a:lstStyle/>
                    <a:p>
                      <a:pPr algn="l" indent="0" marL="0">
                        <a:buNone/>
                      </a:pPr>
                      <a:r>
                        <a:rPr lang="en-US" sz="1400" b="1" dirty="0">
                          <a:solidFill>
                            <a:srgbClr val="F5A623"/>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algn="ctr" indent="0" marL="0">
                        <a:buNone/>
                      </a:pPr>
                      <a:r>
                        <a:rPr lang="en-US" sz="1400" b="1" dirty="0">
                          <a:solidFill>
                            <a:srgbClr val="F5A623"/>
                          </a:solidFill>
                          <a:latin typeface="Calibri" pitchFamily="34" charset="0"/>
                          <a:ea typeface="Calibri" pitchFamily="34" charset="-122"/>
                          <a:cs typeface="Calibri" pitchFamily="34" charset="-120"/>
                        </a:rPr>
                        <a:t>Accuracy</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algn="ctr" indent="0" marL="0">
                        <a:buNone/>
                      </a:pPr>
                      <a:r>
                        <a:rPr lang="en-US" sz="1400" b="1" dirty="0">
                          <a:solidFill>
                            <a:srgbClr val="F5A623"/>
                          </a:solidFill>
                          <a:latin typeface="Calibri" pitchFamily="34" charset="0"/>
                          <a:ea typeface="Calibri" pitchFamily="34" charset="-122"/>
                          <a:cs typeface="Calibri" pitchFamily="34" charset="-120"/>
                        </a:rPr>
                        <a:t>Bal. Acc.</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algn="ctr" indent="0" marL="0">
                        <a:buNone/>
                      </a:pPr>
                      <a:r>
                        <a:rPr lang="en-US" sz="1400" b="1" dirty="0">
                          <a:solidFill>
                            <a:srgbClr val="F5A623"/>
                          </a:solidFill>
                          <a:latin typeface="Calibri" pitchFamily="34" charset="0"/>
                          <a:ea typeface="Calibri" pitchFamily="34" charset="-122"/>
                          <a:cs typeface="Calibri" pitchFamily="34" charset="-120"/>
                        </a:rPr>
                        <a:t>F1</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algn="ctr" indent="0" marL="0">
                        <a:buNone/>
                      </a:pPr>
                      <a:r>
                        <a:rPr lang="en-US" sz="1400" b="1" dirty="0">
                          <a:solidFill>
                            <a:srgbClr val="F5A623"/>
                          </a:solidFill>
                          <a:latin typeface="Calibri" pitchFamily="34" charset="0"/>
                          <a:ea typeface="Calibri" pitchFamily="34" charset="-122"/>
                          <a:cs typeface="Calibri" pitchFamily="34" charset="-120"/>
                        </a:rPr>
                        <a:t>ROC-AUC</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c>
                  <a:txBody>
                    <a:bodyPr/>
                    <a:lstStyle/>
                    <a:p>
                      <a:pPr algn="ctr" indent="0" marL="0">
                        <a:buNone/>
                      </a:pPr>
                      <a:r>
                        <a:rPr lang="en-US" sz="1400" b="1" dirty="0">
                          <a:solidFill>
                            <a:srgbClr val="F5A623"/>
                          </a:solidFill>
                          <a:latin typeface="Calibri" pitchFamily="34" charset="0"/>
                          <a:ea typeface="Calibri" pitchFamily="34" charset="-122"/>
                          <a:cs typeface="Calibri" pitchFamily="34" charset="-120"/>
                        </a:rPr>
                        <a:t>Log Loss</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61B22"/>
                    </a:solidFill>
                  </a:tcPr>
                </a:tc>
              </a:tr>
              <a:tr h="475488">
                <a:tc>
                  <a:txBody>
                    <a:bodyPr/>
                    <a:lstStyle/>
                    <a:p>
                      <a:pPr algn="l" indent="0" marL="0">
                        <a:buNone/>
                      </a:pPr>
                      <a:r>
                        <a:rPr lang="en-US" sz="1400" dirty="0">
                          <a:solidFill>
                            <a:srgbClr val="E6EDF3"/>
                          </a:solidFill>
                          <a:latin typeface="Calibri" pitchFamily="34" charset="0"/>
                          <a:ea typeface="Calibri" pitchFamily="34" charset="-122"/>
                          <a:cs typeface="Calibri" pitchFamily="34" charset="-120"/>
                        </a:rPr>
                        <a:t>Baseline</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0,8337</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0,5000</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0,0000</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0,5000</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2,6804</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475488">
                <a:tc>
                  <a:txBody>
                    <a:bodyPr/>
                    <a:lstStyle/>
                    <a:p>
                      <a:pPr algn="l" indent="0" marL="0">
                        <a:buNone/>
                      </a:pPr>
                      <a:r>
                        <a:rPr lang="en-US" sz="1400" dirty="0">
                          <a:solidFill>
                            <a:srgbClr val="E6EDF3"/>
                          </a:solidFill>
                          <a:latin typeface="Calibri" pitchFamily="34" charset="0"/>
                          <a:ea typeface="Calibri" pitchFamily="34" charset="-122"/>
                          <a:cs typeface="Calibri" pitchFamily="34" charset="-120"/>
                        </a:rPr>
                        <a:t>Markov (teori)</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0,9108</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0,7601</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0,6658</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0,8110</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0,2811</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0E1117"/>
                    </a:solidFill>
                  </a:tcPr>
                </a:tc>
              </a:tr>
              <a:tr h="475488">
                <a:tc>
                  <a:txBody>
                    <a:bodyPr/>
                    <a:lstStyle/>
                    <a:p>
                      <a:pPr algn="l" indent="0" marL="0">
                        <a:buNone/>
                      </a:pPr>
                      <a:r>
                        <a:rPr lang="en-US" sz="1400" dirty="0">
                          <a:solidFill>
                            <a:srgbClr val="E6EDF3"/>
                          </a:solidFill>
                          <a:latin typeface="Calibri" pitchFamily="34" charset="0"/>
                          <a:ea typeface="Calibri" pitchFamily="34" charset="-122"/>
                          <a:cs typeface="Calibri" pitchFamily="34" charset="-120"/>
                        </a:rPr>
                        <a:t>Naive Bayes</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0,8572</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0,7569</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0,5855</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0,7810</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0,3844</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475488">
                <a:tc>
                  <a:txBody>
                    <a:bodyPr/>
                    <a:lstStyle/>
                    <a:p>
                      <a:pPr algn="l" indent="0" marL="0">
                        <a:buNone/>
                      </a:pPr>
                      <a:r>
                        <a:rPr lang="en-US" sz="1400" dirty="0">
                          <a:solidFill>
                            <a:srgbClr val="E6EDF3"/>
                          </a:solidFill>
                          <a:latin typeface="Calibri" pitchFamily="34" charset="0"/>
                          <a:ea typeface="Calibri" pitchFamily="34" charset="-122"/>
                          <a:cs typeface="Calibri" pitchFamily="34" charset="-120"/>
                        </a:rPr>
                        <a:t>KNN</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A2414"/>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0,9107</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A2414"/>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0,7598</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A2414"/>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0,6654</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A2414"/>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0,8072</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A2414"/>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0,2866</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A2414"/>
                    </a:solidFill>
                  </a:tcPr>
                </a:tc>
              </a:tr>
              <a:tr h="475488">
                <a:tc>
                  <a:txBody>
                    <a:bodyPr/>
                    <a:lstStyle/>
                    <a:p>
                      <a:pPr algn="l" indent="0" marL="0">
                        <a:buNone/>
                      </a:pPr>
                      <a:r>
                        <a:rPr lang="en-US" sz="1400" dirty="0">
                          <a:solidFill>
                            <a:srgbClr val="E6EDF3"/>
                          </a:solidFill>
                          <a:latin typeface="Calibri" pitchFamily="34" charset="0"/>
                          <a:ea typeface="Calibri" pitchFamily="34" charset="-122"/>
                          <a:cs typeface="Calibri" pitchFamily="34" charset="-120"/>
                        </a:rPr>
                        <a:t>Logistic Regression</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0,8888</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0,6675</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0,5010</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0,7895</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0,3625</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1C2230"/>
                    </a:solidFill>
                  </a:tcPr>
                </a:tc>
              </a:tr>
              <a:tr h="475488">
                <a:tc>
                  <a:txBody>
                    <a:bodyPr/>
                    <a:lstStyle/>
                    <a:p>
                      <a:pPr algn="l" indent="0" marL="0">
                        <a:buNone/>
                      </a:pPr>
                      <a:r>
                        <a:rPr lang="en-US" sz="1400" dirty="0">
                          <a:solidFill>
                            <a:srgbClr val="E6EDF3"/>
                          </a:solidFill>
                          <a:latin typeface="Calibri" pitchFamily="34" charset="0"/>
                          <a:ea typeface="Calibri" pitchFamily="34" charset="-122"/>
                          <a:cs typeface="Calibri" pitchFamily="34" charset="-120"/>
                        </a:rPr>
                        <a:t>Decision Tree</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A2414"/>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0,9108</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A2414"/>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0,7614</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A2414"/>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0,6671</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A2414"/>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0,8117</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A2414"/>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0,2814</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A2414"/>
                    </a:solidFill>
                  </a:tcPr>
                </a:tc>
              </a:tr>
              <a:tr h="475488">
                <a:tc>
                  <a:txBody>
                    <a:bodyPr/>
                    <a:lstStyle/>
                    <a:p>
                      <a:pPr algn="l" indent="0" marL="0">
                        <a:buNone/>
                      </a:pPr>
                      <a:r>
                        <a:rPr lang="en-US" sz="1400" dirty="0">
                          <a:solidFill>
                            <a:srgbClr val="E6EDF3"/>
                          </a:solidFill>
                          <a:latin typeface="Calibri" pitchFamily="34" charset="0"/>
                          <a:ea typeface="Calibri" pitchFamily="34" charset="-122"/>
                          <a:cs typeface="Calibri" pitchFamily="34" charset="-120"/>
                        </a:rPr>
                        <a:t>Random Forest</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A2414"/>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0,9108</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A2414"/>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0,7612</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A2414"/>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0,6669</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A2414"/>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0,8102</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A2414"/>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0,2816</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A2414"/>
                    </a:solidFill>
                  </a:tcPr>
                </a:tc>
              </a:tr>
              <a:tr h="475488">
                <a:tc>
                  <a:txBody>
                    <a:bodyPr/>
                    <a:lstStyle/>
                    <a:p>
                      <a:pPr algn="l" indent="0" marL="0">
                        <a:buNone/>
                      </a:pPr>
                      <a:r>
                        <a:rPr lang="en-US" sz="1400" dirty="0">
                          <a:solidFill>
                            <a:srgbClr val="E6EDF3"/>
                          </a:solidFill>
                          <a:latin typeface="Calibri" pitchFamily="34" charset="0"/>
                          <a:ea typeface="Calibri" pitchFamily="34" charset="-122"/>
                          <a:cs typeface="Calibri" pitchFamily="34" charset="-120"/>
                        </a:rPr>
                        <a:t>XGBoost</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A2414"/>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0,9108</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A2414"/>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0,7604</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A2414"/>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0,6661</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A2414"/>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0,8098</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A2414"/>
                    </a:solidFill>
                  </a:tcPr>
                </a:tc>
                <a:tc>
                  <a:txBody>
                    <a:bodyPr/>
                    <a:lstStyle/>
                    <a:p>
                      <a:pPr algn="ctr" indent="0" marL="0">
                        <a:buNone/>
                      </a:pPr>
                      <a:r>
                        <a:rPr lang="en-US" sz="1400" dirty="0">
                          <a:solidFill>
                            <a:srgbClr val="E6EDF3"/>
                          </a:solidFill>
                          <a:latin typeface="Calibri" pitchFamily="34" charset="0"/>
                          <a:ea typeface="Calibri" pitchFamily="34" charset="-122"/>
                          <a:cs typeface="Calibri" pitchFamily="34" charset="-120"/>
                        </a:rPr>
                        <a:t>0,2816</a:t>
                      </a:r>
                      <a:endParaRPr lang="en-US" sz="1400" dirty="0">
                        <a:latin typeface="Calibri" charset="0"/>
                        <a:ea typeface="Calibri" charset="0"/>
                        <a:cs typeface="Calibri" charset="0"/>
                      </a:endParaRPr>
                    </a:p>
                  </a:txBody>
                  <a:tcPr marL="76200" marR="76200" marT="38100" marB="38100" anchor="ctr">
                    <a:lnL w="6350" cap="flat" cmpd="sng" algn="ctr">
                      <a:solidFill>
                        <a:srgbClr val="30363D"/>
                      </a:solidFill>
                      <a:prstDash val="solid"/>
                      <a:round/>
                      <a:headEnd type="none" w="med" len="med"/>
                      <a:tailEnd type="none" w="med" len="med"/>
                    </a:lnL>
                    <a:lnR w="6350" cap="flat" cmpd="sng" algn="ctr">
                      <a:solidFill>
                        <a:srgbClr val="30363D"/>
                      </a:solidFill>
                      <a:prstDash val="solid"/>
                      <a:round/>
                      <a:headEnd type="none" w="med" len="med"/>
                      <a:tailEnd type="none" w="med" len="med"/>
                    </a:lnR>
                    <a:lnT w="6350" cap="flat" cmpd="sng" algn="ctr">
                      <a:solidFill>
                        <a:srgbClr val="30363D"/>
                      </a:solidFill>
                      <a:prstDash val="solid"/>
                      <a:round/>
                      <a:headEnd type="none" w="med" len="med"/>
                      <a:tailEnd type="none" w="med" len="med"/>
                    </a:lnT>
                    <a:lnB w="6350" cap="flat" cmpd="sng" algn="ctr">
                      <a:solidFill>
                        <a:srgbClr val="30363D"/>
                      </a:solidFill>
                      <a:prstDash val="solid"/>
                      <a:round/>
                      <a:headEnd type="none" w="med" len="med"/>
                      <a:tailEnd type="none" w="med" len="med"/>
                    </a:lnB>
                    <a:solidFill>
                      <a:srgbClr val="2A2414"/>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HASIL · EKSPERIMEN KEDUA</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Latih &amp; uji hanya dengan data asli</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19</a:t>
            </a:r>
            <a:endParaRPr lang="en-US" sz="1000" dirty="0"/>
          </a:p>
        </p:txBody>
      </p:sp>
      <p:graphicFrame>
        <p:nvGraphicFramePr>
          <p:cNvPr id="6" name="Chart 0" descr=""/>
          <p:cNvGraphicFramePr/>
          <p:nvPr/>
        </p:nvGraphicFramePr>
        <p:xfrm>
          <a:off x="548640" y="1554480"/>
          <a:ext cx="7680960" cy="46634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8503920" y="1645920"/>
            <a:ext cx="3108960" cy="2286000"/>
          </a:xfrm>
          <a:prstGeom prst="roundRect">
            <a:avLst>
              <a:gd name="adj" fmla="val 3200"/>
            </a:avLst>
          </a:prstGeom>
          <a:solidFill>
            <a:srgbClr val="1C2230"/>
          </a:solidFill>
          <a:ln w="9525">
            <a:solidFill>
              <a:srgbClr val="30363D"/>
            </a:solidFill>
            <a:prstDash val="solid"/>
          </a:ln>
        </p:spPr>
      </p:sp>
      <p:sp>
        <p:nvSpPr>
          <p:cNvPr id="8" name="Text 5"/>
          <p:cNvSpPr txBox="1"/>
          <p:nvPr/>
        </p:nvSpPr>
        <p:spPr>
          <a:xfrm>
            <a:off x="8732520" y="1874520"/>
            <a:ext cx="2651760" cy="411480"/>
          </a:xfrm>
          <a:prstGeom prst="rect">
            <a:avLst/>
          </a:prstGeom>
          <a:noFill/>
          <a:ln/>
        </p:spPr>
        <p:txBody>
          <a:bodyPr wrap="square" lIns="0" tIns="0" rIns="0" bIns="0" rtlCol="0" anchor="t"/>
          <a:lstStyle/>
          <a:p>
            <a:pPr indent="0" marL="0">
              <a:buNone/>
            </a:pPr>
            <a:r>
              <a:rPr lang="en-US" sz="1800" b="1" dirty="0">
                <a:solidFill>
                  <a:srgbClr val="F5A623"/>
                </a:solidFill>
                <a:latin typeface="Cambria" pitchFamily="34" charset="0"/>
                <a:ea typeface="Cambria" pitchFamily="34" charset="-122"/>
                <a:cs typeface="Cambria" pitchFamily="34" charset="-120"/>
              </a:rPr>
              <a:t>Tetap teratas</a:t>
            </a:r>
            <a:endParaRPr lang="en-US" sz="1800" dirty="0"/>
          </a:p>
        </p:txBody>
      </p:sp>
      <p:sp>
        <p:nvSpPr>
          <p:cNvPr id="9" name="Text 6"/>
          <p:cNvSpPr txBox="1"/>
          <p:nvPr/>
        </p:nvSpPr>
        <p:spPr>
          <a:xfrm>
            <a:off x="8732520" y="2331720"/>
            <a:ext cx="2651760" cy="1417320"/>
          </a:xfrm>
          <a:prstGeom prst="rect">
            <a:avLst/>
          </a:prstGeom>
          <a:noFill/>
          <a:ln/>
        </p:spPr>
        <p:txBody>
          <a:bodyPr wrap="square" lIns="0" tIns="0" rIns="0" bIns="0" rtlCol="0" anchor="t"/>
          <a:lstStyle/>
          <a:p>
            <a:pPr indent="0" marL="0">
              <a:spcAft>
                <a:spcPts val="400"/>
              </a:spcAft>
              <a:buNone/>
            </a:pPr>
            <a:r>
              <a:rPr lang="en-US" sz="1400" dirty="0">
                <a:solidFill>
                  <a:srgbClr val="A9B4C2"/>
                </a:solidFill>
                <a:latin typeface="Calibri" pitchFamily="34" charset="0"/>
                <a:ea typeface="Calibri" pitchFamily="34" charset="-122"/>
                <a:cs typeface="Calibri" pitchFamily="34" charset="-120"/>
              </a:rPr>
              <a:t>Decision Tree 93,1%, Random Forest 93,0%, XGBoost 92,2%. Selisihnya lebih kecil dari simpangan baku (±3%) → setara.</a:t>
            </a:r>
            <a:endParaRPr lang="en-US" sz="1400" dirty="0"/>
          </a:p>
        </p:txBody>
      </p:sp>
      <p:sp>
        <p:nvSpPr>
          <p:cNvPr id="10" name="Shape 7"/>
          <p:cNvSpPr/>
          <p:nvPr/>
        </p:nvSpPr>
        <p:spPr>
          <a:xfrm>
            <a:off x="8503920" y="4114800"/>
            <a:ext cx="3108960" cy="2011680"/>
          </a:xfrm>
          <a:prstGeom prst="roundRect">
            <a:avLst>
              <a:gd name="adj" fmla="val 3636"/>
            </a:avLst>
          </a:prstGeom>
          <a:solidFill>
            <a:srgbClr val="1C2230"/>
          </a:solidFill>
          <a:ln w="9525">
            <a:solidFill>
              <a:srgbClr val="30363D"/>
            </a:solidFill>
            <a:prstDash val="solid"/>
          </a:ln>
        </p:spPr>
      </p:sp>
      <p:sp>
        <p:nvSpPr>
          <p:cNvPr id="11" name="Text 8"/>
          <p:cNvSpPr txBox="1"/>
          <p:nvPr/>
        </p:nvSpPr>
        <p:spPr>
          <a:xfrm>
            <a:off x="8732520" y="4343400"/>
            <a:ext cx="2651760" cy="411480"/>
          </a:xfrm>
          <a:prstGeom prst="rect">
            <a:avLst/>
          </a:prstGeom>
          <a:noFill/>
          <a:ln/>
        </p:spPr>
        <p:txBody>
          <a:bodyPr wrap="square" lIns="0" tIns="0" rIns="0" bIns="0" rtlCol="0" anchor="t"/>
          <a:lstStyle/>
          <a:p>
            <a:pPr indent="0" marL="0">
              <a:buNone/>
            </a:pPr>
            <a:r>
              <a:rPr lang="en-US" sz="1800" b="1" dirty="0">
                <a:solidFill>
                  <a:srgbClr val="FF7EB6"/>
                </a:solidFill>
                <a:latin typeface="Cambria" pitchFamily="34" charset="0"/>
                <a:ea typeface="Cambria" pitchFamily="34" charset="-122"/>
                <a:cs typeface="Cambria" pitchFamily="34" charset="-120"/>
              </a:rPr>
              <a:t>KNN turun</a:t>
            </a:r>
            <a:endParaRPr lang="en-US" sz="1800" dirty="0"/>
          </a:p>
        </p:txBody>
      </p:sp>
      <p:sp>
        <p:nvSpPr>
          <p:cNvPr id="12" name="Text 9"/>
          <p:cNvSpPr txBox="1"/>
          <p:nvPr/>
        </p:nvSpPr>
        <p:spPr>
          <a:xfrm>
            <a:off x="8732520" y="4800600"/>
            <a:ext cx="2651760" cy="1143000"/>
          </a:xfrm>
          <a:prstGeom prst="rect">
            <a:avLst/>
          </a:prstGeom>
          <a:noFill/>
          <a:ln/>
        </p:spPr>
        <p:txBody>
          <a:bodyPr wrap="square" lIns="0" tIns="0" rIns="0" bIns="0" rtlCol="0" anchor="t"/>
          <a:lstStyle/>
          <a:p>
            <a:pPr indent="0" marL="0">
              <a:spcAft>
                <a:spcPts val="400"/>
              </a:spcAft>
              <a:buNone/>
            </a:pPr>
            <a:r>
              <a:rPr lang="en-US" sz="1400" dirty="0">
                <a:solidFill>
                  <a:srgbClr val="A9B4C2"/>
                </a:solidFill>
                <a:latin typeface="Calibri" pitchFamily="34" charset="0"/>
                <a:ea typeface="Calibri" pitchFamily="34" charset="-122"/>
                <a:cs typeface="Calibri" pitchFamily="34" charset="-120"/>
              </a:rPr>
              <a:t>k = 101 terlalu besar untuk ±970 baris latih → hampir selalu menebak mayoritas.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HASIL · POLA SOFT PITY</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Soft pity terlihat di data asli</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20</a:t>
            </a:r>
            <a:endParaRPr lang="en-US" sz="1000" dirty="0"/>
          </a:p>
        </p:txBody>
      </p:sp>
      <p:sp>
        <p:nvSpPr>
          <p:cNvPr id="6" name="Shape 4"/>
          <p:cNvSpPr/>
          <p:nvPr/>
        </p:nvSpPr>
        <p:spPr>
          <a:xfrm>
            <a:off x="438912" y="1612392"/>
            <a:ext cx="7900416" cy="3633216"/>
          </a:xfrm>
          <a:prstGeom prst="roundRect">
            <a:avLst>
              <a:gd name="adj" fmla="val 1510"/>
            </a:avLst>
          </a:prstGeom>
          <a:solidFill>
            <a:srgbClr val="FFFFFF"/>
          </a:solidFill>
          <a:ln w="12700">
            <a:solidFill>
              <a:srgbClr val="30363D"/>
            </a:solidFill>
            <a:prstDash val="solid"/>
          </a:ln>
        </p:spPr>
      </p:sp>
      <p:pic>
        <p:nvPicPr>
          <p:cNvPr id="7" name="Image 0" descr="fig_softpity.png">    </p:cNvPr>
          <p:cNvPicPr>
            <a:picLocks noChangeAspect="1"/>
          </p:cNvPicPr>
          <p:nvPr/>
        </p:nvPicPr>
        <p:blipFill>
          <a:blip r:embed="rId1"/>
          <a:stretch>
            <a:fillRect/>
          </a:stretch>
        </p:blipFill>
        <p:spPr>
          <a:xfrm>
            <a:off x="548640" y="1722120"/>
            <a:ext cx="7680960" cy="3413760"/>
          </a:xfrm>
          <a:prstGeom prst="rect">
            <a:avLst/>
          </a:prstGeom>
        </p:spPr>
      </p:pic>
      <p:sp>
        <p:nvSpPr>
          <p:cNvPr id="8" name="Shape 5"/>
          <p:cNvSpPr/>
          <p:nvPr/>
        </p:nvSpPr>
        <p:spPr>
          <a:xfrm>
            <a:off x="8503920" y="1645920"/>
            <a:ext cx="3108960" cy="2194560"/>
          </a:xfrm>
          <a:prstGeom prst="roundRect">
            <a:avLst>
              <a:gd name="adj" fmla="val 3333"/>
            </a:avLst>
          </a:prstGeom>
          <a:solidFill>
            <a:srgbClr val="1C2230"/>
          </a:solidFill>
          <a:ln w="9525">
            <a:solidFill>
              <a:srgbClr val="30363D"/>
            </a:solidFill>
            <a:prstDash val="solid"/>
          </a:ln>
        </p:spPr>
      </p:sp>
      <p:sp>
        <p:nvSpPr>
          <p:cNvPr id="9" name="Text 6"/>
          <p:cNvSpPr txBox="1"/>
          <p:nvPr/>
        </p:nvSpPr>
        <p:spPr>
          <a:xfrm>
            <a:off x="8732520" y="1874520"/>
            <a:ext cx="2651760" cy="411480"/>
          </a:xfrm>
          <a:prstGeom prst="rect">
            <a:avLst/>
          </a:prstGeom>
          <a:noFill/>
          <a:ln/>
        </p:spPr>
        <p:txBody>
          <a:bodyPr wrap="square" lIns="0" tIns="0" rIns="0" bIns="0" rtlCol="0" anchor="t"/>
          <a:lstStyle/>
          <a:p>
            <a:pPr indent="0" marL="0">
              <a:buNone/>
            </a:pPr>
            <a:r>
              <a:rPr lang="en-US" sz="1800" b="1" dirty="0">
                <a:solidFill>
                  <a:srgbClr val="F5A623"/>
                </a:solidFill>
                <a:latin typeface="Cambria" pitchFamily="34" charset="0"/>
                <a:ea typeface="Cambria" pitchFamily="34" charset="-122"/>
                <a:cs typeface="Cambria" pitchFamily="34" charset="-120"/>
              </a:rPr>
              <a:t>Agent</a:t>
            </a:r>
            <a:endParaRPr lang="en-US" sz="1800" dirty="0"/>
          </a:p>
        </p:txBody>
      </p:sp>
      <p:sp>
        <p:nvSpPr>
          <p:cNvPr id="10" name="Text 7"/>
          <p:cNvSpPr txBox="1"/>
          <p:nvPr/>
        </p:nvSpPr>
        <p:spPr>
          <a:xfrm>
            <a:off x="8732520" y="2331720"/>
            <a:ext cx="2651760" cy="1325880"/>
          </a:xfrm>
          <a:prstGeom prst="rect">
            <a:avLst/>
          </a:prstGeom>
          <a:noFill/>
          <a:ln/>
        </p:spPr>
        <p:txBody>
          <a:bodyPr wrap="square" lIns="0" tIns="0" rIns="0" bIns="0" rtlCol="0" anchor="t"/>
          <a:lstStyle/>
          <a:p>
            <a:pPr indent="0" marL="0">
              <a:spcAft>
                <a:spcPts val="400"/>
              </a:spcAft>
              <a:buNone/>
            </a:pPr>
            <a:r>
              <a:rPr lang="en-US" sz="1400" dirty="0">
                <a:solidFill>
                  <a:srgbClr val="A9B4C2"/>
                </a:solidFill>
                <a:latin typeface="Calibri" pitchFamily="34" charset="0"/>
                <a:ea typeface="Calibri" pitchFamily="34" charset="-122"/>
                <a:cs typeface="Calibri" pitchFamily="34" charset="-120"/>
              </a:rPr>
              <a:t>Hampir 0% sampai pull ke-73, lalu 14% (pull 74–78) dan 38% (79–90). Hampir sama dengan model.</a:t>
            </a:r>
            <a:endParaRPr lang="en-US" sz="1400" dirty="0"/>
          </a:p>
        </p:txBody>
      </p:sp>
      <p:sp>
        <p:nvSpPr>
          <p:cNvPr id="11" name="Shape 8"/>
          <p:cNvSpPr/>
          <p:nvPr/>
        </p:nvSpPr>
        <p:spPr>
          <a:xfrm>
            <a:off x="8503920" y="4023360"/>
            <a:ext cx="3108960" cy="2103120"/>
          </a:xfrm>
          <a:prstGeom prst="roundRect">
            <a:avLst>
              <a:gd name="adj" fmla="val 3478"/>
            </a:avLst>
          </a:prstGeom>
          <a:solidFill>
            <a:srgbClr val="1C2230"/>
          </a:solidFill>
          <a:ln w="9525">
            <a:solidFill>
              <a:srgbClr val="30363D"/>
            </a:solidFill>
            <a:prstDash val="solid"/>
          </a:ln>
        </p:spPr>
      </p:sp>
      <p:sp>
        <p:nvSpPr>
          <p:cNvPr id="12" name="Text 9"/>
          <p:cNvSpPr txBox="1"/>
          <p:nvPr/>
        </p:nvSpPr>
        <p:spPr>
          <a:xfrm>
            <a:off x="8732520" y="4251960"/>
            <a:ext cx="2651760" cy="411480"/>
          </a:xfrm>
          <a:prstGeom prst="rect">
            <a:avLst/>
          </a:prstGeom>
          <a:noFill/>
          <a:ln/>
        </p:spPr>
        <p:txBody>
          <a:bodyPr wrap="square" lIns="0" tIns="0" rIns="0" bIns="0" rtlCol="0" anchor="t"/>
          <a:lstStyle/>
          <a:p>
            <a:pPr indent="0" marL="0">
              <a:buNone/>
            </a:pPr>
            <a:r>
              <a:rPr lang="en-US" sz="1800" b="1" dirty="0">
                <a:solidFill>
                  <a:srgbClr val="3FB950"/>
                </a:solidFill>
                <a:latin typeface="Cambria" pitchFamily="34" charset="0"/>
                <a:ea typeface="Cambria" pitchFamily="34" charset="-122"/>
                <a:cs typeface="Cambria" pitchFamily="34" charset="-120"/>
              </a:rPr>
              <a:t>Tanpa diberi tahu</a:t>
            </a:r>
            <a:endParaRPr lang="en-US" sz="1800" dirty="0"/>
          </a:p>
        </p:txBody>
      </p:sp>
      <p:sp>
        <p:nvSpPr>
          <p:cNvPr id="13" name="Text 10"/>
          <p:cNvSpPr txBox="1"/>
          <p:nvPr/>
        </p:nvSpPr>
        <p:spPr>
          <a:xfrm>
            <a:off x="8732520" y="4709160"/>
            <a:ext cx="2651760" cy="1234440"/>
          </a:xfrm>
          <a:prstGeom prst="rect">
            <a:avLst/>
          </a:prstGeom>
          <a:noFill/>
          <a:ln/>
        </p:spPr>
        <p:txBody>
          <a:bodyPr wrap="square" lIns="0" tIns="0" rIns="0" bIns="0" rtlCol="0" anchor="t"/>
          <a:lstStyle/>
          <a:p>
            <a:pPr indent="0" marL="0">
              <a:spcAft>
                <a:spcPts val="400"/>
              </a:spcAft>
              <a:buNone/>
            </a:pPr>
            <a:r>
              <a:rPr lang="en-US" sz="1400" dirty="0">
                <a:solidFill>
                  <a:srgbClr val="A9B4C2"/>
                </a:solidFill>
                <a:latin typeface="Calibri" pitchFamily="34" charset="0"/>
                <a:ea typeface="Calibri" pitchFamily="34" charset="-122"/>
                <a:cs typeface="Calibri" pitchFamily="34" charset="-120"/>
              </a:rPr>
              <a:t>Decision Tree dari data asli saja memisah di pity ±66 (Agent) / ±59 (W-Engine), ±10 pull sebelum soft pity.</a:t>
            </a:r>
            <a:endParaRPr lang="en-US" sz="1400" dirty="0"/>
          </a:p>
        </p:txBody>
      </p:sp>
      <p:sp>
        <p:nvSpPr>
          <p:cNvPr id="14" name="Text 11"/>
          <p:cNvSpPr txBox="1"/>
          <p:nvPr/>
        </p:nvSpPr>
        <p:spPr>
          <a:xfrm>
            <a:off x="548640" y="5577840"/>
            <a:ext cx="7680960" cy="640080"/>
          </a:xfrm>
          <a:prstGeom prst="rect">
            <a:avLst/>
          </a:prstGeom>
          <a:noFill/>
          <a:ln/>
        </p:spPr>
        <p:txBody>
          <a:bodyPr wrap="square" lIns="0" tIns="0" rIns="0" bIns="0" rtlCol="0" anchor="t"/>
          <a:lstStyle/>
          <a:p>
            <a:pPr indent="0" marL="0">
              <a:buNone/>
            </a:pPr>
            <a:r>
              <a:rPr lang="en-US" sz="1400" dirty="0">
                <a:solidFill>
                  <a:srgbClr val="A9B4C2"/>
                </a:solidFill>
                <a:latin typeface="Calibri" pitchFamily="34" charset="0"/>
                <a:ea typeface="Calibri" pitchFamily="34" charset="-122"/>
                <a:cs typeface="Calibri" pitchFamily="34" charset="-120"/>
              </a:rPr>
              <a:t>W-Engine: 4 dari 11 pull mulai pull ke-65 menghasilkan S (36%), lebih tinggi dari model, tetapi datanya masih sedikit.</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PEMBAHASAN</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Model pohon menemukan soft pity sendiri</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21</a:t>
            </a:r>
            <a:endParaRPr lang="en-US" sz="1000" dirty="0"/>
          </a:p>
        </p:txBody>
      </p:sp>
      <p:sp>
        <p:nvSpPr>
          <p:cNvPr id="6" name="Shape 4"/>
          <p:cNvSpPr/>
          <p:nvPr/>
        </p:nvSpPr>
        <p:spPr>
          <a:xfrm>
            <a:off x="438912" y="1591056"/>
            <a:ext cx="7717536" cy="3218688"/>
          </a:xfrm>
          <a:prstGeom prst="roundRect">
            <a:avLst>
              <a:gd name="adj" fmla="val 1705"/>
            </a:avLst>
          </a:prstGeom>
          <a:solidFill>
            <a:srgbClr val="FFFFFF"/>
          </a:solidFill>
          <a:ln w="12700">
            <a:solidFill>
              <a:srgbClr val="30363D"/>
            </a:solidFill>
            <a:prstDash val="solid"/>
          </a:ln>
        </p:spPr>
      </p:sp>
      <p:pic>
        <p:nvPicPr>
          <p:cNvPr id="7" name="Image 0" descr="fig_kurva.png">    </p:cNvPr>
          <p:cNvPicPr>
            <a:picLocks noChangeAspect="1"/>
          </p:cNvPicPr>
          <p:nvPr/>
        </p:nvPicPr>
        <p:blipFill>
          <a:blip r:embed="rId1"/>
          <a:stretch>
            <a:fillRect/>
          </a:stretch>
        </p:blipFill>
        <p:spPr>
          <a:xfrm>
            <a:off x="548640" y="1700784"/>
            <a:ext cx="7498080" cy="2999232"/>
          </a:xfrm>
          <a:prstGeom prst="rect">
            <a:avLst/>
          </a:prstGeom>
        </p:spPr>
      </p:pic>
      <p:sp>
        <p:nvSpPr>
          <p:cNvPr id="8" name="Text 5"/>
          <p:cNvSpPr txBox="1"/>
          <p:nvPr/>
        </p:nvSpPr>
        <p:spPr>
          <a:xfrm>
            <a:off x="548640" y="5029200"/>
            <a:ext cx="10972800" cy="128016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E6EDF3"/>
                </a:solidFill>
                <a:latin typeface="Calibri" pitchFamily="34" charset="0"/>
                <a:ea typeface="Calibri" pitchFamily="34" charset="-122"/>
                <a:cs typeface="Calibri" pitchFamily="34" charset="-120"/>
              </a:rPr>
              <a:t>Garis putus-putus = peluang teori (Markov)</a:t>
            </a:r>
            <a:endParaRPr lang="en-US" sz="1500" dirty="0"/>
          </a:p>
          <a:p>
            <a:pPr marL="228600" indent="-228600">
              <a:spcAft>
                <a:spcPts val="1000"/>
              </a:spcAft>
              <a:buSzPct val="100000"/>
              <a:buChar char="•"/>
            </a:pPr>
            <a:r>
              <a:rPr lang="en-US" sz="1500" dirty="0">
                <a:solidFill>
                  <a:srgbClr val="E6EDF3"/>
                </a:solidFill>
                <a:latin typeface="Calibri" pitchFamily="34" charset="0"/>
                <a:ea typeface="Calibri" pitchFamily="34" charset="-122"/>
                <a:cs typeface="Calibri" pitchFamily="34" charset="-120"/>
              </a:rPr>
              <a:t>Pohon &amp; KNN menempel ke teori, termasuk lonjakan soft pity</a:t>
            </a:r>
            <a:endParaRPr lang="en-US" sz="1500" dirty="0"/>
          </a:p>
          <a:p>
            <a:pPr marL="228600" indent="-228600">
              <a:spcAft>
                <a:spcPts val="1000"/>
              </a:spcAft>
              <a:buSzPct val="100000"/>
              <a:buChar char="•"/>
            </a:pPr>
            <a:r>
              <a:rPr lang="en-US" sz="1500" dirty="0">
                <a:solidFill>
                  <a:srgbClr val="E6EDF3"/>
                </a:solidFill>
                <a:latin typeface="Calibri" pitchFamily="34" charset="0"/>
                <a:ea typeface="Calibri" pitchFamily="34" charset="-122"/>
                <a:cs typeface="Calibri" pitchFamily="34" charset="-120"/>
              </a:rPr>
              <a:t>Logistic Regression &amp; Naive Bayes hanya kurva halus → meleset</a:t>
            </a:r>
            <a:endParaRPr lang="en-US" sz="1500" dirty="0"/>
          </a:p>
        </p:txBody>
      </p:sp>
      <p:sp>
        <p:nvSpPr>
          <p:cNvPr id="9" name="Shape 6"/>
          <p:cNvSpPr/>
          <p:nvPr/>
        </p:nvSpPr>
        <p:spPr>
          <a:xfrm>
            <a:off x="8412480" y="1554480"/>
            <a:ext cx="3200400" cy="3291840"/>
          </a:xfrm>
          <a:prstGeom prst="roundRect">
            <a:avLst>
              <a:gd name="adj" fmla="val 2286"/>
            </a:avLst>
          </a:prstGeom>
          <a:solidFill>
            <a:srgbClr val="1C2230"/>
          </a:solidFill>
          <a:ln w="9525">
            <a:solidFill>
              <a:srgbClr val="30363D"/>
            </a:solidFill>
            <a:prstDash val="solid"/>
          </a:ln>
        </p:spPr>
      </p:sp>
      <p:sp>
        <p:nvSpPr>
          <p:cNvPr id="10" name="Text 7"/>
          <p:cNvSpPr txBox="1"/>
          <p:nvPr/>
        </p:nvSpPr>
        <p:spPr>
          <a:xfrm>
            <a:off x="8641080" y="1783080"/>
            <a:ext cx="2743200" cy="411480"/>
          </a:xfrm>
          <a:prstGeom prst="rect">
            <a:avLst/>
          </a:prstGeom>
          <a:noFill/>
          <a:ln/>
        </p:spPr>
        <p:txBody>
          <a:bodyPr wrap="square" lIns="0" tIns="0" rIns="0" bIns="0" rtlCol="0" anchor="t"/>
          <a:lstStyle/>
          <a:p>
            <a:pPr indent="0" marL="0">
              <a:buNone/>
            </a:pPr>
            <a:r>
              <a:rPr lang="en-US" sz="1800" b="1" dirty="0">
                <a:solidFill>
                  <a:srgbClr val="F5A623"/>
                </a:solidFill>
                <a:latin typeface="Cambria" pitchFamily="34" charset="0"/>
                <a:ea typeface="Cambria" pitchFamily="34" charset="-122"/>
                <a:cs typeface="Cambria" pitchFamily="34" charset="-120"/>
              </a:rPr>
              <a:t>Tanpa diberi tahu</a:t>
            </a:r>
            <a:endParaRPr lang="en-US" sz="1800" dirty="0"/>
          </a:p>
        </p:txBody>
      </p:sp>
      <p:sp>
        <p:nvSpPr>
          <p:cNvPr id="11" name="Text 8"/>
          <p:cNvSpPr txBox="1"/>
          <p:nvPr/>
        </p:nvSpPr>
        <p:spPr>
          <a:xfrm>
            <a:off x="8641080" y="2240280"/>
            <a:ext cx="2743200" cy="2423160"/>
          </a:xfrm>
          <a:prstGeom prst="rect">
            <a:avLst/>
          </a:prstGeom>
          <a:noFill/>
          <a:ln/>
        </p:spPr>
        <p:txBody>
          <a:bodyPr wrap="square" lIns="0" tIns="0" rIns="0" bIns="0" rtlCol="0" anchor="t"/>
          <a:lstStyle/>
          <a:p>
            <a:pPr indent="0" marL="0">
              <a:spcAft>
                <a:spcPts val="400"/>
              </a:spcAft>
              <a:buNone/>
            </a:pPr>
            <a:r>
              <a:rPr lang="en-US" sz="1500" dirty="0">
                <a:solidFill>
                  <a:srgbClr val="A9B4C2"/>
                </a:solidFill>
                <a:latin typeface="Calibri" pitchFamily="34" charset="0"/>
                <a:ea typeface="Calibri" pitchFamily="34" charset="-122"/>
                <a:cs typeface="Calibri" pitchFamily="34" charset="-120"/>
              </a:rPr>
              <a:t>Di data simulasi, Decision Tree memisahkan data di pity_ratio ±0,72, sekitar 10 pull sebelum soft pity.</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PEMBAHASAN</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Confusion matrix &amp; feature importance</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22</a:t>
            </a:r>
            <a:endParaRPr lang="en-US" sz="1000" dirty="0"/>
          </a:p>
        </p:txBody>
      </p:sp>
      <p:sp>
        <p:nvSpPr>
          <p:cNvPr id="6" name="Shape 4"/>
          <p:cNvSpPr/>
          <p:nvPr/>
        </p:nvSpPr>
        <p:spPr>
          <a:xfrm>
            <a:off x="438912" y="1602694"/>
            <a:ext cx="6986016" cy="2372452"/>
          </a:xfrm>
          <a:prstGeom prst="roundRect">
            <a:avLst>
              <a:gd name="adj" fmla="val 2313"/>
            </a:avLst>
          </a:prstGeom>
          <a:solidFill>
            <a:srgbClr val="FFFFFF"/>
          </a:solidFill>
          <a:ln w="12700">
            <a:solidFill>
              <a:srgbClr val="30363D"/>
            </a:solidFill>
            <a:prstDash val="solid"/>
          </a:ln>
        </p:spPr>
      </p:sp>
      <p:pic>
        <p:nvPicPr>
          <p:cNvPr id="7" name="Image 0" descr="fig_cm.png">    </p:cNvPr>
          <p:cNvPicPr>
            <a:picLocks noChangeAspect="1"/>
          </p:cNvPicPr>
          <p:nvPr/>
        </p:nvPicPr>
        <p:blipFill>
          <a:blip r:embed="rId1"/>
          <a:stretch>
            <a:fillRect/>
          </a:stretch>
        </p:blipFill>
        <p:spPr>
          <a:xfrm>
            <a:off x="548640" y="1712422"/>
            <a:ext cx="6766560" cy="2152996"/>
          </a:xfrm>
          <a:prstGeom prst="rect">
            <a:avLst/>
          </a:prstGeom>
        </p:spPr>
      </p:pic>
      <p:sp>
        <p:nvSpPr>
          <p:cNvPr id="8" name="Shape 5"/>
          <p:cNvSpPr/>
          <p:nvPr/>
        </p:nvSpPr>
        <p:spPr>
          <a:xfrm>
            <a:off x="7479792" y="1824228"/>
            <a:ext cx="4242816" cy="1929384"/>
          </a:xfrm>
          <a:prstGeom prst="roundRect">
            <a:avLst>
              <a:gd name="adj" fmla="val 2844"/>
            </a:avLst>
          </a:prstGeom>
          <a:solidFill>
            <a:srgbClr val="FFFFFF"/>
          </a:solidFill>
          <a:ln w="12700">
            <a:solidFill>
              <a:srgbClr val="30363D"/>
            </a:solidFill>
            <a:prstDash val="solid"/>
          </a:ln>
        </p:spPr>
      </p:sp>
      <p:pic>
        <p:nvPicPr>
          <p:cNvPr id="9" name="Image 1" descr="fig_importance.png">    </p:cNvPr>
          <p:cNvPicPr>
            <a:picLocks noChangeAspect="1"/>
          </p:cNvPicPr>
          <p:nvPr/>
        </p:nvPicPr>
        <p:blipFill>
          <a:blip r:embed="rId2"/>
          <a:stretch>
            <a:fillRect/>
          </a:stretch>
        </p:blipFill>
        <p:spPr>
          <a:xfrm>
            <a:off x="7589520" y="1933956"/>
            <a:ext cx="4023360" cy="1709928"/>
          </a:xfrm>
          <a:prstGeom prst="rect">
            <a:avLst/>
          </a:prstGeom>
        </p:spPr>
      </p:pic>
      <p:sp>
        <p:nvSpPr>
          <p:cNvPr id="10" name="Text 6"/>
          <p:cNvSpPr txBox="1"/>
          <p:nvPr/>
        </p:nvSpPr>
        <p:spPr>
          <a:xfrm>
            <a:off x="548640" y="4389120"/>
            <a:ext cx="10972800" cy="18288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E6EDF3"/>
                </a:solidFill>
                <a:latin typeface="Calibri" pitchFamily="34" charset="0"/>
                <a:ea typeface="Calibri" pitchFamily="34" charset="-122"/>
                <a:cs typeface="Calibri" pitchFamily="34" charset="-120"/>
              </a:rPr>
              <a:t>Baseline tidak pernah menebak "dapat S" → recall 0</a:t>
            </a:r>
            <a:endParaRPr lang="en-US" sz="1500" dirty="0"/>
          </a:p>
          <a:p>
            <a:pPr marL="228600" indent="-228600">
              <a:spcAft>
                <a:spcPts val="1000"/>
              </a:spcAft>
              <a:buSzPct val="100000"/>
              <a:buChar char="•"/>
            </a:pPr>
            <a:r>
              <a:rPr lang="en-US" sz="1500" dirty="0">
                <a:solidFill>
                  <a:srgbClr val="E6EDF3"/>
                </a:solidFill>
                <a:latin typeface="Calibri" pitchFamily="34" charset="0"/>
                <a:ea typeface="Calibri" pitchFamily="34" charset="-122"/>
                <a:cs typeface="Calibri" pitchFamily="34" charset="-120"/>
              </a:rPr>
              <a:t>XGBoost menangkap sebagian besar S di sekitar soft pity</a:t>
            </a:r>
            <a:endParaRPr lang="en-US" sz="1500" dirty="0"/>
          </a:p>
          <a:p>
            <a:pPr marL="228600" indent="-228600">
              <a:spcAft>
                <a:spcPts val="1000"/>
              </a:spcAft>
              <a:buSzPct val="100000"/>
              <a:buChar char="•"/>
            </a:pPr>
            <a:r>
              <a:rPr lang="en-US" sz="1500" dirty="0">
                <a:solidFill>
                  <a:srgbClr val="E6EDF3"/>
                </a:solidFill>
                <a:latin typeface="Calibri" pitchFamily="34" charset="0"/>
                <a:ea typeface="Calibri" pitchFamily="34" charset="-122"/>
                <a:cs typeface="Calibri" pitchFamily="34" charset="-120"/>
              </a:rPr>
              <a:t>pity_ratio paling penting; guaranteed ≈ 0 (benar menurut aturan game: guaranteed hanya menentukan S mana, bukan kapan)</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200" b="1" spc="300" kern="0" dirty="0">
                <a:solidFill>
                  <a:srgbClr val="F5A623"/>
                </a:solidFill>
                <a:latin typeface="Calibri" pitchFamily="34" charset="0"/>
                <a:ea typeface="Calibri" pitchFamily="34" charset="-122"/>
                <a:cs typeface="Calibri" pitchFamily="34" charset="-120"/>
              </a:rPr>
              <a:t>PENUTUP</a:t>
            </a:r>
            <a:endParaRPr lang="en-US" sz="1200" dirty="0"/>
          </a:p>
        </p:txBody>
      </p:sp>
      <p:sp>
        <p:nvSpPr>
          <p:cNvPr id="3" name="Text 1"/>
          <p:cNvSpPr txBox="1"/>
          <p:nvPr/>
        </p:nvSpPr>
        <p:spPr>
          <a:xfrm>
            <a:off x="548640" y="685800"/>
            <a:ext cx="11091672" cy="731520"/>
          </a:xfrm>
          <a:prstGeom prst="rect">
            <a:avLst/>
          </a:prstGeom>
          <a:noFill/>
          <a:ln/>
        </p:spPr>
        <p:txBody>
          <a:bodyPr wrap="square" lIns="0" tIns="0" rIns="0" bIns="0" rtlCol="0" anchor="ctr"/>
          <a:lstStyle/>
          <a:p>
            <a:pPr indent="0" marL="0">
              <a:buNone/>
            </a:pPr>
            <a:r>
              <a:rPr lang="en-US" sz="3200" b="1" dirty="0">
                <a:solidFill>
                  <a:srgbClr val="E6EDF3"/>
                </a:solidFill>
                <a:latin typeface="Cambria" pitchFamily="34" charset="0"/>
                <a:ea typeface="Cambria" pitchFamily="34" charset="-122"/>
                <a:cs typeface="Cambria" pitchFamily="34" charset="-120"/>
              </a:rPr>
              <a:t>Kesimpulan &amp; saran</a:t>
            </a:r>
            <a:endParaRPr lang="en-US" sz="3200" dirty="0"/>
          </a:p>
        </p:txBody>
      </p:sp>
      <p:sp>
        <p:nvSpPr>
          <p:cNvPr id="4" name="Text 2"/>
          <p:cNvSpPr txBox="1"/>
          <p:nvPr/>
        </p:nvSpPr>
        <p:spPr>
          <a:xfrm>
            <a:off x="548640" y="6400800"/>
            <a:ext cx="7315200" cy="228600"/>
          </a:xfrm>
          <a:prstGeom prst="rect">
            <a:avLst/>
          </a:prstGeom>
          <a:noFill/>
          <a:ln/>
        </p:spPr>
        <p:txBody>
          <a:bodyPr wrap="square" lIns="0" tIns="0" rIns="0" bIns="0" rtlCol="0" anchor="ctr"/>
          <a:lstStyle/>
          <a:p>
            <a:pPr indent="0" marL="0">
              <a:buNone/>
            </a:pPr>
            <a:r>
              <a:rPr lang="en-US" sz="1000" dirty="0">
                <a:solidFill>
                  <a:srgbClr val="8B949E"/>
                </a:solidFill>
                <a:latin typeface="Calibri" pitchFamily="34" charset="0"/>
                <a:ea typeface="Calibri" pitchFamily="34" charset="-122"/>
                <a:cs typeface="Calibri" pitchFamily="34" charset="-120"/>
              </a:rPr>
              <a:t>ZZZ Gacha Predictor · Kelompok 6 · A11.4502</a:t>
            </a:r>
            <a:endParaRPr lang="en-US" sz="1000" dirty="0"/>
          </a:p>
        </p:txBody>
      </p:sp>
      <p:sp>
        <p:nvSpPr>
          <p:cNvPr id="5" name="Text 3"/>
          <p:cNvSpPr txBox="1"/>
          <p:nvPr/>
        </p:nvSpPr>
        <p:spPr>
          <a:xfrm>
            <a:off x="10725912" y="6400800"/>
            <a:ext cx="914400" cy="228600"/>
          </a:xfrm>
          <a:prstGeom prst="rect">
            <a:avLst/>
          </a:prstGeom>
          <a:noFill/>
          <a:ln/>
        </p:spPr>
        <p:txBody>
          <a:bodyPr wrap="square" lIns="0" tIns="0" rIns="0" bIns="0" rtlCol="0" anchor="ctr"/>
          <a:lstStyle/>
          <a:p>
            <a:pPr algn="r" indent="0" marL="0">
              <a:buNone/>
            </a:pPr>
            <a:r>
              <a:rPr lang="en-US" sz="1000" dirty="0">
                <a:solidFill>
                  <a:srgbClr val="8B949E"/>
                </a:solidFill>
                <a:latin typeface="Calibri" pitchFamily="34" charset="0"/>
                <a:ea typeface="Calibri" pitchFamily="34" charset="-122"/>
                <a:cs typeface="Calibri" pitchFamily="34" charset="-120"/>
              </a:rPr>
              <a:t>23</a:t>
            </a:r>
            <a:endParaRPr lang="en-US" sz="1000" dirty="0"/>
          </a:p>
        </p:txBody>
      </p:sp>
      <p:sp>
        <p:nvSpPr>
          <p:cNvPr id="6" name="Shape 4"/>
          <p:cNvSpPr/>
          <p:nvPr/>
        </p:nvSpPr>
        <p:spPr>
          <a:xfrm>
            <a:off x="548640" y="1645920"/>
            <a:ext cx="2624328" cy="3474720"/>
          </a:xfrm>
          <a:prstGeom prst="roundRect">
            <a:avLst>
              <a:gd name="adj" fmla="val 2787"/>
            </a:avLst>
          </a:prstGeom>
          <a:solidFill>
            <a:srgbClr val="1C2230"/>
          </a:solidFill>
          <a:ln w="9525">
            <a:solidFill>
              <a:srgbClr val="30363D"/>
            </a:solidFill>
            <a:prstDash val="solid"/>
          </a:ln>
        </p:spPr>
      </p:sp>
      <p:sp>
        <p:nvSpPr>
          <p:cNvPr id="7" name="Shape 5"/>
          <p:cNvSpPr/>
          <p:nvPr/>
        </p:nvSpPr>
        <p:spPr>
          <a:xfrm>
            <a:off x="777240" y="1874520"/>
            <a:ext cx="457200" cy="457200"/>
          </a:xfrm>
          <a:prstGeom prst="ellipse">
            <a:avLst/>
          </a:prstGeom>
          <a:solidFill>
            <a:srgbClr val="F5A623"/>
          </a:solidFill>
          <a:ln/>
        </p:spPr>
      </p:sp>
      <p:sp>
        <p:nvSpPr>
          <p:cNvPr id="8" name="Text 6"/>
          <p:cNvSpPr txBox="1"/>
          <p:nvPr/>
        </p:nvSpPr>
        <p:spPr>
          <a:xfrm>
            <a:off x="777240" y="1874520"/>
            <a:ext cx="457200" cy="457200"/>
          </a:xfrm>
          <a:prstGeom prst="rect">
            <a:avLst/>
          </a:prstGeom>
          <a:noFill/>
          <a:ln/>
        </p:spPr>
        <p:txBody>
          <a:bodyPr wrap="square" lIns="0" tIns="0" rIns="0" bIns="0" rtlCol="0" anchor="ctr"/>
          <a:lstStyle/>
          <a:p>
            <a:pPr algn="ctr" indent="0" marL="0">
              <a:buNone/>
            </a:pPr>
            <a:r>
              <a:rPr lang="en-US" sz="1600" b="1" dirty="0">
                <a:solidFill>
                  <a:srgbClr val="0E1117"/>
                </a:solidFill>
                <a:latin typeface="Calibri" pitchFamily="34" charset="0"/>
                <a:ea typeface="Calibri" pitchFamily="34" charset="-122"/>
                <a:cs typeface="Calibri" pitchFamily="34" charset="-120"/>
              </a:rPr>
              <a:t>1</a:t>
            </a:r>
            <a:endParaRPr lang="en-US" sz="1600" dirty="0"/>
          </a:p>
        </p:txBody>
      </p:sp>
      <p:sp>
        <p:nvSpPr>
          <p:cNvPr id="9" name="Text 7"/>
          <p:cNvSpPr txBox="1"/>
          <p:nvPr/>
        </p:nvSpPr>
        <p:spPr>
          <a:xfrm>
            <a:off x="777240" y="2468880"/>
            <a:ext cx="2167128" cy="731520"/>
          </a:xfrm>
          <a:prstGeom prst="rect">
            <a:avLst/>
          </a:prstGeom>
          <a:noFill/>
          <a:ln/>
        </p:spPr>
        <p:txBody>
          <a:bodyPr wrap="square" lIns="0" tIns="0" rIns="0" bIns="0" rtlCol="0" anchor="t"/>
          <a:lstStyle/>
          <a:p>
            <a:pPr indent="0" marL="0">
              <a:buNone/>
            </a:pPr>
            <a:r>
              <a:rPr lang="en-US" sz="1700" b="1" dirty="0">
                <a:solidFill>
                  <a:srgbClr val="E6EDF3"/>
                </a:solidFill>
                <a:latin typeface="Cambria" pitchFamily="34" charset="0"/>
                <a:ea typeface="Cambria" pitchFamily="34" charset="-122"/>
                <a:cs typeface="Cambria" pitchFamily="34" charset="-120"/>
              </a:rPr>
              <a:t>Markov Chain</a:t>
            </a:r>
            <a:endParaRPr lang="en-US" sz="1700" dirty="0"/>
          </a:p>
        </p:txBody>
      </p:sp>
      <p:sp>
        <p:nvSpPr>
          <p:cNvPr id="10" name="Text 8"/>
          <p:cNvSpPr txBox="1"/>
          <p:nvPr/>
        </p:nvSpPr>
        <p:spPr>
          <a:xfrm>
            <a:off x="777240" y="3246120"/>
            <a:ext cx="2167128" cy="1691640"/>
          </a:xfrm>
          <a:prstGeom prst="rect">
            <a:avLst/>
          </a:prstGeom>
          <a:noFill/>
          <a:ln/>
        </p:spPr>
        <p:txBody>
          <a:bodyPr wrap="square" lIns="0" tIns="0" rIns="0" bIns="0" rtlCol="0" anchor="t"/>
          <a:lstStyle/>
          <a:p>
            <a:pPr indent="0" marL="0">
              <a:spcAft>
                <a:spcPts val="400"/>
              </a:spcAft>
              <a:buNone/>
            </a:pPr>
            <a:r>
              <a:rPr lang="en-US" sz="1400" dirty="0">
                <a:solidFill>
                  <a:srgbClr val="A9B4C2"/>
                </a:solidFill>
                <a:latin typeface="Calibri" pitchFamily="34" charset="0"/>
                <a:ea typeface="Calibri" pitchFamily="34" charset="-122"/>
                <a:cs typeface="Calibri" pitchFamily="34" charset="-120"/>
              </a:rPr>
              <a:t>Peluang dapat S dalam N pull dihitung langsung dari aturan banner dan dipakai di kalkulator.</a:t>
            </a:r>
            <a:endParaRPr lang="en-US" sz="1400" dirty="0"/>
          </a:p>
        </p:txBody>
      </p:sp>
      <p:sp>
        <p:nvSpPr>
          <p:cNvPr id="11" name="Shape 9"/>
          <p:cNvSpPr/>
          <p:nvPr/>
        </p:nvSpPr>
        <p:spPr>
          <a:xfrm>
            <a:off x="3355848" y="1645920"/>
            <a:ext cx="2624328" cy="3474720"/>
          </a:xfrm>
          <a:prstGeom prst="roundRect">
            <a:avLst>
              <a:gd name="adj" fmla="val 2787"/>
            </a:avLst>
          </a:prstGeom>
          <a:solidFill>
            <a:srgbClr val="1C2230"/>
          </a:solidFill>
          <a:ln w="9525">
            <a:solidFill>
              <a:srgbClr val="30363D"/>
            </a:solidFill>
            <a:prstDash val="solid"/>
          </a:ln>
        </p:spPr>
      </p:sp>
      <p:sp>
        <p:nvSpPr>
          <p:cNvPr id="12" name="Shape 10"/>
          <p:cNvSpPr/>
          <p:nvPr/>
        </p:nvSpPr>
        <p:spPr>
          <a:xfrm>
            <a:off x="3584448" y="1874520"/>
            <a:ext cx="457200" cy="457200"/>
          </a:xfrm>
          <a:prstGeom prst="ellipse">
            <a:avLst/>
          </a:prstGeom>
          <a:solidFill>
            <a:srgbClr val="FF7EB6"/>
          </a:solidFill>
          <a:ln/>
        </p:spPr>
      </p:sp>
      <p:sp>
        <p:nvSpPr>
          <p:cNvPr id="13" name="Text 11"/>
          <p:cNvSpPr txBox="1"/>
          <p:nvPr/>
        </p:nvSpPr>
        <p:spPr>
          <a:xfrm>
            <a:off x="3584448" y="1874520"/>
            <a:ext cx="457200" cy="457200"/>
          </a:xfrm>
          <a:prstGeom prst="rect">
            <a:avLst/>
          </a:prstGeom>
          <a:noFill/>
          <a:ln/>
        </p:spPr>
        <p:txBody>
          <a:bodyPr wrap="square" lIns="0" tIns="0" rIns="0" bIns="0" rtlCol="0" anchor="ctr"/>
          <a:lstStyle/>
          <a:p>
            <a:pPr algn="ctr" indent="0" marL="0">
              <a:buNone/>
            </a:pPr>
            <a:r>
              <a:rPr lang="en-US" sz="1600" b="1" dirty="0">
                <a:solidFill>
                  <a:srgbClr val="0E1117"/>
                </a:solidFill>
                <a:latin typeface="Calibri" pitchFamily="34" charset="0"/>
                <a:ea typeface="Calibri" pitchFamily="34" charset="-122"/>
                <a:cs typeface="Calibri" pitchFamily="34" charset="-120"/>
              </a:rPr>
              <a:t>2</a:t>
            </a:r>
            <a:endParaRPr lang="en-US" sz="1600" dirty="0"/>
          </a:p>
        </p:txBody>
      </p:sp>
      <p:sp>
        <p:nvSpPr>
          <p:cNvPr id="14" name="Text 12"/>
          <p:cNvSpPr txBox="1"/>
          <p:nvPr/>
        </p:nvSpPr>
        <p:spPr>
          <a:xfrm>
            <a:off x="3584448" y="2468880"/>
            <a:ext cx="2167128" cy="731520"/>
          </a:xfrm>
          <a:prstGeom prst="rect">
            <a:avLst/>
          </a:prstGeom>
          <a:noFill/>
          <a:ln/>
        </p:spPr>
        <p:txBody>
          <a:bodyPr wrap="square" lIns="0" tIns="0" rIns="0" bIns="0" rtlCol="0" anchor="t"/>
          <a:lstStyle/>
          <a:p>
            <a:pPr indent="0" marL="0">
              <a:buNone/>
            </a:pPr>
            <a:r>
              <a:rPr lang="en-US" sz="1700" b="1" dirty="0">
                <a:solidFill>
                  <a:srgbClr val="E6EDF3"/>
                </a:solidFill>
                <a:latin typeface="Cambria" pitchFamily="34" charset="0"/>
                <a:ea typeface="Cambria" pitchFamily="34" charset="-122"/>
                <a:cs typeface="Cambria" pitchFamily="34" charset="-120"/>
              </a:rPr>
              <a:t>Soft pity dari data</a:t>
            </a:r>
            <a:endParaRPr lang="en-US" sz="1700" dirty="0"/>
          </a:p>
        </p:txBody>
      </p:sp>
      <p:sp>
        <p:nvSpPr>
          <p:cNvPr id="15" name="Text 13"/>
          <p:cNvSpPr txBox="1"/>
          <p:nvPr/>
        </p:nvSpPr>
        <p:spPr>
          <a:xfrm>
            <a:off x="3584448" y="3246120"/>
            <a:ext cx="2167128" cy="1691640"/>
          </a:xfrm>
          <a:prstGeom prst="rect">
            <a:avLst/>
          </a:prstGeom>
          <a:noFill/>
          <a:ln/>
        </p:spPr>
        <p:txBody>
          <a:bodyPr wrap="square" lIns="0" tIns="0" rIns="0" bIns="0" rtlCol="0" anchor="t"/>
          <a:lstStyle/>
          <a:p>
            <a:pPr indent="0" marL="0">
              <a:spcAft>
                <a:spcPts val="400"/>
              </a:spcAft>
              <a:buNone/>
            </a:pPr>
            <a:r>
              <a:rPr lang="en-US" sz="1400" dirty="0">
                <a:solidFill>
                  <a:srgbClr val="A9B4C2"/>
                </a:solidFill>
                <a:latin typeface="Calibri" pitchFamily="34" charset="0"/>
                <a:ea typeface="Calibri" pitchFamily="34" charset="-122"/>
                <a:cs typeface="Calibri" pitchFamily="34" charset="-120"/>
              </a:rPr>
              <a:t>Lonjakan Agent mulai pull ke-74 (W-Engine ±65) terlihat di data asli dan ditemukan Decision Tree.</a:t>
            </a:r>
            <a:endParaRPr lang="en-US" sz="1400" dirty="0"/>
          </a:p>
        </p:txBody>
      </p:sp>
      <p:sp>
        <p:nvSpPr>
          <p:cNvPr id="16" name="Shape 14"/>
          <p:cNvSpPr/>
          <p:nvPr/>
        </p:nvSpPr>
        <p:spPr>
          <a:xfrm>
            <a:off x="6163056" y="1645920"/>
            <a:ext cx="2624328" cy="3474720"/>
          </a:xfrm>
          <a:prstGeom prst="roundRect">
            <a:avLst>
              <a:gd name="adj" fmla="val 2787"/>
            </a:avLst>
          </a:prstGeom>
          <a:solidFill>
            <a:srgbClr val="1C2230"/>
          </a:solidFill>
          <a:ln w="9525">
            <a:solidFill>
              <a:srgbClr val="30363D"/>
            </a:solidFill>
            <a:prstDash val="solid"/>
          </a:ln>
        </p:spPr>
      </p:sp>
      <p:sp>
        <p:nvSpPr>
          <p:cNvPr id="17" name="Shape 15"/>
          <p:cNvSpPr/>
          <p:nvPr/>
        </p:nvSpPr>
        <p:spPr>
          <a:xfrm>
            <a:off x="6391656" y="1874520"/>
            <a:ext cx="457200" cy="457200"/>
          </a:xfrm>
          <a:prstGeom prst="ellipse">
            <a:avLst/>
          </a:prstGeom>
          <a:solidFill>
            <a:srgbClr val="58A6FF"/>
          </a:solidFill>
          <a:ln/>
        </p:spPr>
      </p:sp>
      <p:sp>
        <p:nvSpPr>
          <p:cNvPr id="18" name="Text 16"/>
          <p:cNvSpPr txBox="1"/>
          <p:nvPr/>
        </p:nvSpPr>
        <p:spPr>
          <a:xfrm>
            <a:off x="6391656" y="1874520"/>
            <a:ext cx="457200" cy="457200"/>
          </a:xfrm>
          <a:prstGeom prst="rect">
            <a:avLst/>
          </a:prstGeom>
          <a:noFill/>
          <a:ln/>
        </p:spPr>
        <p:txBody>
          <a:bodyPr wrap="square" lIns="0" tIns="0" rIns="0" bIns="0" rtlCol="0" anchor="ctr"/>
          <a:lstStyle/>
          <a:p>
            <a:pPr algn="ctr" indent="0" marL="0">
              <a:buNone/>
            </a:pPr>
            <a:r>
              <a:rPr lang="en-US" sz="1600" b="1" dirty="0">
                <a:solidFill>
                  <a:srgbClr val="0E1117"/>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6391656" y="2468880"/>
            <a:ext cx="2167128" cy="731520"/>
          </a:xfrm>
          <a:prstGeom prst="rect">
            <a:avLst/>
          </a:prstGeom>
          <a:noFill/>
          <a:ln/>
        </p:spPr>
        <p:txBody>
          <a:bodyPr wrap="square" lIns="0" tIns="0" rIns="0" bIns="0" rtlCol="0" anchor="t"/>
          <a:lstStyle/>
          <a:p>
            <a:pPr indent="0" marL="0">
              <a:buNone/>
            </a:pPr>
            <a:r>
              <a:rPr lang="en-US" sz="1700" b="1" dirty="0">
                <a:solidFill>
                  <a:srgbClr val="E6EDF3"/>
                </a:solidFill>
                <a:latin typeface="Cambria" pitchFamily="34" charset="0"/>
                <a:ea typeface="Cambria" pitchFamily="34" charset="-122"/>
                <a:cs typeface="Cambria" pitchFamily="34" charset="-120"/>
              </a:rPr>
              <a:t>Algoritma terbaik</a:t>
            </a:r>
            <a:endParaRPr lang="en-US" sz="1700" dirty="0"/>
          </a:p>
        </p:txBody>
      </p:sp>
      <p:sp>
        <p:nvSpPr>
          <p:cNvPr id="20" name="Text 18"/>
          <p:cNvSpPr txBox="1"/>
          <p:nvPr/>
        </p:nvSpPr>
        <p:spPr>
          <a:xfrm>
            <a:off x="6391656" y="3246120"/>
            <a:ext cx="2167128" cy="1691640"/>
          </a:xfrm>
          <a:prstGeom prst="rect">
            <a:avLst/>
          </a:prstGeom>
          <a:noFill/>
          <a:ln/>
        </p:spPr>
        <p:txBody>
          <a:bodyPr wrap="square" lIns="0" tIns="0" rIns="0" bIns="0" rtlCol="0" anchor="t"/>
          <a:lstStyle/>
          <a:p>
            <a:pPr indent="0" marL="0">
              <a:spcAft>
                <a:spcPts val="400"/>
              </a:spcAft>
              <a:buNone/>
            </a:pPr>
            <a:r>
              <a:rPr lang="en-US" sz="1400" dirty="0">
                <a:solidFill>
                  <a:srgbClr val="A9B4C2"/>
                </a:solidFill>
                <a:latin typeface="Calibri" pitchFamily="34" charset="0"/>
                <a:ea typeface="Calibri" pitchFamily="34" charset="-122"/>
                <a:cs typeface="Calibri" pitchFamily="34" charset="-120"/>
              </a:rPr>
              <a:t>Decision Tree, Random Forest, XGBoost setara terbaik: ±91% simulasi, ±93% data asli, juga saat dilatih di data asli saja.</a:t>
            </a:r>
            <a:endParaRPr lang="en-US" sz="1400" dirty="0"/>
          </a:p>
        </p:txBody>
      </p:sp>
      <p:sp>
        <p:nvSpPr>
          <p:cNvPr id="21" name="Shape 19"/>
          <p:cNvSpPr/>
          <p:nvPr/>
        </p:nvSpPr>
        <p:spPr>
          <a:xfrm>
            <a:off x="8970264" y="1645920"/>
            <a:ext cx="2624328" cy="3474720"/>
          </a:xfrm>
          <a:prstGeom prst="roundRect">
            <a:avLst>
              <a:gd name="adj" fmla="val 2787"/>
            </a:avLst>
          </a:prstGeom>
          <a:solidFill>
            <a:srgbClr val="1C2230"/>
          </a:solidFill>
          <a:ln w="9525">
            <a:solidFill>
              <a:srgbClr val="30363D"/>
            </a:solidFill>
            <a:prstDash val="solid"/>
          </a:ln>
        </p:spPr>
      </p:sp>
      <p:sp>
        <p:nvSpPr>
          <p:cNvPr id="22" name="Shape 20"/>
          <p:cNvSpPr/>
          <p:nvPr/>
        </p:nvSpPr>
        <p:spPr>
          <a:xfrm>
            <a:off x="9198864" y="1874520"/>
            <a:ext cx="457200" cy="457200"/>
          </a:xfrm>
          <a:prstGeom prst="ellipse">
            <a:avLst/>
          </a:prstGeom>
          <a:solidFill>
            <a:srgbClr val="3FB950"/>
          </a:solidFill>
          <a:ln/>
        </p:spPr>
      </p:sp>
      <p:sp>
        <p:nvSpPr>
          <p:cNvPr id="23" name="Text 21"/>
          <p:cNvSpPr txBox="1"/>
          <p:nvPr/>
        </p:nvSpPr>
        <p:spPr>
          <a:xfrm>
            <a:off x="9198864" y="1874520"/>
            <a:ext cx="457200" cy="457200"/>
          </a:xfrm>
          <a:prstGeom prst="rect">
            <a:avLst/>
          </a:prstGeom>
          <a:noFill/>
          <a:ln/>
        </p:spPr>
        <p:txBody>
          <a:bodyPr wrap="square" lIns="0" tIns="0" rIns="0" bIns="0" rtlCol="0" anchor="ctr"/>
          <a:lstStyle/>
          <a:p>
            <a:pPr algn="ctr" indent="0" marL="0">
              <a:buNone/>
            </a:pPr>
            <a:r>
              <a:rPr lang="en-US" sz="1600" b="1" dirty="0">
                <a:solidFill>
                  <a:srgbClr val="0E1117"/>
                </a:solidFill>
                <a:latin typeface="Calibri" pitchFamily="34" charset="0"/>
                <a:ea typeface="Calibri" pitchFamily="34" charset="-122"/>
                <a:cs typeface="Calibri" pitchFamily="34" charset="-120"/>
              </a:rPr>
              <a:t>4</a:t>
            </a:r>
            <a:endParaRPr lang="en-US" sz="1600" dirty="0"/>
          </a:p>
        </p:txBody>
      </p:sp>
      <p:sp>
        <p:nvSpPr>
          <p:cNvPr id="24" name="Text 22"/>
          <p:cNvSpPr txBox="1"/>
          <p:nvPr/>
        </p:nvSpPr>
        <p:spPr>
          <a:xfrm>
            <a:off x="9198864" y="2468880"/>
            <a:ext cx="2167128" cy="731520"/>
          </a:xfrm>
          <a:prstGeom prst="rect">
            <a:avLst/>
          </a:prstGeom>
          <a:noFill/>
          <a:ln/>
        </p:spPr>
        <p:txBody>
          <a:bodyPr wrap="square" lIns="0" tIns="0" rIns="0" bIns="0" rtlCol="0" anchor="t"/>
          <a:lstStyle/>
          <a:p>
            <a:pPr indent="0" marL="0">
              <a:buNone/>
            </a:pPr>
            <a:r>
              <a:rPr lang="en-US" sz="1700" b="1" dirty="0">
                <a:solidFill>
                  <a:srgbClr val="E6EDF3"/>
                </a:solidFill>
                <a:latin typeface="Cambria" pitchFamily="34" charset="0"/>
                <a:ea typeface="Cambria" pitchFamily="34" charset="-122"/>
                <a:cs typeface="Cambria" pitchFamily="34" charset="-120"/>
              </a:rPr>
              <a:t>Akurasi saja menipu</a:t>
            </a:r>
            <a:endParaRPr lang="en-US" sz="1700" dirty="0"/>
          </a:p>
        </p:txBody>
      </p:sp>
      <p:sp>
        <p:nvSpPr>
          <p:cNvPr id="25" name="Text 23"/>
          <p:cNvSpPr txBox="1"/>
          <p:nvPr/>
        </p:nvSpPr>
        <p:spPr>
          <a:xfrm>
            <a:off x="9198864" y="3246120"/>
            <a:ext cx="2167128" cy="1691640"/>
          </a:xfrm>
          <a:prstGeom prst="rect">
            <a:avLst/>
          </a:prstGeom>
          <a:noFill/>
          <a:ln/>
        </p:spPr>
        <p:txBody>
          <a:bodyPr wrap="square" lIns="0" tIns="0" rIns="0" bIns="0" rtlCol="0" anchor="t"/>
          <a:lstStyle/>
          <a:p>
            <a:pPr indent="0" marL="0">
              <a:spcAft>
                <a:spcPts val="400"/>
              </a:spcAft>
              <a:buNone/>
            </a:pPr>
            <a:r>
              <a:rPr lang="en-US" sz="1400" dirty="0">
                <a:solidFill>
                  <a:srgbClr val="A9B4C2"/>
                </a:solidFill>
                <a:latin typeface="Calibri" pitchFamily="34" charset="0"/>
                <a:ea typeface="Calibri" pitchFamily="34" charset="-122"/>
                <a:cs typeface="Calibri" pitchFamily="34" charset="-120"/>
              </a:rPr>
              <a:t>Data tidak seimbang butuh Balanced Acc., F1, ROC-AUC, Log Loss.</a:t>
            </a:r>
            <a:endParaRPr lang="en-US" sz="1400" dirty="0"/>
          </a:p>
        </p:txBody>
      </p:sp>
      <p:sp>
        <p:nvSpPr>
          <p:cNvPr id="26" name="Text 24"/>
          <p:cNvSpPr txBox="1"/>
          <p:nvPr/>
        </p:nvSpPr>
        <p:spPr>
          <a:xfrm>
            <a:off x="548640" y="5349240"/>
            <a:ext cx="11064240" cy="731520"/>
          </a:xfrm>
          <a:prstGeom prst="rect">
            <a:avLst/>
          </a:prstGeom>
          <a:noFill/>
          <a:ln/>
        </p:spPr>
        <p:txBody>
          <a:bodyPr wrap="square" lIns="0" tIns="0" rIns="0" bIns="0" rtlCol="0" anchor="t"/>
          <a:lstStyle/>
          <a:p>
            <a:pPr indent="0" marL="0">
              <a:buNone/>
            </a:pPr>
            <a:r>
              <a:rPr lang="en-US" sz="1500" dirty="0">
                <a:solidFill>
                  <a:srgbClr val="A9B4C2"/>
                </a:solidFill>
                <a:latin typeface="Calibri" pitchFamily="34" charset="0"/>
                <a:ea typeface="Calibri" pitchFamily="34" charset="-122"/>
                <a:cs typeface="Calibri" pitchFamily="34" charset="-120"/>
              </a:rPr>
              <a:t>Saran: tambah akun data asli, grid search hyperparameter (k pada KNN), uji signifikansi antar-model, perjelas soft pity W-Engine, perluas ke banner lain.</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1117"/>
        </a:solidFill>
      </p:bgPr>
    </p:bg>
    <p:spTree>
      <p:nvGrpSpPr>
        <p:cNvPr id="1" name=""/>
        <p:cNvGrpSpPr/>
        <p:nvPr/>
      </p:nvGrpSpPr>
      <p:grpSpPr>
        <a:xfrm>
          <a:off x="0" y="0"/>
          <a:ext cx="0" cy="0"/>
          <a:chOff x="0" y="0"/>
          <a:chExt cx="0" cy="0"/>
        </a:xfrm>
      </p:grpSpPr>
      <p:sp>
        <p:nvSpPr>
          <p:cNvPr id="2" name="Text 0"/>
          <p:cNvSpPr txBox="1"/>
          <p:nvPr/>
        </p:nvSpPr>
        <p:spPr>
          <a:xfrm>
            <a:off x="548640" y="1463040"/>
            <a:ext cx="10972800" cy="1097280"/>
          </a:xfrm>
          <a:prstGeom prst="rect">
            <a:avLst/>
          </a:prstGeom>
          <a:noFill/>
          <a:ln/>
        </p:spPr>
        <p:txBody>
          <a:bodyPr wrap="square" lIns="0" tIns="0" rIns="0" bIns="0" rtlCol="0" anchor="ctr"/>
          <a:lstStyle/>
          <a:p>
            <a:pPr indent="0" marL="0">
              <a:buNone/>
            </a:pPr>
            <a:r>
              <a:rPr lang="en-US" sz="5400" b="1" dirty="0">
                <a:solidFill>
                  <a:srgbClr val="E6EDF3"/>
                </a:solidFill>
                <a:latin typeface="Cambria" pitchFamily="34" charset="0"/>
                <a:ea typeface="Cambria" pitchFamily="34" charset="-122"/>
                <a:cs typeface="Cambria" pitchFamily="34" charset="-120"/>
              </a:rPr>
              <a:t>Terima kasih</a:t>
            </a:r>
            <a:endParaRPr lang="en-US" sz="5400" dirty="0"/>
          </a:p>
        </p:txBody>
      </p:sp>
      <p:sp>
        <p:nvSpPr>
          <p:cNvPr id="3" name="Text 1"/>
          <p:cNvSpPr txBox="1"/>
          <p:nvPr/>
        </p:nvSpPr>
        <p:spPr>
          <a:xfrm>
            <a:off x="548640" y="2651760"/>
            <a:ext cx="10058400" cy="731520"/>
          </a:xfrm>
          <a:prstGeom prst="rect">
            <a:avLst/>
          </a:prstGeom>
          <a:noFill/>
          <a:ln/>
        </p:spPr>
        <p:txBody>
          <a:bodyPr wrap="square" lIns="0" tIns="0" rIns="0" bIns="0" rtlCol="0" anchor="ctr"/>
          <a:lstStyle/>
          <a:p>
            <a:pPr indent="0" marL="0">
              <a:buNone/>
            </a:pPr>
            <a:r>
              <a:rPr lang="en-US" sz="2000" dirty="0">
                <a:solidFill>
                  <a:srgbClr val="A9B4C2"/>
                </a:solidFill>
                <a:latin typeface="Calibri" pitchFamily="34" charset="0"/>
                <a:ea typeface="Calibri" pitchFamily="34" charset="-122"/>
                <a:cs typeface="Calibri" pitchFamily="34" charset="-120"/>
              </a:rPr>
              <a:t>Ada pertanyaan? Silakan coba aplikasinya langsung:</a:t>
            </a:r>
            <a:endParaRPr lang="en-US" sz="2000" dirty="0"/>
          </a:p>
        </p:txBody>
      </p:sp>
      <p:sp>
        <p:nvSpPr>
          <p:cNvPr id="4" name="Text 2"/>
          <p:cNvSpPr txBox="1"/>
          <p:nvPr/>
        </p:nvSpPr>
        <p:spPr>
          <a:xfrm>
            <a:off x="548640" y="3749040"/>
            <a:ext cx="10058400" cy="548640"/>
          </a:xfrm>
          <a:prstGeom prst="rect">
            <a:avLst/>
          </a:prstGeom>
          <a:noFill/>
          <a:ln/>
        </p:spPr>
        <p:txBody>
          <a:bodyPr wrap="square" lIns="0" tIns="0" rIns="0" bIns="0" rtlCol="0" anchor="ctr"/>
          <a:lstStyle/>
          <a:p>
            <a:pPr indent="0" marL="0">
              <a:buNone/>
            </a:pPr>
            <a:r>
              <a:rPr lang="en-US" sz="2600" b="1" dirty="0">
                <a:solidFill>
                  <a:srgbClr val="58A6FF"/>
                </a:solidFill>
                <a:latin typeface="Calibri" pitchFamily="34" charset="0"/>
                <a:ea typeface="Calibri" pitchFamily="34" charset="-122"/>
                <a:cs typeface="Calibri" pitchFamily="34" charset="-120"/>
              </a:rPr>
              <a:t>project-data-mining-zzz.streamlit.app</a:t>
            </a:r>
            <a:endParaRPr lang="en-US" sz="2600" dirty="0"/>
          </a:p>
        </p:txBody>
      </p:sp>
      <p:sp>
        <p:nvSpPr>
          <p:cNvPr id="5" name="Text 3"/>
          <p:cNvSpPr txBox="1"/>
          <p:nvPr/>
        </p:nvSpPr>
        <p:spPr>
          <a:xfrm>
            <a:off x="548640" y="4389120"/>
            <a:ext cx="10058400" cy="457200"/>
          </a:xfrm>
          <a:prstGeom prst="rect">
            <a:avLst/>
          </a:prstGeom>
          <a:noFill/>
          <a:ln/>
        </p:spPr>
        <p:txBody>
          <a:bodyPr wrap="square" lIns="0" tIns="0" rIns="0" bIns="0" rtlCol="0" anchor="ctr"/>
          <a:lstStyle/>
          <a:p>
            <a:pPr indent="0" marL="0">
              <a:buNone/>
            </a:pPr>
            <a:r>
              <a:rPr lang="en-US" sz="1600" dirty="0">
                <a:solidFill>
                  <a:srgbClr val="A9B4C2"/>
                </a:solidFill>
                <a:latin typeface="Calibri" pitchFamily="34" charset="0"/>
                <a:ea typeface="Calibri" pitchFamily="34" charset="-122"/>
                <a:cs typeface="Calibri" pitchFamily="34" charset="-120"/>
              </a:rPr>
              <a:t>github.com/tehgeii/project-data-mining</a:t>
            </a:r>
            <a:endParaRPr lang="en-US" sz="1600" dirty="0"/>
          </a:p>
        </p:txBody>
      </p:sp>
      <p:sp>
        <p:nvSpPr>
          <p:cNvPr id="6" name="Text 4"/>
          <p:cNvSpPr txBox="1"/>
          <p:nvPr/>
        </p:nvSpPr>
        <p:spPr>
          <a:xfrm>
            <a:off x="548640" y="5943600"/>
            <a:ext cx="10058400" cy="365760"/>
          </a:xfrm>
          <a:prstGeom prst="rect">
            <a:avLst/>
          </a:prstGeom>
          <a:noFill/>
          <a:ln/>
        </p:spPr>
        <p:txBody>
          <a:bodyPr wrap="square" lIns="0" tIns="0" rIns="0" bIns="0" rtlCol="0" anchor="ctr"/>
          <a:lstStyle/>
          <a:p>
            <a:pPr indent="0" marL="0">
              <a:buNone/>
            </a:pPr>
            <a:r>
              <a:rPr lang="en-US" sz="1300" dirty="0">
                <a:solidFill>
                  <a:srgbClr val="8B949E"/>
                </a:solidFill>
                <a:latin typeface="Calibri" pitchFamily="34" charset="0"/>
                <a:ea typeface="Calibri" pitchFamily="34" charset="-122"/>
                <a:cs typeface="Calibri" pitchFamily="34" charset="-120"/>
              </a:rPr>
              <a:t>Kelompok 6 · A11.4502 · Penambangan Data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ZZZ Gacha Predictor</dc:title>
  <dc:subject>PptxGenJS Presentation</dc:subject>
  <dc:creator>PptxGenJS</dc:creator>
  <cp:lastModifiedBy>PptxGenJS</cp:lastModifiedBy>
  <cp:revision>1</cp:revision>
  <dcterms:created xsi:type="dcterms:W3CDTF">2026-10-18T05:29:42Z</dcterms:created>
  <dcterms:modified xsi:type="dcterms:W3CDTF">2026-10-18T05:29:42Z</dcterms:modified>
</cp:coreProperties>
</file>