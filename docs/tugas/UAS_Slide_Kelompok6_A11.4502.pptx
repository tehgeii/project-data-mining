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91.1</c:v>
                </c:pt>
                <c:pt idx="3">
                  <c:v>93.1</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1.209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86.6</c:v>
                </c:pt>
                <c:pt idx="1">
                  <c:v>93.7</c:v>
                </c:pt>
                <c:pt idx="2">
                  <c:v>91.5</c:v>
                </c:pt>
                <c:pt idx="3">
                  <c:v>91</c:v>
                </c:pt>
                <c:pt idx="4">
                  <c:v>91.3</c:v>
                </c:pt>
                <c:pt idx="5">
                  <c:v>93.1</c:v>
                </c:pt>
                <c:pt idx="6">
                  <c:v>92.9</c:v>
                </c:pt>
                <c:pt idx="7">
                  <c:v>92.3</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Saat dicek, angka pity yang dihitung aplikasi untuk akun asli sama persis dengan yang tampil di game. Selain itu 99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acuan teori Markov; selisih di antara keempatnya sangat kecil dan tidak signifikan, sehingga setara. Logistic Regression 88,9 persen dan Naive Bayes 89,2 persen setelah grid search; menurut uji signifikansi keduanya nyata lebih rendah. Baseline 83,4 persen. Kalau ditanya kenapa data asli lebih tinggi: kelas positifnya lebih sedikit, jadi baseline-nya juga lebih tinggi; keunggulan di atas baseline sama-sama sekitar 7 poin.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ROC-AUC, dan log loss, KNN terbaik di F1, tetapi selisih keempatnya sangat kecil.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 search (±1,5 menit). Setiap algoritma diberi beberapa pilihan pengaturan, lalu dipilih yang akurasinya paling tinggi di 100 akun simulasi tambahan yang tidak dipakai untuk evaluasi. Naive Bayes paling terbantu, naik dari 85,4% menjadi 89,0%. Algoritma lain hampir tidak berubah, artinya pengaturan awalnya sudah cocok untuk data simulasi yang besar. Pengaturan terpilih inilah yang dipakai di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1.209 baris dari 2 akun, sudah di atas syarat 500 sampai 1000 baris. Data dibagi per siklus pity menjadi 5 bagian, dan grid search diulang di dalam setiap bagian supaya data uji tidak ikut memilih pengaturan. Hasilnya: Decision Tree 93,1%, Random Forest 92,9%, XGBoost 92,3%, hampir menyamai acuan teori Markov 93,7%. Grid search paling membantu Naive Bayes dan KNN: dengan pengaturan awal keduanya hampir sama dengan baseline, tetapi setelah dipilih ulang naik menjadi 91,5% dan 91,0%. KNN memilih k antara 5 dan 31, karena k = 101 terlalu besar untuk data latih sekitar 970 baris. Pelajarannya: hyperparameter harus disesuaikan dengan ukuran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signifikansi (±2 menit). Selisih akurasi yang kecil belum tentu nyata. Kami memakai uji t berpasangan terkoreksi dari Nadeau dan Bengio, yang cocok untuk hasil cross-validation karena data latih antarfold saling tumpang tindih. Di data simulasi, Decision Tree, Random Forest, dan KNN tidak berbeda nyata dari XGBoost, sedangkan Naive Bayes dan Logistic Regression nyata lebih rendah, p kurang dari 0,001. Di data asli, hanya baseline yang nyata lebih rendah dari Decision Tree; selisih antaralgoritma, paling besar sekitar 2 poin, belum signifikan karena data asli baru 20 siklus pity. Jadi kami tidak mengklaim Decision Tree pasti yang terbaik di data asli; yang bisa dikatakan, model pohon konsisten di urutan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 soft pity (±2 menit). Ini jawaban rumusan kedua sekaligus alasan memakai data mining. Grafik membandingkan laju S per pull di data asli (batang oranye) dengan peluang model Markov (titik hitam). Agent: hampir nol sampai pull ke-73, lalu melonjak 14 persen di pull 74 sampai 78 dan 38 persen sesudahnya, hampir sama dengan model. W-Engine: 4 dari 11 pull setelah pull ke-65 dapat S, lebih tinggi dari model, tetapi datanya masih sedikit. Decision Tree yang dilatih hanya dengan data asli juga memisahkan data di sekitar pity 66, sekitar 10 pull sebelum soft pity, padahal tidak pernah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empat kesimpulan dan saran pengembangan. Tekankan bahwa soft pity yang tidak diumumkan berhasil ditemukan dari data, dan model pohon tetap terbaik walaupun dilatih hanya dengan data asli. Sebutkan keterbatasan dengan jujur: data latih utama berasal dari simulasi, dan data asli baru dua akun sehingga uji signifikansi di data asli belum cukup kuat untuk memastikan satu algoritma paling unggul.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memeriksa pola soft pity, dan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99 / 99</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11064240" cy="4160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data asli lebih tinggi karena kelas positifnya lebih sedikit (13,4% vs 16,6%), sehingga baseline ikut naik (86,6% vs 83,4%). Keunggulan di atas baseline sama-sama ±7 poin.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0,8920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0,7099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0,5736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0,7746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0,3488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0,7628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0,6680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0,3033</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Grid search hyperparameter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011680"/>
                <a:gridCol w="3657600"/>
                <a:gridCol w="2011680"/>
              </a:tblGrid>
              <a:tr h="566928">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Algoritma</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Terpilih (tugas B)</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 awal → terpilih</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var_smoothing = 10⁻³</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0,8543 → 0,8897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k = 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0,9069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C = 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0,8843 → 0,8853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6, min_samples_leaf = 100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8, min_samples_leaf = 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learning_rate = 0,05, max_depth = 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0,9069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03120"/>
          </a:xfrm>
          <a:prstGeom prst="roundRect">
            <a:avLst>
              <a:gd name="adj" fmla="val 3478"/>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BC8CFF"/>
                </a:solidFill>
                <a:latin typeface="Cambria" pitchFamily="34" charset="0"/>
                <a:ea typeface="Cambria" pitchFamily="34" charset="-122"/>
                <a:cs typeface="Cambria" pitchFamily="34" charset="-120"/>
              </a:rPr>
              <a:t>Naive Bayes naik</a:t>
            </a:r>
            <a:endParaRPr lang="en-US" sz="1800" dirty="0"/>
          </a:p>
        </p:txBody>
      </p:sp>
      <p:sp>
        <p:nvSpPr>
          <p:cNvPr id="9" name="Text 6"/>
          <p:cNvSpPr txBox="1"/>
          <p:nvPr/>
        </p:nvSpPr>
        <p:spPr>
          <a:xfrm>
            <a:off x="8732520" y="233172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85,4% → 89,0% di data grid search. Yang lain berubah ≤0,1 poin.</a:t>
            </a:r>
            <a:endParaRPr lang="en-US" sz="1400" dirty="0"/>
          </a:p>
        </p:txBody>
      </p:sp>
      <p:sp>
        <p:nvSpPr>
          <p:cNvPr id="10" name="Shape 7"/>
          <p:cNvSpPr/>
          <p:nvPr/>
        </p:nvSpPr>
        <p:spPr>
          <a:xfrm>
            <a:off x="8503920" y="3931920"/>
            <a:ext cx="3108960" cy="2194560"/>
          </a:xfrm>
          <a:prstGeom prst="roundRect">
            <a:avLst>
              <a:gd name="adj" fmla="val 3333"/>
            </a:avLst>
          </a:prstGeom>
          <a:solidFill>
            <a:srgbClr val="1C2230"/>
          </a:solidFill>
          <a:ln w="9525">
            <a:solidFill>
              <a:srgbClr val="30363D"/>
            </a:solidFill>
            <a:prstDash val="solid"/>
          </a:ln>
        </p:spPr>
      </p:sp>
      <p:sp>
        <p:nvSpPr>
          <p:cNvPr id="11" name="Text 8"/>
          <p:cNvSpPr txBox="1"/>
          <p:nvPr/>
        </p:nvSpPr>
        <p:spPr>
          <a:xfrm>
            <a:off x="8732520" y="4160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kebocoran</a:t>
            </a:r>
            <a:endParaRPr lang="en-US" sz="1800" dirty="0"/>
          </a:p>
        </p:txBody>
      </p:sp>
      <p:sp>
        <p:nvSpPr>
          <p:cNvPr id="12" name="Text 9"/>
          <p:cNvSpPr txBox="1"/>
          <p:nvPr/>
        </p:nvSpPr>
        <p:spPr>
          <a:xfrm>
            <a:off x="8732520" y="4617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Dipilih di 100 akun simulasi terpisah (GroupKFold 4-fold), bukan di data evaluasi.</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Tetap teratas</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93,1%, Random Forest 92,9%, XGBoost 92,3%. Teori Markov 93,7%.</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NB &amp; KNN naik</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Naive Bayes 87,9% → 91,5%, KNN 87,4% → 91,0% (k = 5–31, bukan 101).</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Uji signifikansi: nyata atau kebetulan?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377440"/>
                <a:gridCol w="1645920"/>
                <a:gridCol w="1097280"/>
                <a:gridCol w="1645920"/>
                <a:gridCol w="91440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XGBoost (sim.)</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Decision Tree (asli)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−7,71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−6,53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0,042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0,471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0,306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−1,76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0,497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0,735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0,745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Data simulasi</a:t>
            </a:r>
            <a:endParaRPr lang="en-US" sz="1800" dirty="0"/>
          </a:p>
        </p:txBody>
      </p:sp>
      <p:sp>
        <p:nvSpPr>
          <p:cNvPr id="9" name="Text 6"/>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&amp; KNN setara. Naive Bayes &amp; Logistic Regression NYATA lebih rendah (p &lt; 0,001).</a:t>
            </a:r>
            <a:endParaRPr lang="en-US" sz="1400" dirty="0"/>
          </a:p>
        </p:txBody>
      </p:sp>
      <p:sp>
        <p:nvSpPr>
          <p:cNvPr id="10" name="Shape 7"/>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1" name="Text 8"/>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a:t>
            </a:r>
            <a:endParaRPr lang="en-US" sz="1800" dirty="0"/>
          </a:p>
        </p:txBody>
      </p:sp>
      <p:sp>
        <p:nvSpPr>
          <p:cNvPr id="12" name="Text 9"/>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Hanya baseline yang nyata lebih rendah (p = 0,042). Selisih antaralgoritma belum signifikan → perlu lebih banyak akun.</a:t>
            </a:r>
            <a:endParaRPr lang="en-US" sz="1400" dirty="0"/>
          </a:p>
        </p:txBody>
      </p:sp>
      <p:sp>
        <p:nvSpPr>
          <p:cNvPr id="13" name="Text 10"/>
          <p:cNvSpPr txBox="1"/>
          <p:nvPr/>
        </p:nvSpPr>
        <p:spPr>
          <a:xfrm>
            <a:off x="548640" y="5852160"/>
            <a:ext cx="7680960" cy="457200"/>
          </a:xfrm>
          <a:prstGeom prst="rect">
            <a:avLst/>
          </a:prstGeom>
          <a:noFill/>
          <a:ln/>
        </p:spPr>
        <p:txBody>
          <a:bodyPr wrap="square" lIns="0" tIns="0" rIns="0" bIns="0" rtlCol="0" anchor="ctr"/>
          <a:lstStyle/>
          <a:p>
            <a:pPr indent="0" marL="0">
              <a:buNone/>
            </a:pPr>
            <a:r>
              <a:rPr lang="en-US" sz="1200" dirty="0">
                <a:solidFill>
                  <a:srgbClr val="8B949E"/>
                </a:solidFill>
                <a:latin typeface="Calibri" pitchFamily="34" charset="0"/>
                <a:ea typeface="Calibri" pitchFamily="34" charset="-122"/>
                <a:cs typeface="Calibri" pitchFamily="34" charset="-120"/>
              </a:rPr>
              <a:t>Selisih dalam poin persen (negatif = lebih rendah dari acuan). Uji t berpasangan terkoreksi (Nadeau &amp; Bengio, 2003), α = 0,05.</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POLA SOFT PITY</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Soft pity terlihat di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22</a:t>
            </a:r>
            <a:endParaRPr lang="en-US" sz="1000" dirty="0"/>
          </a:p>
        </p:txBody>
      </p:sp>
      <p:sp>
        <p:nvSpPr>
          <p:cNvPr id="6" name="Shape 4"/>
          <p:cNvSpPr/>
          <p:nvPr/>
        </p:nvSpPr>
        <p:spPr>
          <a:xfrm>
            <a:off x="438912" y="1612392"/>
            <a:ext cx="7900416" cy="3633216"/>
          </a:xfrm>
          <a:prstGeom prst="roundRect">
            <a:avLst>
              <a:gd name="adj" fmla="val 1510"/>
            </a:avLst>
          </a:prstGeom>
          <a:solidFill>
            <a:srgbClr val="FFFFFF"/>
          </a:solidFill>
          <a:ln w="12700">
            <a:solidFill>
              <a:srgbClr val="30363D"/>
            </a:solidFill>
            <a:prstDash val="solid"/>
          </a:ln>
        </p:spPr>
      </p:sp>
      <p:pic>
        <p:nvPicPr>
          <p:cNvPr id="7" name="Image 0" descr="fig_softpity.png">    </p:cNvPr>
          <p:cNvPicPr>
            <a:picLocks noChangeAspect="1"/>
          </p:cNvPicPr>
          <p:nvPr/>
        </p:nvPicPr>
        <p:blipFill>
          <a:blip r:embed="rId1"/>
          <a:stretch>
            <a:fillRect/>
          </a:stretch>
        </p:blipFill>
        <p:spPr>
          <a:xfrm>
            <a:off x="548640" y="1722120"/>
            <a:ext cx="7680960" cy="3413760"/>
          </a:xfrm>
          <a:prstGeom prst="rect">
            <a:avLst/>
          </a:prstGeom>
        </p:spPr>
      </p:pic>
      <p:sp>
        <p:nvSpPr>
          <p:cNvPr id="8" name="Shape 5"/>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9" name="Text 6"/>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Agent</a:t>
            </a:r>
            <a:endParaRPr lang="en-US" sz="1800" dirty="0"/>
          </a:p>
        </p:txBody>
      </p:sp>
      <p:sp>
        <p:nvSpPr>
          <p:cNvPr id="10" name="Text 7"/>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Hampir 0% sampai pull ke-73, lalu 14% (pull 74–78) dan 38% (79–90). Hampir sama dengan model.</a:t>
            </a:r>
            <a:endParaRPr lang="en-US" sz="1400" dirty="0"/>
          </a:p>
        </p:txBody>
      </p:sp>
      <p:sp>
        <p:nvSpPr>
          <p:cNvPr id="11" name="Shape 8"/>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2" name="Text 9"/>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diberi tahu</a:t>
            </a:r>
            <a:endParaRPr lang="en-US" sz="1800" dirty="0"/>
          </a:p>
        </p:txBody>
      </p:sp>
      <p:sp>
        <p:nvSpPr>
          <p:cNvPr id="13" name="Text 10"/>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dari data asli saja memisah di pity ±66 (Agent) / ±59 (W-Engine), ±10 pull sebelum soft pity.</a:t>
            </a:r>
            <a:endParaRPr lang="en-US" sz="1400" dirty="0"/>
          </a:p>
        </p:txBody>
      </p:sp>
      <p:sp>
        <p:nvSpPr>
          <p:cNvPr id="14" name="Text 11"/>
          <p:cNvSpPr txBox="1"/>
          <p:nvPr/>
        </p:nvSpPr>
        <p:spPr>
          <a:xfrm>
            <a:off x="548640" y="5577840"/>
            <a:ext cx="768096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W-Engine: 4 dari 11 pull mulai pull ke-65 menghasilkan S (36%), lebih tinggi dari model, tetapi datanya masih sedikit.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23</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Di data simulasi, Decision Tree memisahkan data di pity_ratio ±0,72, sekitar 10 pull sebelum soft pity.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24</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645920"/>
            <a:ext cx="2624328" cy="347472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Markov Chain</a:t>
            </a:r>
            <a:endParaRPr lang="en-US" sz="1700" dirty="0"/>
          </a:p>
        </p:txBody>
      </p:sp>
      <p:sp>
        <p:nvSpPr>
          <p:cNvPr id="10" name="Text 8"/>
          <p:cNvSpPr txBox="1"/>
          <p:nvPr/>
        </p:nvSpPr>
        <p:spPr>
          <a:xfrm>
            <a:off x="777240"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Peluang dapat S dalam N pull dihitung langsung dari aturan banner dan dipakai di kalkulator.</a:t>
            </a:r>
            <a:endParaRPr lang="en-US" sz="1400" dirty="0"/>
          </a:p>
        </p:txBody>
      </p:sp>
      <p:sp>
        <p:nvSpPr>
          <p:cNvPr id="11" name="Shape 9"/>
          <p:cNvSpPr/>
          <p:nvPr/>
        </p:nvSpPr>
        <p:spPr>
          <a:xfrm>
            <a:off x="3355848" y="1645920"/>
            <a:ext cx="2624328" cy="347472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874520"/>
            <a:ext cx="457200" cy="457200"/>
          </a:xfrm>
          <a:prstGeom prst="ellipse">
            <a:avLst/>
          </a:prstGeom>
          <a:solidFill>
            <a:srgbClr val="FF7EB6"/>
          </a:solidFill>
          <a:ln/>
        </p:spPr>
      </p:sp>
      <p:sp>
        <p:nvSpPr>
          <p:cNvPr id="13" name="Text 11"/>
          <p:cNvSpPr txBox="1"/>
          <p:nvPr/>
        </p:nvSpPr>
        <p:spPr>
          <a:xfrm>
            <a:off x="3584448"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Soft pity dari data</a:t>
            </a:r>
            <a:endParaRPr lang="en-US" sz="1700" dirty="0"/>
          </a:p>
        </p:txBody>
      </p:sp>
      <p:sp>
        <p:nvSpPr>
          <p:cNvPr id="15" name="Text 13"/>
          <p:cNvSpPr txBox="1"/>
          <p:nvPr/>
        </p:nvSpPr>
        <p:spPr>
          <a:xfrm>
            <a:off x="3584448"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Lonjakan Agent mulai pull ke-74 (W-Engine ±65) terlihat di data asli dan ditemukan Decision Tree.</a:t>
            </a:r>
            <a:endParaRPr lang="en-US" sz="1400" dirty="0"/>
          </a:p>
        </p:txBody>
      </p:sp>
      <p:sp>
        <p:nvSpPr>
          <p:cNvPr id="16" name="Shape 14"/>
          <p:cNvSpPr/>
          <p:nvPr/>
        </p:nvSpPr>
        <p:spPr>
          <a:xfrm>
            <a:off x="6163056" y="1645920"/>
            <a:ext cx="2624328" cy="347472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874520"/>
            <a:ext cx="457200" cy="457200"/>
          </a:xfrm>
          <a:prstGeom prst="ellipse">
            <a:avLst/>
          </a:prstGeom>
          <a:solidFill>
            <a:srgbClr val="58A6FF"/>
          </a:solidFill>
          <a:ln/>
        </p:spPr>
      </p:sp>
      <p:sp>
        <p:nvSpPr>
          <p:cNvPr id="18" name="Text 16"/>
          <p:cNvSpPr txBox="1"/>
          <p:nvPr/>
        </p:nvSpPr>
        <p:spPr>
          <a:xfrm>
            <a:off x="6391656"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6391656"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(DT, RF, XGBoost) &amp; KNN setara terbaik: ±91% simulasi, ±93% data asli. NB &amp; LR nyata lebih rendah. Di data asli saja, selisihnya belum signifikan.</a:t>
            </a:r>
            <a:endParaRPr lang="en-US" sz="1400" dirty="0"/>
          </a:p>
        </p:txBody>
      </p:sp>
      <p:sp>
        <p:nvSpPr>
          <p:cNvPr id="21" name="Shape 19"/>
          <p:cNvSpPr/>
          <p:nvPr/>
        </p:nvSpPr>
        <p:spPr>
          <a:xfrm>
            <a:off x="8970264" y="1645920"/>
            <a:ext cx="2624328" cy="347472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874520"/>
            <a:ext cx="457200" cy="457200"/>
          </a:xfrm>
          <a:prstGeom prst="ellipse">
            <a:avLst/>
          </a:prstGeom>
          <a:solidFill>
            <a:srgbClr val="3FB950"/>
          </a:solidFill>
          <a:ln/>
        </p:spPr>
      </p:sp>
      <p:sp>
        <p:nvSpPr>
          <p:cNvPr id="23" name="Text 21"/>
          <p:cNvSpPr txBox="1"/>
          <p:nvPr/>
        </p:nvSpPr>
        <p:spPr>
          <a:xfrm>
            <a:off x="9198864"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Akurasi saja menipu</a:t>
            </a:r>
            <a:endParaRPr lang="en-US" sz="1700" dirty="0"/>
          </a:p>
        </p:txBody>
      </p:sp>
      <p:sp>
        <p:nvSpPr>
          <p:cNvPr id="25" name="Text 23"/>
          <p:cNvSpPr txBox="1"/>
          <p:nvPr/>
        </p:nvSpPr>
        <p:spPr>
          <a:xfrm>
            <a:off x="9198864"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400" dirty="0"/>
          </a:p>
        </p:txBody>
      </p:sp>
      <p:sp>
        <p:nvSpPr>
          <p:cNvPr id="26" name="Text 24"/>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(≥5 akun) agar uji signifikansi lebih kuat, coba metrik lain untuk grid search, perjelas soft pity W-Engine, perluas ke banner lain.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2026-10-18T07:37:53Z</dcterms:created>
  <dcterms:modified xsi:type="dcterms:W3CDTF">2026-10-18T07:37:53Z</dcterms:modified>
</cp:coreProperties>
</file>