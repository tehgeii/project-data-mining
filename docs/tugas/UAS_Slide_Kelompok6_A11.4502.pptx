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dapat S dalam 10 pull</a:t>
            </a:r>
          </a:p>
        </c:rich>
      </c:tx>
      <c:layout/>
      <c:overlay val="0"/>
    </c:title>
    <c:autoTitleDeleted val="0"/>
    <c:plotArea>
      <c:layout/>
      <c:barChart>
        <c:barDir val="col"/>
        <c:grouping val="clustered"/>
        <c:varyColors val="0"/>
        <c:ser>
          <c:idx val="0"/>
          <c:order val="0"/>
          <c:tx>
            <c:strRef>
              <c:f>Sheet1!$B$1</c:f>
              <c:strCache>
                <c:ptCount val="1"/>
                <c:pt idx="0">
                  <c:v>Simulasi (5-fold CV)</c:v>
                </c:pt>
              </c:strCache>
            </c:strRef>
          </c:tx>
          <c:spPr>
            <a:solidFill>
              <a:srgbClr val="58A6FF"/>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83.4</c:v>
                </c:pt>
                <c:pt idx="1">
                  <c:v>91.1</c:v>
                </c:pt>
                <c:pt idx="2">
                  <c:v>85.7</c:v>
                </c:pt>
                <c:pt idx="3">
                  <c:v>91.1</c:v>
                </c:pt>
                <c:pt idx="4">
                  <c:v>88.9</c:v>
                </c:pt>
                <c:pt idx="5">
                  <c:v>91.1</c:v>
                </c:pt>
                <c:pt idx="6">
                  <c:v>91.1</c:v>
                </c:pt>
                <c:pt idx="7">
                  <c:v>91.1</c:v>
                </c:pt>
              </c:numCache>
            </c:numRef>
          </c:val>
        </c:ser>
        <c:ser>
          <c:idx val="1"/>
          <c:order val="1"/>
          <c:tx>
            <c:strRef>
              <c:f>Sheet1!$C$1</c:f>
              <c:strCache>
                <c:ptCount val="1"/>
                <c:pt idx="0">
                  <c:v>Data asli (2 akun)</c:v>
                </c:pt>
              </c:strCache>
            </c:strRef>
          </c:tx>
          <c:spPr>
            <a:solidFill>
              <a:srgbClr val="F5A623"/>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Sheet1!$C$2:$C$9</c:f>
              <c:numCache>
                <c:formatCode>General</c:formatCode>
                <c:ptCount val="8"/>
                <c:pt idx="0">
                  <c:v>86.5</c:v>
                </c:pt>
                <c:pt idx="1">
                  <c:v>93.5</c:v>
                </c:pt>
                <c:pt idx="2">
                  <c:v>87.7</c:v>
                </c:pt>
                <c:pt idx="3">
                  <c:v>93.5</c:v>
                </c:pt>
                <c:pt idx="4">
                  <c:v>91.1</c:v>
                </c:pt>
                <c:pt idx="5">
                  <c:v>93.3</c:v>
                </c:pt>
                <c:pt idx="6">
                  <c:v>93.3</c:v>
                </c:pt>
                <c:pt idx="7">
                  <c:v>93.4</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legend>
      <c:legendPos val="t"/>
      <c:overlay val="0"/>
      <c:txPr>
        <a:bodyPr/>
        <a:lstStyle/>
        <a:p>
          <a:pPr>
            <a:defRPr sz="1100">
              <a:solidFill>
                <a:srgbClr val="E6EDF3"/>
              </a:solidFill>
            </a:defRPr>
          </a:pPr>
          <a:endParaRPr lang="en-US"/>
        </a:p>
      </c:txPr>
    </c:legend>
    <c:plotVisOnly val="1"/>
    <c:dispBlanksAs val="span"/>
  </c:chart>
  <c:spPr>
    <a:solidFill>
      <a:srgbClr val="0E1117"/>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6EDF3"/>
                </a:solidFill>
                <a:latin typeface="Arial"/>
              </a:defRPr>
            </a:pPr>
            <a:r>
              <a:rPr sz="1400" b="0" i="0" u="none" strike="noStrike">
                <a:solidFill>
                  <a:srgbClr val="E6EDF3"/>
                </a:solidFill>
                <a:latin typeface="Arial"/>
              </a:rPr>
              <a:t>Accuracy (%) — 1.192 baris data asli, 5-fold per siklus pity</a:t>
            </a:r>
          </a:p>
        </c:rich>
      </c:tx>
      <c:layout/>
      <c:overlay val="0"/>
    </c:title>
    <c:autoTitleDeleted val="0"/>
    <c:plotArea>
      <c:layout/>
      <c:barChart>
        <c:barDir val="col"/>
        <c:grouping val="clustered"/>
        <c:varyColors val="0"/>
        <c:ser>
          <c:idx val="0"/>
          <c:order val="0"/>
          <c:tx>
            <c:strRef>
              <c:f>Sheet1!$B$1</c:f>
              <c:strCache>
                <c:ptCount val="1"/>
                <c:pt idx="0">
                  <c:v>Accuracy (%)</c:v>
                </c:pt>
              </c:strCache>
            </c:strRef>
          </c:tx>
          <c:spPr>
            <a:solidFill>
              <a:srgbClr val="3FB950"/>
            </a:solidFill>
            <a:effectLst/>
          </c:spPr>
          <c:invertIfNegative val="0"/>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cat>
            <c:multiLvlStrRef>
              <c:f>Sheet1!$A$2:$A$9</c:f>
              <c:multiLvlStrCache>
                <c:ptCount val="8"/>
                <c:lvl>
                  <c:pt idx="0">
                    <c:v>Baseline</c:v>
                  </c:pt>
                  <c:pt idx="1">
                    <c:v>Markov (teori)</c:v>
                  </c:pt>
                  <c:pt idx="2">
                    <c:v>Naive Bayes</c:v>
                  </c:pt>
                  <c:pt idx="3">
                    <c:v>KNN</c:v>
                  </c:pt>
                  <c:pt idx="4">
                    <c:v>Log. Regression</c:v>
                  </c:pt>
                  <c:pt idx="5">
                    <c:v>Decision Tree</c:v>
                  </c:pt>
                  <c:pt idx="6">
                    <c:v>Random Forest</c:v>
                  </c:pt>
                  <c:pt idx="7">
                    <c:v>XGBoost</c:v>
                  </c:pt>
                </c:lvl>
              </c:multiLvlStrCache>
            </c:multiLvlStrRef>
          </c:cat>
          <c:val>
            <c:numRef>
              <c:f>Sheet1!$B$2:$B$9</c:f>
              <c:numCache>
                <c:formatCode>General</c:formatCode>
                <c:ptCount val="8"/>
                <c:pt idx="0">
                  <c:v>86.4</c:v>
                </c:pt>
                <c:pt idx="1">
                  <c:v>93.6</c:v>
                </c:pt>
                <c:pt idx="2">
                  <c:v>88</c:v>
                </c:pt>
                <c:pt idx="3">
                  <c:v>87.4</c:v>
                </c:pt>
                <c:pt idx="4">
                  <c:v>91</c:v>
                </c:pt>
                <c:pt idx="5">
                  <c:v>93</c:v>
                </c:pt>
                <c:pt idx="6">
                  <c:v>92.9</c:v>
                </c:pt>
                <c:pt idx="7">
                  <c:v>92.6</c:v>
                </c:pt>
              </c:numCache>
            </c:numRef>
          </c:val>
        </c:ser>
        <c:dLbls>
          <c:numFmt formatCode="0.0" sourceLinked="0"/>
          <c:txPr>
            <a:bodyPr/>
            <a:lstStyle/>
            <a:p>
              <a:pPr>
                <a:defRPr b="0" i="0" strike="noStrike" sz="900" u="none">
                  <a:solidFill>
                    <a:srgbClr val="E6EDF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2"/>
        <c:crosses val="autoZero"/>
        <c:auto val="1"/>
        <c:lblAlgn val="ctr"/>
        <c:noMultiLvlLbl val="1"/>
      </c:catAx>
      <c:valAx>
        <c:axId val="2094734552"/>
        <c:scaling>
          <c:orientation val="minMax"/>
          <c:max val="96"/>
          <c:min val="80"/>
        </c:scaling>
        <c:delete val="0"/>
        <c:axPos val="l"/>
        <c:majorGridlines>
          <c:spPr>
            <a:ln w="6350" cap="flat">
              <a:solidFill>
                <a:srgbClr val="3036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A9B4C2"/>
                </a:solidFill>
                <a:latin typeface="Arial"/>
              </a:defRPr>
            </a:pPr>
            <a:endParaRPr lang="en-US"/>
          </a:p>
        </c:txPr>
        <c:crossAx val="2094734554"/>
        <c:crosses val="autoZero"/>
        <c:crossBetween val="between"/>
      </c:valAx>
      <c:spPr>
        <a:solidFill>
          <a:srgbClr val="0E1117"/>
        </a:solidFill>
        <a:ln>
          <a:noFill/>
        </a:ln>
        <a:effectLst/>
      </c:spPr>
    </c:plotArea>
    <c:plotVisOnly val="1"/>
    <c:dispBlanksAs val="span"/>
  </c:chart>
  <c:spPr>
    <a:solidFill>
      <a:srgbClr val="0E1117"/>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Pembukaan (±1 menit). Salam, perkenalkan Kelompok 6 kelas A11.4502, mata kuliah Penambangan Data dengan dosen Bapak Ardytha Luthfiarta. Sebutkan judul: ini adalah presentasi laporan akhir proyek tentang memprediksi peluang S-Rank di gacha Zenless Zone Zero. Sampaikan bahwa aplikasinya bisa dibuka di HP lewat link di layar.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Perkenalan anggota (±1 menit). Bacakan nama dan peran setiap anggota. Ketua: Syafiq Yahya. Pengembang aplikasi: Dafi. Slide: Gastiadirrijal. Proposal dan laporan: Zabrina dan Rayya.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(±1,5 menit). Jelaskan apa itu gacha dan pull. S-Rank sangat langka: 0,6 persen untuk Agent. Ada sistem pity: kalau lama tidak dapat, peluang naik, dan di pull ke-90 pasti dapat. Pemain bingung menghitung peluangnya sendiri. Riwayat gacha bisa diambil dari server, jadi bisa diolah dengan data mining. Tekankan angka 1,7 persen: datanya sangat tidak seimbang, ini akan penting nanti.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Rumusan masalah (±1,5 menit). Bacakan empat rumusan masalah. Yang kedua adalah inti tugas: membandingkan enam algoritma. Naive Bayes, KNN, dan Decision Tree sesuai materi kuliah; Logistic Regression, Random Forest, dan XGBoost sebagai pembanding tambahan.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Aturan banner (±1 menit). Fokus hanya dua banner terbatas. Angka rate dan hard pity dari detail banner resmi di game. Titik soft pity tidak diumumkan resmi, jadi memakai estimasi komunitas. Jelaskan aturan guaranteed setelah kalah 50/50.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Markov Chain (±1,5 menit). State adalah pity saat ini. Setiap pull, dengan peluang h kita dapat S dan kembali ke pity 0; jika tidak, pity naik satu. Grafik bawah menunjukkan peluang per pull: datar 0,6 persen lalu melonjak setelah soft pity sampai 100 persen di hard pity. Kenaikan per pull dicari dengan metode biseksi agar rata-ratanya sama dengan rate gabungan resmi. Markov Chain ini dipakai di kalkulator dan sebagai batas teori pembanding algoritma.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Algoritma (±2 menit). Jelaskan singkat keenam algoritma. Naive Bayes, KNN, dan Decision Tree adalah materi kuliah. Logistic Regression sebagai model linear sederhana. Random Forest dan XGBoost adalah ensemble pohon. Ditambah dua pembanding: baseline yang selalu menebak tidak dapat S, dan Markov Chain sebagai batas teori.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evaluasi (±1,5 menit). Semua metrik dihitung dari confusion matrix: TP, TN, FP, FN. Dosen menilai akurasi, dan akurasi tetap kami laporkan sebagai metrik utama. Namun karena datanya tidak seimbang, kami tambah balanced accuracy, F1, ROC-AUC, dan log loss supaya penilaian adil.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 (±1,5 menit). Kami memakai CRISP-DM, enam tahap. Jelaskan singkat setiap tahap dan apa yang dilakukan kelompok di setiap tahap.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(±1,5 menit). Riwayat satu akun terlalu sedikit untuk melatih model, jadi data latih memakai simulasi Monte Carlo dari model Markov, 400 akun. Data asli dua akun, 1.424 baris, sudah memenuhi syarat dataset tabel minimal 500 sampai 1000 baris. Data asli dipakai untuk menguji, dan di eksperimen kedua keenam algoritma juga dilatih dan diuji hanya dengan data asli. Jelaskan cara pengambilan data asli lewat script PowerShell yang hanya membaca cache game, dan bahwa authkey tidak disimpan.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Fitur dan target (±1,5 menit). Empat fitur sederhana. Dua tugas: tugas A memprediksi pull berikutnya, tugas B memprediksi dalam 10 pull. Tugas B dijadikan utama karena lebih relevan bagi pemain (satu kali ten-pull) dan kelasnya lebih seimbang.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Import Data (±1,5 menit). Tunjukkan tiga cara input. Sebaiknya demo langsung: klik Pakai data contoh. Jelaskan aspek keamanan: authkey hanya dipakai sekali.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Kalkulator (±1,5 menit). Ubah pity dan jumlah pull lalu tunjukkan grafik peluang kumulatif berubah. Tunjukkan tabel prediksi enam algoritma dibandingkan dengan Markov.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Validasi (±1 menit). Angka pity yang dihitung aplikasi untuk akun asli sama persis dengan yang tampil di game. Selain itu 87 test otomatis memastikan perhitungan tidak salah.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A (±1,5 menit). Ini temuan penting. Semua model, bahkan tebakan bodoh, akurasinya 98 persen. Jadi akurasi tidak bisa dipakai sendirian di data tidak seimbang. Itulah alasan tugas B dijadikan tugas utama.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Tugas B (±2 menit). Bacakan grafik. Decision Tree, Random Forest, XGBoost, dan KNN sekitar 91 persen di simulasi dan 93 persen di data asli, hampir sama dengan batas teori Markov. Logistic Regression 88,9 persen, Naive Bayes 85,7 persen, baseline 83,4 persen. Urutannya sama di simulasi dan data asli.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Metrik lengkap (±1,5 menit). Baris kuning adalah empat algoritma terbaik. Decision Tree terbaik di balanced accuracy, F1, ROC-AUC, dan log loss, walau selisihnya kecil dengan Random Forest, XGBoost, dan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Eksperimen kedua (±2 menit). Untuk menjawab apakah model hanya bagus di data simulasi, kami melatih dan menguji keenam algoritma hanya dengan data asli: 1.192 baris dari 2 akun, sudah di atas syarat 500 sampai 1000 baris. Data dibagi per siklus pity menjadi 5 bagian. Hasilnya: Decision Tree 93,0 persen, Random Forest 92,9 persen, XGBoost 92,6 persen, urutannya sama seperti di simulasi dan hampir menyamai batas teori Markov 93,6 persen. Logistic Regression 91,0 persen dan Naive Bayes 88,0 persen. KNN turun ke 87,4 persen karena nilai k = 101 terlalu besar untuk data sekecil ini, jadi KNN hampir selalu menebak kelas mayoritas. Pelajarannya: hyperparameter harus disesuaikan dengan ukuran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Kurva peluang (±2 menit). Jelaskan grafik: sumbu x pity saat ini, sumbu y peluang dapat S dalam 10 pull. Model pohon dan KNN mengikuti garis teori, termasuk lonjakan tajam. Logistic Regression dan Naive Bayes tidak mampu karena bentuk modelnya halus. Decision Tree menemukan titik soft pity sendiri dari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Confusion matrix dan fitur (±1,5 menit). Baseline tidak pernah menebak dapat S. Feature importance: pity_ratio paling penting, guaranteed hampir nol. Ini sesuai aturan game, jadi model belajar hal yang benar.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Kesimpulan (±1,5 menit). Bacakan tiga kesimpulan dan saran pengembangan. Tekankan bahwa model pohon tetap terbaik walaupun dilatih hanya dengan data asli. Sebutkan keterbatasan: soft pity masih estimasi dan data asli baru dua akun.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(±1 menit). Ucapkan terima kasih, ajak membuka aplikasi, buka sesi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7"/>
        </a:solidFill>
      </p:bgPr>
    </p:bg>
    <p:spTree>
      <p:nvGrpSpPr>
        <p:cNvPr id="1" name=""/>
        <p:cNvGrpSpPr/>
        <p:nvPr/>
      </p:nvGrpSpPr>
      <p:grpSpPr>
        <a:xfrm>
          <a:off x="0" y="0"/>
          <a:ext cx="0" cy="0"/>
          <a:chOff x="0" y="0"/>
          <a:chExt cx="0" cy="0"/>
        </a:xfrm>
      </p:grpSpPr>
      <p:sp>
        <p:nvSpPr>
          <p:cNvPr id="2" name="Shape 0"/>
          <p:cNvSpPr/>
          <p:nvPr/>
        </p:nvSpPr>
        <p:spPr>
          <a:xfrm>
            <a:off x="8503920" y="1097280"/>
            <a:ext cx="4754880" cy="4754880"/>
          </a:xfrm>
          <a:prstGeom prst="ellipse">
            <a:avLst/>
          </a:prstGeom>
          <a:solidFill>
            <a:srgbClr val="F5A623">
              <a:alpha val="12000"/>
            </a:srgbClr>
          </a:solidFill>
          <a:ln w="12700">
            <a:solidFill>
              <a:srgbClr val="F5A623">
                <a:alpha val="40000"/>
              </a:srgbClr>
            </a:solidFill>
            <a:prstDash val="solid"/>
          </a:ln>
        </p:spPr>
      </p:sp>
      <p:sp>
        <p:nvSpPr>
          <p:cNvPr id="3" name="Shape 1"/>
          <p:cNvSpPr/>
          <p:nvPr/>
        </p:nvSpPr>
        <p:spPr>
          <a:xfrm>
            <a:off x="9418320" y="2011680"/>
            <a:ext cx="2926080" cy="2926080"/>
          </a:xfrm>
          <a:prstGeom prst="ellipse">
            <a:avLst/>
          </a:prstGeom>
          <a:solidFill>
            <a:srgbClr val="58A6FF">
              <a:alpha val="15000"/>
            </a:srgbClr>
          </a:solidFill>
          <a:ln w="12700">
            <a:solidFill>
              <a:srgbClr val="58A6FF">
                <a:alpha val="40000"/>
              </a:srgbClr>
            </a:solidFill>
            <a:prstDash val="solid"/>
          </a:ln>
        </p:spPr>
      </p:sp>
      <p:sp>
        <p:nvSpPr>
          <p:cNvPr id="4" name="Text 2"/>
          <p:cNvSpPr txBox="1"/>
          <p:nvPr/>
        </p:nvSpPr>
        <p:spPr>
          <a:xfrm>
            <a:off x="9418320" y="2011680"/>
            <a:ext cx="2926080" cy="2926080"/>
          </a:xfrm>
          <a:prstGeom prst="rect">
            <a:avLst/>
          </a:prstGeom>
          <a:noFill/>
          <a:ln/>
        </p:spPr>
        <p:txBody>
          <a:bodyPr wrap="square" lIns="0" tIns="0" rIns="0" bIns="0" rtlCol="0" anchor="ctr"/>
          <a:lstStyle/>
          <a:p>
            <a:pPr algn="ctr" indent="0" marL="0">
              <a:buNone/>
            </a:pPr>
            <a:r>
              <a:rPr lang="en-US" sz="12000" b="1" dirty="0">
                <a:solidFill>
                  <a:srgbClr val="F5A623"/>
                </a:solidFill>
                <a:latin typeface="Cambria" pitchFamily="34" charset="0"/>
                <a:ea typeface="Cambria" pitchFamily="34" charset="-122"/>
                <a:cs typeface="Cambria" pitchFamily="34" charset="-120"/>
              </a:rPr>
              <a:t>S</a:t>
            </a:r>
            <a:endParaRPr lang="en-US" sz="12000" dirty="0"/>
          </a:p>
        </p:txBody>
      </p:sp>
      <p:pic>
        <p:nvPicPr>
          <p:cNvPr id="5" name="Image 0" descr="Logo Universitas Dian Nuswantoro">    </p:cNvPr>
          <p:cNvPicPr>
            <a:picLocks noChangeAspect="1"/>
          </p:cNvPicPr>
          <p:nvPr/>
        </p:nvPicPr>
        <p:blipFill>
          <a:blip r:embed="rId1"/>
          <a:stretch>
            <a:fillRect/>
          </a:stretch>
        </p:blipFill>
        <p:spPr>
          <a:xfrm>
            <a:off x="548640" y="365760"/>
            <a:ext cx="914400" cy="914400"/>
          </a:xfrm>
          <a:prstGeom prst="rect">
            <a:avLst/>
          </a:prstGeom>
        </p:spPr>
      </p:pic>
      <p:sp>
        <p:nvSpPr>
          <p:cNvPr id="6" name="Text 3"/>
          <p:cNvSpPr txBox="1"/>
          <p:nvPr/>
        </p:nvSpPr>
        <p:spPr>
          <a:xfrm>
            <a:off x="1645920" y="640080"/>
            <a:ext cx="6766560" cy="365760"/>
          </a:xfrm>
          <a:prstGeom prst="rect">
            <a:avLst/>
          </a:prstGeom>
          <a:noFill/>
          <a:ln/>
        </p:spPr>
        <p:txBody>
          <a:bodyPr wrap="square" lIns="0" tIns="0" rIns="0" bIns="0" rtlCol="0" anchor="ctr"/>
          <a:lstStyle/>
          <a:p>
            <a:pPr indent="0" marL="0">
              <a:buNone/>
            </a:pPr>
            <a:r>
              <a:rPr lang="en-US" sz="1400" b="1" spc="300" kern="0" dirty="0">
                <a:solidFill>
                  <a:srgbClr val="F5A623"/>
                </a:solidFill>
                <a:latin typeface="Calibri" pitchFamily="34" charset="0"/>
                <a:ea typeface="Calibri" pitchFamily="34" charset="-122"/>
                <a:cs typeface="Calibri" pitchFamily="34" charset="-120"/>
              </a:rPr>
              <a:t>LAPORAN AKHIR PROYEK · UAS</a:t>
            </a:r>
            <a:endParaRPr lang="en-US" sz="1400" dirty="0"/>
          </a:p>
        </p:txBody>
      </p:sp>
      <p:sp>
        <p:nvSpPr>
          <p:cNvPr id="7" name="Text 4"/>
          <p:cNvSpPr txBox="1"/>
          <p:nvPr/>
        </p:nvSpPr>
        <p:spPr>
          <a:xfrm>
            <a:off x="548640" y="1371600"/>
            <a:ext cx="7863840" cy="1005840"/>
          </a:xfrm>
          <a:prstGeom prst="rect">
            <a:avLst/>
          </a:prstGeom>
          <a:noFill/>
          <a:ln/>
        </p:spPr>
        <p:txBody>
          <a:bodyPr wrap="square" lIns="0" tIns="0" rIns="0" bIns="0" rtlCol="0" anchor="ctr"/>
          <a:lstStyle/>
          <a:p>
            <a:pPr indent="0" marL="0">
              <a:buNone/>
            </a:pPr>
            <a:r>
              <a:rPr lang="en-US" sz="4800" b="1" dirty="0">
                <a:solidFill>
                  <a:srgbClr val="E6EDF3"/>
                </a:solidFill>
                <a:latin typeface="Cambria" pitchFamily="34" charset="0"/>
                <a:ea typeface="Cambria" pitchFamily="34" charset="-122"/>
                <a:cs typeface="Cambria" pitchFamily="34" charset="-120"/>
              </a:rPr>
              <a:t>ZZZ Gacha Predictor</a:t>
            </a:r>
            <a:endParaRPr lang="en-US" sz="4800" dirty="0"/>
          </a:p>
        </p:txBody>
      </p:sp>
      <p:sp>
        <p:nvSpPr>
          <p:cNvPr id="8" name="Text 5"/>
          <p:cNvSpPr txBox="1"/>
          <p:nvPr/>
        </p:nvSpPr>
        <p:spPr>
          <a:xfrm>
            <a:off x="548640" y="2468880"/>
            <a:ext cx="7680960" cy="118872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Perbandingan Algoritma Klasifikasi untuk Memprediksi Peluang Mendapatkan S-Rank pada Sistem Gacha Zenless Zone Zero Berbasis Web</a:t>
            </a:r>
            <a:endParaRPr lang="en-US" sz="1800" dirty="0"/>
          </a:p>
        </p:txBody>
      </p:sp>
      <p:sp>
        <p:nvSpPr>
          <p:cNvPr id="9" name="Text 6"/>
          <p:cNvSpPr txBox="1"/>
          <p:nvPr/>
        </p:nvSpPr>
        <p:spPr>
          <a:xfrm>
            <a:off x="548640" y="4114800"/>
            <a:ext cx="7315200" cy="1280160"/>
          </a:xfrm>
          <a:prstGeom prst="rect">
            <a:avLst/>
          </a:prstGeom>
          <a:noFill/>
          <a:ln/>
        </p:spPr>
        <p:txBody>
          <a:bodyPr wrap="square" lIns="0" tIns="0" rIns="0" bIns="0" rtlCol="0" anchor="t"/>
          <a:lstStyle/>
          <a:p>
            <a:pPr indent="0" marL="0">
              <a:spcAft>
                <a:spcPts val="400"/>
              </a:spcAft>
              <a:buNone/>
            </a:pPr>
            <a:r>
              <a:rPr lang="en-US" sz="1500" b="1" dirty="0">
                <a:solidFill>
                  <a:srgbClr val="E6EDF3"/>
                </a:solidFill>
                <a:latin typeface="Calibri" pitchFamily="34" charset="0"/>
                <a:ea typeface="Calibri" pitchFamily="34" charset="-122"/>
                <a:cs typeface="Calibri" pitchFamily="34" charset="-120"/>
              </a:rPr>
              <a:t>Kelompok 6 · Kelas A11.4502</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Mata kuliah Penambangan Data</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Dosen: Ardytha Luthfiarta, M.Kom, MCS</a:t>
            </a:r>
            <a:endParaRPr lang="en-US" sz="1500" dirty="0"/>
          </a:p>
          <a:p>
            <a:pPr indent="0" marL="0">
              <a:spcAft>
                <a:spcPts val="400"/>
              </a:spcAft>
              <a:buNone/>
            </a:pPr>
            <a:r>
              <a:rPr lang="en-US" sz="1500" dirty="0">
                <a:solidFill>
                  <a:srgbClr val="E6EDF3"/>
                </a:solidFill>
                <a:latin typeface="Calibri" pitchFamily="34" charset="0"/>
                <a:ea typeface="Calibri" pitchFamily="34" charset="-122"/>
                <a:cs typeface="Calibri" pitchFamily="34" charset="-120"/>
              </a:rPr>
              <a:t>Universitas Dian Nuswantoro · 2026</a:t>
            </a:r>
            <a:endParaRPr lang="en-US" sz="1500" dirty="0"/>
          </a:p>
        </p:txBody>
      </p:sp>
      <p:sp>
        <p:nvSpPr>
          <p:cNvPr id="10" name="Text 7"/>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400" dirty="0">
                <a:solidFill>
                  <a:srgbClr val="58A6FF"/>
                </a:solidFill>
                <a:latin typeface="Calibri" pitchFamily="34" charset="0"/>
                <a:ea typeface="Calibri" pitchFamily="34" charset="-122"/>
                <a:cs typeface="Calibri" pitchFamily="34" charset="-120"/>
              </a:rPr>
              <a:t>project-data-mining-zzz.streamlit.app</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TIM</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Anggota Kelompok 6</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2194560"/>
                <a:gridCol w="3108960"/>
                <a:gridCol w="5760720"/>
              </a:tblGrid>
              <a:tr h="566928">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NIM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Nama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Peran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A11.2024.16004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Syafiq Yahya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Ketua kelompok, presentasi hasil</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A11.2024.15851</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Dafi Hauzan A.H</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Pengembang aplikasi, pengumpulan &amp; pengujian data</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A11.2024.15842</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Gastiadirrijal Rafi M</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slide presentasi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A11.2024.15826</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Zabrina Miftah Z</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66928">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A11.2024.15804</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Rayya Hasya Tamimi</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Penyusun proposal &amp; laporan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LATAR BELAKANG</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“Pity-ku 70. Berapa peluang dapat 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3</a:t>
            </a:r>
            <a:endParaRPr lang="en-US" sz="1000" dirty="0"/>
          </a:p>
        </p:txBody>
      </p:sp>
      <p:sp>
        <p:nvSpPr>
          <p:cNvPr id="6" name="Text 4"/>
          <p:cNvSpPr txBox="1"/>
          <p:nvPr/>
        </p:nvSpPr>
        <p:spPr>
          <a:xfrm>
            <a:off x="548640" y="1600200"/>
            <a:ext cx="10972800" cy="1005840"/>
          </a:xfrm>
          <a:prstGeom prst="rect">
            <a:avLst/>
          </a:prstGeom>
          <a:noFill/>
          <a:ln/>
        </p:spPr>
        <p:txBody>
          <a:bodyPr wrap="square" lIns="0" tIns="0" rIns="0" bIns="0" rtlCol="0" anchor="t"/>
          <a:lstStyle/>
          <a:p>
            <a:pPr indent="0" marL="0">
              <a:buNone/>
            </a:pPr>
            <a:r>
              <a:rPr lang="en-US" sz="1700" dirty="0">
                <a:solidFill>
                  <a:srgbClr val="A9B4C2"/>
                </a:solidFill>
                <a:latin typeface="Calibri" pitchFamily="34" charset="0"/>
                <a:ea typeface="Calibri" pitchFamily="34" charset="-122"/>
                <a:cs typeface="Calibri" pitchFamily="34" charset="-120"/>
              </a:rPr>
              <a:t>Gacha di Zenless Zone Zero memakai sistem pity: makin lama tidak dapat S-Rank, peluangnya makin besar sampai pasti dapat. Pemain sering hanya menebak-nebak. Riwayat gacha tersimpan di server, sehingga bisa diolah dengan penambangan data.</a:t>
            </a:r>
            <a:endParaRPr lang="en-US" sz="1700" dirty="0"/>
          </a:p>
        </p:txBody>
      </p:sp>
      <p:sp>
        <p:nvSpPr>
          <p:cNvPr id="7" name="Text 5"/>
          <p:cNvSpPr txBox="1"/>
          <p:nvPr/>
        </p:nvSpPr>
        <p:spPr>
          <a:xfrm>
            <a:off x="548640" y="301752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0,6%</a:t>
            </a:r>
            <a:endParaRPr lang="en-US" sz="5400" dirty="0"/>
          </a:p>
        </p:txBody>
      </p:sp>
      <p:sp>
        <p:nvSpPr>
          <p:cNvPr id="8" name="Text 6"/>
          <p:cNvSpPr txBox="1"/>
          <p:nvPr/>
        </p:nvSpPr>
        <p:spPr>
          <a:xfrm>
            <a:off x="54864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peluang dasar S-Rank Agent per pull (W-Engine 1,0%)</a:t>
            </a:r>
            <a:endParaRPr lang="en-US" sz="1400" dirty="0"/>
          </a:p>
        </p:txBody>
      </p:sp>
      <p:sp>
        <p:nvSpPr>
          <p:cNvPr id="9" name="Text 7"/>
          <p:cNvSpPr txBox="1"/>
          <p:nvPr/>
        </p:nvSpPr>
        <p:spPr>
          <a:xfrm>
            <a:off x="4343400" y="301752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90</a:t>
            </a:r>
            <a:endParaRPr lang="en-US" sz="5400" dirty="0"/>
          </a:p>
        </p:txBody>
      </p:sp>
      <p:sp>
        <p:nvSpPr>
          <p:cNvPr id="10" name="Text 8"/>
          <p:cNvSpPr txBox="1"/>
          <p:nvPr/>
        </p:nvSpPr>
        <p:spPr>
          <a:xfrm>
            <a:off x="434340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hard pity Agent: S-Rank pasti didapat (W-Engine 80)</a:t>
            </a:r>
            <a:endParaRPr lang="en-US" sz="1400" dirty="0"/>
          </a:p>
        </p:txBody>
      </p:sp>
      <p:sp>
        <p:nvSpPr>
          <p:cNvPr id="11" name="Text 9"/>
          <p:cNvSpPr txBox="1"/>
          <p:nvPr/>
        </p:nvSpPr>
        <p:spPr>
          <a:xfrm>
            <a:off x="8138160" y="301752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±1,7%</a:t>
            </a:r>
            <a:endParaRPr lang="en-US" sz="5400" dirty="0"/>
          </a:p>
        </p:txBody>
      </p:sp>
      <p:sp>
        <p:nvSpPr>
          <p:cNvPr id="12" name="Text 10"/>
          <p:cNvSpPr txBox="1"/>
          <p:nvPr/>
        </p:nvSpPr>
        <p:spPr>
          <a:xfrm>
            <a:off x="8138160" y="397764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pull yang benar-benar menghasilkan S-Rank → data sangat tidak seimbang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MASALAH</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Rumusan masalah</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548640" y="1737360"/>
            <a:ext cx="2624328" cy="4023360"/>
          </a:xfrm>
          <a:prstGeom prst="roundRect">
            <a:avLst>
              <a:gd name="adj" fmla="val 2787"/>
            </a:avLst>
          </a:prstGeom>
          <a:solidFill>
            <a:srgbClr val="1C2230"/>
          </a:solidFill>
          <a:ln w="9525">
            <a:solidFill>
              <a:srgbClr val="30363D"/>
            </a:solidFill>
            <a:prstDash val="solid"/>
          </a:ln>
        </p:spPr>
      </p:sp>
      <p:sp>
        <p:nvSpPr>
          <p:cNvPr id="7" name="Shape 5"/>
          <p:cNvSpPr/>
          <p:nvPr/>
        </p:nvSpPr>
        <p:spPr>
          <a:xfrm>
            <a:off x="777240" y="1965960"/>
            <a:ext cx="457200" cy="457200"/>
          </a:xfrm>
          <a:prstGeom prst="ellipse">
            <a:avLst/>
          </a:prstGeom>
          <a:solidFill>
            <a:srgbClr val="F5A623"/>
          </a:solidFill>
          <a:ln/>
        </p:spPr>
      </p:sp>
      <p:sp>
        <p:nvSpPr>
          <p:cNvPr id="8" name="Text 6"/>
          <p:cNvSpPr txBox="1"/>
          <p:nvPr/>
        </p:nvSpPr>
        <p:spPr>
          <a:xfrm>
            <a:off x="777240"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Menghitung peluang</a:t>
            </a:r>
            <a:endParaRPr lang="en-US" sz="1800" dirty="0"/>
          </a:p>
        </p:txBody>
      </p:sp>
      <p:sp>
        <p:nvSpPr>
          <p:cNvPr id="10" name="Text 8"/>
          <p:cNvSpPr txBox="1"/>
          <p:nvPr/>
        </p:nvSpPr>
        <p:spPr>
          <a:xfrm>
            <a:off x="777240"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Berapa peluang dapat S-Rank / S-Rank rate-up dalam N pull dari pity dan status guaranteed?</a:t>
            </a:r>
            <a:endParaRPr lang="en-US" sz="1400" dirty="0"/>
          </a:p>
        </p:txBody>
      </p:sp>
      <p:sp>
        <p:nvSpPr>
          <p:cNvPr id="11" name="Shape 9"/>
          <p:cNvSpPr/>
          <p:nvPr/>
        </p:nvSpPr>
        <p:spPr>
          <a:xfrm>
            <a:off x="3355848" y="1737360"/>
            <a:ext cx="2624328" cy="4023360"/>
          </a:xfrm>
          <a:prstGeom prst="roundRect">
            <a:avLst>
              <a:gd name="adj" fmla="val 2787"/>
            </a:avLst>
          </a:prstGeom>
          <a:solidFill>
            <a:srgbClr val="1C2230"/>
          </a:solidFill>
          <a:ln w="9525">
            <a:solidFill>
              <a:srgbClr val="30363D"/>
            </a:solidFill>
            <a:prstDash val="solid"/>
          </a:ln>
        </p:spPr>
      </p:sp>
      <p:sp>
        <p:nvSpPr>
          <p:cNvPr id="12" name="Shape 10"/>
          <p:cNvSpPr/>
          <p:nvPr/>
        </p:nvSpPr>
        <p:spPr>
          <a:xfrm>
            <a:off x="3584448" y="1965960"/>
            <a:ext cx="457200" cy="457200"/>
          </a:xfrm>
          <a:prstGeom prst="ellipse">
            <a:avLst/>
          </a:prstGeom>
          <a:solidFill>
            <a:srgbClr val="58A6FF"/>
          </a:solidFill>
          <a:ln/>
        </p:spPr>
      </p:sp>
      <p:sp>
        <p:nvSpPr>
          <p:cNvPr id="13" name="Text 11"/>
          <p:cNvSpPr txBox="1"/>
          <p:nvPr/>
        </p:nvSpPr>
        <p:spPr>
          <a:xfrm>
            <a:off x="3584448"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3584448"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3584448"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Dari Naive Bayes, KNN, Logistic Regression, Decision Tree, Random Forest, dan XGBoost, mana yang paling akurat?</a:t>
            </a:r>
            <a:endParaRPr lang="en-US" sz="1400" dirty="0"/>
          </a:p>
        </p:txBody>
      </p:sp>
      <p:sp>
        <p:nvSpPr>
          <p:cNvPr id="16" name="Shape 14"/>
          <p:cNvSpPr/>
          <p:nvPr/>
        </p:nvSpPr>
        <p:spPr>
          <a:xfrm>
            <a:off x="6163056" y="1737360"/>
            <a:ext cx="2624328" cy="4023360"/>
          </a:xfrm>
          <a:prstGeom prst="roundRect">
            <a:avLst>
              <a:gd name="adj" fmla="val 2787"/>
            </a:avLst>
          </a:prstGeom>
          <a:solidFill>
            <a:srgbClr val="1C2230"/>
          </a:solidFill>
          <a:ln w="9525">
            <a:solidFill>
              <a:srgbClr val="30363D"/>
            </a:solidFill>
            <a:prstDash val="solid"/>
          </a:ln>
        </p:spPr>
      </p:sp>
      <p:sp>
        <p:nvSpPr>
          <p:cNvPr id="17" name="Shape 15"/>
          <p:cNvSpPr/>
          <p:nvPr/>
        </p:nvSpPr>
        <p:spPr>
          <a:xfrm>
            <a:off x="6391656" y="1965960"/>
            <a:ext cx="457200" cy="457200"/>
          </a:xfrm>
          <a:prstGeom prst="ellipse">
            <a:avLst/>
          </a:prstGeom>
          <a:solidFill>
            <a:srgbClr val="3FB950"/>
          </a:solidFill>
          <a:ln/>
        </p:spPr>
      </p:sp>
      <p:sp>
        <p:nvSpPr>
          <p:cNvPr id="18" name="Text 16"/>
          <p:cNvSpPr txBox="1"/>
          <p:nvPr/>
        </p:nvSpPr>
        <p:spPr>
          <a:xfrm>
            <a:off x="6391656"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6391656"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Evaluasi yang tepat</a:t>
            </a:r>
            <a:endParaRPr lang="en-US" sz="1800" dirty="0"/>
          </a:p>
        </p:txBody>
      </p:sp>
      <p:sp>
        <p:nvSpPr>
          <p:cNvPr id="20" name="Text 18"/>
          <p:cNvSpPr txBox="1"/>
          <p:nvPr/>
        </p:nvSpPr>
        <p:spPr>
          <a:xfrm>
            <a:off x="6391656"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menilai model pada data yang sangat tidak seimbang?</a:t>
            </a:r>
            <a:endParaRPr lang="en-US" sz="1400" dirty="0"/>
          </a:p>
        </p:txBody>
      </p:sp>
      <p:sp>
        <p:nvSpPr>
          <p:cNvPr id="21" name="Shape 19"/>
          <p:cNvSpPr/>
          <p:nvPr/>
        </p:nvSpPr>
        <p:spPr>
          <a:xfrm>
            <a:off x="8970264" y="1737360"/>
            <a:ext cx="2624328" cy="4023360"/>
          </a:xfrm>
          <a:prstGeom prst="roundRect">
            <a:avLst>
              <a:gd name="adj" fmla="val 2787"/>
            </a:avLst>
          </a:prstGeom>
          <a:solidFill>
            <a:srgbClr val="1C2230"/>
          </a:solidFill>
          <a:ln w="9525">
            <a:solidFill>
              <a:srgbClr val="30363D"/>
            </a:solidFill>
            <a:prstDash val="solid"/>
          </a:ln>
        </p:spPr>
      </p:sp>
      <p:sp>
        <p:nvSpPr>
          <p:cNvPr id="22" name="Shape 20"/>
          <p:cNvSpPr/>
          <p:nvPr/>
        </p:nvSpPr>
        <p:spPr>
          <a:xfrm>
            <a:off x="9198864" y="1965960"/>
            <a:ext cx="457200" cy="457200"/>
          </a:xfrm>
          <a:prstGeom prst="ellipse">
            <a:avLst/>
          </a:prstGeom>
          <a:solidFill>
            <a:srgbClr val="BC8CFF"/>
          </a:solidFill>
          <a:ln/>
        </p:spPr>
      </p:sp>
      <p:sp>
        <p:nvSpPr>
          <p:cNvPr id="23" name="Text 21"/>
          <p:cNvSpPr txBox="1"/>
          <p:nvPr/>
        </p:nvSpPr>
        <p:spPr>
          <a:xfrm>
            <a:off x="9198864" y="196596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4</a:t>
            </a:r>
            <a:endParaRPr lang="en-US" sz="1600" dirty="0"/>
          </a:p>
        </p:txBody>
      </p:sp>
      <p:sp>
        <p:nvSpPr>
          <p:cNvPr id="24" name="Text 22"/>
          <p:cNvSpPr txBox="1"/>
          <p:nvPr/>
        </p:nvSpPr>
        <p:spPr>
          <a:xfrm>
            <a:off x="9198864" y="2560320"/>
            <a:ext cx="2167128"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Mudah diakses</a:t>
            </a:r>
            <a:endParaRPr lang="en-US" sz="1800" dirty="0"/>
          </a:p>
        </p:txBody>
      </p:sp>
      <p:sp>
        <p:nvSpPr>
          <p:cNvPr id="25" name="Text 23"/>
          <p:cNvSpPr txBox="1"/>
          <p:nvPr/>
        </p:nvSpPr>
        <p:spPr>
          <a:xfrm>
            <a:off x="9198864" y="3337560"/>
            <a:ext cx="2167128" cy="224028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Bagaimana menyajikannya dalam web yang nyaman di HP dan PC?</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OBJEK PENELITIAN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Aturan dua banner terbatas</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766560" cy="914400"/>
        </p:xfrm>
        <a:graphic>
          <a:graphicData uri="http://schemas.openxmlformats.org/drawingml/2006/table">
            <a:tbl>
              <a:tblPr/>
              <a:tblGrid>
                <a:gridCol w="2194560"/>
                <a:gridCol w="1645920"/>
                <a:gridCol w="1737360"/>
                <a:gridCol w="1188720"/>
              </a:tblGrid>
              <a:tr h="457200">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Parameter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Agent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W-Engine Terbatas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Sumber</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dasar S-Rank</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Rate gabungan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Hard pity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80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Peluang rate-up</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50% (50/50)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75% (75/25)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Resmi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57200">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Soft pity mulai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74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 pull 65</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Estimasi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bl>
          </a:graphicData>
        </a:graphic>
      </p:graphicFrame>
      <p:sp>
        <p:nvSpPr>
          <p:cNvPr id="7" name="Shape 4"/>
          <p:cNvSpPr/>
          <p:nvPr/>
        </p:nvSpPr>
        <p:spPr>
          <a:xfrm>
            <a:off x="7680960" y="1645920"/>
            <a:ext cx="3931920" cy="2743200"/>
          </a:xfrm>
          <a:prstGeom prst="roundRect">
            <a:avLst>
              <a:gd name="adj" fmla="val 2667"/>
            </a:avLst>
          </a:prstGeom>
          <a:solidFill>
            <a:srgbClr val="1C2230"/>
          </a:solidFill>
          <a:ln w="9525">
            <a:solidFill>
              <a:srgbClr val="30363D"/>
            </a:solidFill>
            <a:prstDash val="solid"/>
          </a:ln>
        </p:spPr>
      </p:sp>
      <p:sp>
        <p:nvSpPr>
          <p:cNvPr id="8" name="Text 5"/>
          <p:cNvSpPr txBox="1"/>
          <p:nvPr/>
        </p:nvSpPr>
        <p:spPr>
          <a:xfrm>
            <a:off x="7909560" y="1874520"/>
            <a:ext cx="347472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Guaranteed</a:t>
            </a:r>
            <a:endParaRPr lang="en-US" sz="1800" dirty="0"/>
          </a:p>
        </p:txBody>
      </p:sp>
      <p:sp>
        <p:nvSpPr>
          <p:cNvPr id="9" name="Text 6"/>
          <p:cNvSpPr txBox="1"/>
          <p:nvPr/>
        </p:nvSpPr>
        <p:spPr>
          <a:xfrm>
            <a:off x="7909560" y="2331720"/>
            <a:ext cx="3474720" cy="18745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Kalah 50/50 (dapat S standar) → S-Rank berikutnya pasti rate-up.</a:t>
            </a:r>
            <a:endParaRPr lang="en-US" sz="1500" dirty="0"/>
          </a:p>
        </p:txBody>
      </p:sp>
      <p:sp>
        <p:nvSpPr>
          <p:cNvPr id="10" name="Shape 7"/>
          <p:cNvSpPr/>
          <p:nvPr/>
        </p:nvSpPr>
        <p:spPr>
          <a:xfrm>
            <a:off x="7680960" y="4572000"/>
            <a:ext cx="3931920" cy="1463040"/>
          </a:xfrm>
          <a:prstGeom prst="roundRect">
            <a:avLst>
              <a:gd name="adj" fmla="val 5000"/>
            </a:avLst>
          </a:prstGeom>
          <a:solidFill>
            <a:srgbClr val="1C2230"/>
          </a:solidFill>
          <a:ln w="9525">
            <a:solidFill>
              <a:srgbClr val="30363D"/>
            </a:solidFill>
            <a:prstDash val="solid"/>
          </a:ln>
        </p:spPr>
      </p:sp>
      <p:sp>
        <p:nvSpPr>
          <p:cNvPr id="11" name="Text 8"/>
          <p:cNvSpPr txBox="1"/>
          <p:nvPr/>
        </p:nvSpPr>
        <p:spPr>
          <a:xfrm>
            <a:off x="7909560" y="4800600"/>
            <a:ext cx="347472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Batasan</a:t>
            </a:r>
            <a:endParaRPr lang="en-US" sz="1800" dirty="0"/>
          </a:p>
        </p:txBody>
      </p:sp>
      <p:sp>
        <p:nvSpPr>
          <p:cNvPr id="12" name="Text 9"/>
          <p:cNvSpPr txBox="1"/>
          <p:nvPr/>
        </p:nvSpPr>
        <p:spPr>
          <a:xfrm>
            <a:off x="7909560" y="5257800"/>
            <a:ext cx="3474720" cy="59436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Banner standar &amp; Bangboo tidak dibahas.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Markov Chain: peluang yang eksak</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438912" y="1554480"/>
            <a:ext cx="5705856" cy="2194560"/>
          </a:xfrm>
          <a:prstGeom prst="roundRect">
            <a:avLst>
              <a:gd name="adj" fmla="val 2500"/>
            </a:avLst>
          </a:prstGeom>
          <a:solidFill>
            <a:srgbClr val="FFFFFF"/>
          </a:solidFill>
          <a:ln w="12700">
            <a:solidFill>
              <a:srgbClr val="30363D"/>
            </a:solidFill>
            <a:prstDash val="solid"/>
          </a:ln>
        </p:spPr>
      </p:sp>
      <p:pic>
        <p:nvPicPr>
          <p:cNvPr id="7" name="Image 0" descr="fig_markov.png">    </p:cNvPr>
          <p:cNvPicPr>
            <a:picLocks noChangeAspect="1"/>
          </p:cNvPicPr>
          <p:nvPr/>
        </p:nvPicPr>
        <p:blipFill>
          <a:blip r:embed="rId1"/>
          <a:stretch>
            <a:fillRect/>
          </a:stretch>
        </p:blipFill>
        <p:spPr>
          <a:xfrm>
            <a:off x="548640" y="1664208"/>
            <a:ext cx="5486400" cy="1975104"/>
          </a:xfrm>
          <a:prstGeom prst="rect">
            <a:avLst/>
          </a:prstGeom>
        </p:spPr>
      </p:pic>
      <p:sp>
        <p:nvSpPr>
          <p:cNvPr id="8" name="Shape 5"/>
          <p:cNvSpPr/>
          <p:nvPr/>
        </p:nvSpPr>
        <p:spPr>
          <a:xfrm>
            <a:off x="775796" y="3822192"/>
            <a:ext cx="5032088" cy="2505456"/>
          </a:xfrm>
          <a:prstGeom prst="roundRect">
            <a:avLst>
              <a:gd name="adj" fmla="val 2190"/>
            </a:avLst>
          </a:prstGeom>
          <a:solidFill>
            <a:srgbClr val="FFFFFF"/>
          </a:solidFill>
          <a:ln w="12700">
            <a:solidFill>
              <a:srgbClr val="30363D"/>
            </a:solidFill>
            <a:prstDash val="solid"/>
          </a:ln>
        </p:spPr>
      </p:sp>
      <p:pic>
        <p:nvPicPr>
          <p:cNvPr id="9" name="Image 1" descr="fig_hazard.png">    </p:cNvPr>
          <p:cNvPicPr>
            <a:picLocks noChangeAspect="1"/>
          </p:cNvPicPr>
          <p:nvPr/>
        </p:nvPicPr>
        <p:blipFill>
          <a:blip r:embed="rId2"/>
          <a:stretch>
            <a:fillRect/>
          </a:stretch>
        </p:blipFill>
        <p:spPr>
          <a:xfrm>
            <a:off x="885524" y="3931920"/>
            <a:ext cx="4812632" cy="2286000"/>
          </a:xfrm>
          <a:prstGeom prst="rect">
            <a:avLst/>
          </a:prstGeom>
        </p:spPr>
      </p:pic>
      <p:sp>
        <p:nvSpPr>
          <p:cNvPr id="10" name="Text 6"/>
          <p:cNvSpPr txBox="1"/>
          <p:nvPr/>
        </p:nvSpPr>
        <p:spPr>
          <a:xfrm>
            <a:off x="6492240" y="1737360"/>
            <a:ext cx="5120640" cy="4389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Peluang S di pull ke-n hanya bergantung pada pity → cocok dimodelkan Markov Chain.</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h(n) = rate dasar, lalu naik k per pull setelah soft pity, dan = 1 di hard pity.</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k dicari dengan metode biseksi supaya rata-rata = rate gabungan resmi (k ≈ 5,3% Agent, 5,5% W-Engine).</a:t>
            </a:r>
            <a:endParaRPr lang="en-US" sz="1600" dirty="0"/>
          </a:p>
          <a:p>
            <a:pPr marL="228600" indent="-228600">
              <a:spcAft>
                <a:spcPts val="1200"/>
              </a:spcAft>
              <a:buSzPct val="100000"/>
              <a:buChar char="•"/>
            </a:pPr>
            <a:r>
              <a:rPr lang="en-US" sz="1600" dirty="0">
                <a:solidFill>
                  <a:srgbClr val="E6EDF3"/>
                </a:solidFill>
                <a:latin typeface="Calibri" pitchFamily="34" charset="0"/>
                <a:ea typeface="Calibri" pitchFamily="34" charset="-122"/>
                <a:cs typeface="Calibri" pitchFamily="34" charset="-120"/>
              </a:rPr>
              <a:t>Hasil: peluang pasti dapat S / S rate-up dalam N pull, tanpa simulasi.</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Enam algoritma klasifikasi yang dibandingkan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7</a:t>
            </a:r>
            <a:endParaRPr lang="en-US" sz="1000" dirty="0"/>
          </a:p>
        </p:txBody>
      </p:sp>
      <p:sp>
        <p:nvSpPr>
          <p:cNvPr id="6" name="Shape 4"/>
          <p:cNvSpPr/>
          <p:nvPr/>
        </p:nvSpPr>
        <p:spPr>
          <a:xfrm>
            <a:off x="548640" y="1645920"/>
            <a:ext cx="3566160" cy="2057400"/>
          </a:xfrm>
          <a:prstGeom prst="roundRect">
            <a:avLst>
              <a:gd name="adj" fmla="val 3556"/>
            </a:avLst>
          </a:prstGeom>
          <a:solidFill>
            <a:srgbClr val="1C2230"/>
          </a:solidFill>
          <a:ln w="9525">
            <a:solidFill>
              <a:srgbClr val="30363D"/>
            </a:solidFill>
            <a:prstDash val="solid"/>
          </a:ln>
        </p:spPr>
      </p:sp>
      <p:sp>
        <p:nvSpPr>
          <p:cNvPr id="7" name="Text 5"/>
          <p:cNvSpPr txBox="1"/>
          <p:nvPr/>
        </p:nvSpPr>
        <p:spPr>
          <a:xfrm>
            <a:off x="777240" y="1874520"/>
            <a:ext cx="3108960" cy="411480"/>
          </a:xfrm>
          <a:prstGeom prst="rect">
            <a:avLst/>
          </a:prstGeom>
          <a:noFill/>
          <a:ln/>
        </p:spPr>
        <p:txBody>
          <a:bodyPr wrap="square" lIns="0" tIns="0" rIns="0" bIns="0" rtlCol="0" anchor="t"/>
          <a:lstStyle/>
          <a:p>
            <a:pPr indent="0" marL="0">
              <a:buNone/>
            </a:pPr>
            <a:r>
              <a:rPr lang="en-US" sz="2000" b="1" dirty="0">
                <a:solidFill>
                  <a:srgbClr val="BC8CFF"/>
                </a:solidFill>
                <a:latin typeface="Cambria" pitchFamily="34" charset="0"/>
                <a:ea typeface="Cambria" pitchFamily="34" charset="-122"/>
                <a:cs typeface="Cambria" pitchFamily="34" charset="-120"/>
              </a:rPr>
              <a:t>Naive Bayes</a:t>
            </a:r>
            <a:endParaRPr lang="en-US" sz="2000" dirty="0"/>
          </a:p>
        </p:txBody>
      </p:sp>
      <p:sp>
        <p:nvSpPr>
          <p:cNvPr id="8" name="Text 6"/>
          <p:cNvSpPr txBox="1"/>
          <p:nvPr/>
        </p:nvSpPr>
        <p:spPr>
          <a:xfrm>
            <a:off x="77724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Probabilistik, asumsi fitur saling bebas &amp; berdistribusi normal.</a:t>
            </a:r>
            <a:endParaRPr lang="en-US" sz="1500" dirty="0"/>
          </a:p>
        </p:txBody>
      </p:sp>
      <p:sp>
        <p:nvSpPr>
          <p:cNvPr id="9" name="Shape 7"/>
          <p:cNvSpPr/>
          <p:nvPr/>
        </p:nvSpPr>
        <p:spPr>
          <a:xfrm>
            <a:off x="4297680" y="1645920"/>
            <a:ext cx="3566160" cy="2057400"/>
          </a:xfrm>
          <a:prstGeom prst="roundRect">
            <a:avLst>
              <a:gd name="adj" fmla="val 3556"/>
            </a:avLst>
          </a:prstGeom>
          <a:solidFill>
            <a:srgbClr val="1C2230"/>
          </a:solidFill>
          <a:ln w="9525">
            <a:solidFill>
              <a:srgbClr val="30363D"/>
            </a:solidFill>
            <a:prstDash val="solid"/>
          </a:ln>
        </p:spPr>
      </p:sp>
      <p:sp>
        <p:nvSpPr>
          <p:cNvPr id="10" name="Text 8"/>
          <p:cNvSpPr txBox="1"/>
          <p:nvPr/>
        </p:nvSpPr>
        <p:spPr>
          <a:xfrm>
            <a:off x="4526280" y="1874520"/>
            <a:ext cx="3108960" cy="411480"/>
          </a:xfrm>
          <a:prstGeom prst="rect">
            <a:avLst/>
          </a:prstGeom>
          <a:noFill/>
          <a:ln/>
        </p:spPr>
        <p:txBody>
          <a:bodyPr wrap="square" lIns="0" tIns="0" rIns="0" bIns="0" rtlCol="0" anchor="t"/>
          <a:lstStyle/>
          <a:p>
            <a:pPr indent="0" marL="0">
              <a:buNone/>
            </a:pPr>
            <a:r>
              <a:rPr lang="en-US" sz="2000" b="1" dirty="0">
                <a:solidFill>
                  <a:srgbClr val="FF7EB6"/>
                </a:solidFill>
                <a:latin typeface="Cambria" pitchFamily="34" charset="0"/>
                <a:ea typeface="Cambria" pitchFamily="34" charset="-122"/>
                <a:cs typeface="Cambria" pitchFamily="34" charset="-120"/>
              </a:rPr>
              <a:t>KNN</a:t>
            </a:r>
            <a:endParaRPr lang="en-US" sz="2000" dirty="0"/>
          </a:p>
        </p:txBody>
      </p:sp>
      <p:sp>
        <p:nvSpPr>
          <p:cNvPr id="11" name="Text 9"/>
          <p:cNvSpPr txBox="1"/>
          <p:nvPr/>
        </p:nvSpPr>
        <p:spPr>
          <a:xfrm>
            <a:off x="452628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Menebak dari 101 data latih terdekat (fitur dinormalisasi).</a:t>
            </a:r>
            <a:endParaRPr lang="en-US" sz="1500" dirty="0"/>
          </a:p>
        </p:txBody>
      </p:sp>
      <p:sp>
        <p:nvSpPr>
          <p:cNvPr id="12" name="Shape 10"/>
          <p:cNvSpPr/>
          <p:nvPr/>
        </p:nvSpPr>
        <p:spPr>
          <a:xfrm>
            <a:off x="8046720" y="1645920"/>
            <a:ext cx="3566160" cy="2057400"/>
          </a:xfrm>
          <a:prstGeom prst="roundRect">
            <a:avLst>
              <a:gd name="adj" fmla="val 3556"/>
            </a:avLst>
          </a:prstGeom>
          <a:solidFill>
            <a:srgbClr val="1C2230"/>
          </a:solidFill>
          <a:ln w="9525">
            <a:solidFill>
              <a:srgbClr val="30363D"/>
            </a:solidFill>
            <a:prstDash val="solid"/>
          </a:ln>
        </p:spPr>
      </p:sp>
      <p:sp>
        <p:nvSpPr>
          <p:cNvPr id="13" name="Text 11"/>
          <p:cNvSpPr txBox="1"/>
          <p:nvPr/>
        </p:nvSpPr>
        <p:spPr>
          <a:xfrm>
            <a:off x="8275320" y="1874520"/>
            <a:ext cx="3108960" cy="411480"/>
          </a:xfrm>
          <a:prstGeom prst="rect">
            <a:avLst/>
          </a:prstGeom>
          <a:noFill/>
          <a:ln/>
        </p:spPr>
        <p:txBody>
          <a:bodyPr wrap="square" lIns="0" tIns="0" rIns="0" bIns="0" rtlCol="0" anchor="t"/>
          <a:lstStyle/>
          <a:p>
            <a:pPr indent="0" marL="0">
              <a:buNone/>
            </a:pPr>
            <a:r>
              <a:rPr lang="en-US" sz="2000" b="1" dirty="0">
                <a:solidFill>
                  <a:srgbClr val="58A6FF"/>
                </a:solidFill>
                <a:latin typeface="Cambria" pitchFamily="34" charset="0"/>
                <a:ea typeface="Cambria" pitchFamily="34" charset="-122"/>
                <a:cs typeface="Cambria" pitchFamily="34" charset="-120"/>
              </a:rPr>
              <a:t>Logistic Regression</a:t>
            </a:r>
            <a:endParaRPr lang="en-US" sz="2000" dirty="0"/>
          </a:p>
        </p:txBody>
      </p:sp>
      <p:sp>
        <p:nvSpPr>
          <p:cNvPr id="14" name="Text 12"/>
          <p:cNvSpPr txBox="1"/>
          <p:nvPr/>
        </p:nvSpPr>
        <p:spPr>
          <a:xfrm>
            <a:off x="8275320" y="233172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Kurva sigmoid dari kombinasi linear fitur.</a:t>
            </a:r>
            <a:endParaRPr lang="en-US" sz="1500" dirty="0"/>
          </a:p>
        </p:txBody>
      </p:sp>
      <p:sp>
        <p:nvSpPr>
          <p:cNvPr id="15" name="Shape 13"/>
          <p:cNvSpPr/>
          <p:nvPr/>
        </p:nvSpPr>
        <p:spPr>
          <a:xfrm>
            <a:off x="548640" y="3886200"/>
            <a:ext cx="3566160" cy="2057400"/>
          </a:xfrm>
          <a:prstGeom prst="roundRect">
            <a:avLst>
              <a:gd name="adj" fmla="val 3556"/>
            </a:avLst>
          </a:prstGeom>
          <a:solidFill>
            <a:srgbClr val="1C2230"/>
          </a:solidFill>
          <a:ln w="9525">
            <a:solidFill>
              <a:srgbClr val="30363D"/>
            </a:solidFill>
            <a:prstDash val="solid"/>
          </a:ln>
        </p:spPr>
      </p:sp>
      <p:sp>
        <p:nvSpPr>
          <p:cNvPr id="16" name="Text 14"/>
          <p:cNvSpPr txBox="1"/>
          <p:nvPr/>
        </p:nvSpPr>
        <p:spPr>
          <a:xfrm>
            <a:off x="777240" y="4114800"/>
            <a:ext cx="3108960" cy="411480"/>
          </a:xfrm>
          <a:prstGeom prst="rect">
            <a:avLst/>
          </a:prstGeom>
          <a:noFill/>
          <a:ln/>
        </p:spPr>
        <p:txBody>
          <a:bodyPr wrap="square" lIns="0" tIns="0" rIns="0" bIns="0" rtlCol="0" anchor="t"/>
          <a:lstStyle/>
          <a:p>
            <a:pPr indent="0" marL="0">
              <a:buNone/>
            </a:pPr>
            <a:r>
              <a:rPr lang="en-US" sz="2000" b="1" dirty="0">
                <a:solidFill>
                  <a:srgbClr val="F5A623"/>
                </a:solidFill>
                <a:latin typeface="Cambria" pitchFamily="34" charset="0"/>
                <a:ea typeface="Cambria" pitchFamily="34" charset="-122"/>
                <a:cs typeface="Cambria" pitchFamily="34" charset="-120"/>
              </a:rPr>
              <a:t>Decision Tree</a:t>
            </a:r>
            <a:endParaRPr lang="en-US" sz="2000" dirty="0"/>
          </a:p>
        </p:txBody>
      </p:sp>
      <p:sp>
        <p:nvSpPr>
          <p:cNvPr id="17" name="Text 15"/>
          <p:cNvSpPr txBox="1"/>
          <p:nvPr/>
        </p:nvSpPr>
        <p:spPr>
          <a:xfrm>
            <a:off x="77724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Aturan jika–maka yang mudah dibaca (max depth 6).</a:t>
            </a:r>
            <a:endParaRPr lang="en-US" sz="1500" dirty="0"/>
          </a:p>
        </p:txBody>
      </p:sp>
      <p:sp>
        <p:nvSpPr>
          <p:cNvPr id="18" name="Shape 16"/>
          <p:cNvSpPr/>
          <p:nvPr/>
        </p:nvSpPr>
        <p:spPr>
          <a:xfrm>
            <a:off x="4297680" y="3886200"/>
            <a:ext cx="3566160" cy="2057400"/>
          </a:xfrm>
          <a:prstGeom prst="roundRect">
            <a:avLst>
              <a:gd name="adj" fmla="val 3556"/>
            </a:avLst>
          </a:prstGeom>
          <a:solidFill>
            <a:srgbClr val="1C2230"/>
          </a:solidFill>
          <a:ln w="9525">
            <a:solidFill>
              <a:srgbClr val="30363D"/>
            </a:solidFill>
            <a:prstDash val="solid"/>
          </a:ln>
        </p:spPr>
      </p:sp>
      <p:sp>
        <p:nvSpPr>
          <p:cNvPr id="19" name="Text 17"/>
          <p:cNvSpPr txBox="1"/>
          <p:nvPr/>
        </p:nvSpPr>
        <p:spPr>
          <a:xfrm>
            <a:off x="4526280" y="4114800"/>
            <a:ext cx="3108960" cy="411480"/>
          </a:xfrm>
          <a:prstGeom prst="rect">
            <a:avLst/>
          </a:prstGeom>
          <a:noFill/>
          <a:ln/>
        </p:spPr>
        <p:txBody>
          <a:bodyPr wrap="square" lIns="0" tIns="0" rIns="0" bIns="0" rtlCol="0" anchor="t"/>
          <a:lstStyle/>
          <a:p>
            <a:pPr indent="0" marL="0">
              <a:buNone/>
            </a:pPr>
            <a:r>
              <a:rPr lang="en-US" sz="2000" b="1" dirty="0">
                <a:solidFill>
                  <a:srgbClr val="F85149"/>
                </a:solidFill>
                <a:latin typeface="Cambria" pitchFamily="34" charset="0"/>
                <a:ea typeface="Cambria" pitchFamily="34" charset="-122"/>
                <a:cs typeface="Cambria" pitchFamily="34" charset="-120"/>
              </a:rPr>
              <a:t>Random Forest</a:t>
            </a:r>
            <a:endParaRPr lang="en-US" sz="2000" dirty="0"/>
          </a:p>
        </p:txBody>
      </p:sp>
      <p:sp>
        <p:nvSpPr>
          <p:cNvPr id="20" name="Text 18"/>
          <p:cNvSpPr txBox="1"/>
          <p:nvPr/>
        </p:nvSpPr>
        <p:spPr>
          <a:xfrm>
            <a:off x="452628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150 pohon acak, hasil dirata-rata (bagging).</a:t>
            </a:r>
            <a:endParaRPr lang="en-US" sz="1500" dirty="0"/>
          </a:p>
        </p:txBody>
      </p:sp>
      <p:sp>
        <p:nvSpPr>
          <p:cNvPr id="21" name="Shape 19"/>
          <p:cNvSpPr/>
          <p:nvPr/>
        </p:nvSpPr>
        <p:spPr>
          <a:xfrm>
            <a:off x="8046720" y="3886200"/>
            <a:ext cx="3566160" cy="2057400"/>
          </a:xfrm>
          <a:prstGeom prst="roundRect">
            <a:avLst>
              <a:gd name="adj" fmla="val 3556"/>
            </a:avLst>
          </a:prstGeom>
          <a:solidFill>
            <a:srgbClr val="1C2230"/>
          </a:solidFill>
          <a:ln w="9525">
            <a:solidFill>
              <a:srgbClr val="30363D"/>
            </a:solidFill>
            <a:prstDash val="solid"/>
          </a:ln>
        </p:spPr>
      </p:sp>
      <p:sp>
        <p:nvSpPr>
          <p:cNvPr id="22" name="Text 20"/>
          <p:cNvSpPr txBox="1"/>
          <p:nvPr/>
        </p:nvSpPr>
        <p:spPr>
          <a:xfrm>
            <a:off x="8275320" y="4114800"/>
            <a:ext cx="3108960" cy="411480"/>
          </a:xfrm>
          <a:prstGeom prst="rect">
            <a:avLst/>
          </a:prstGeom>
          <a:noFill/>
          <a:ln/>
        </p:spPr>
        <p:txBody>
          <a:bodyPr wrap="square" lIns="0" tIns="0" rIns="0" bIns="0" rtlCol="0" anchor="t"/>
          <a:lstStyle/>
          <a:p>
            <a:pPr indent="0" marL="0">
              <a:buNone/>
            </a:pPr>
            <a:r>
              <a:rPr lang="en-US" sz="2000" b="1" dirty="0">
                <a:solidFill>
                  <a:srgbClr val="3FB950"/>
                </a:solidFill>
                <a:latin typeface="Cambria" pitchFamily="34" charset="0"/>
                <a:ea typeface="Cambria" pitchFamily="34" charset="-122"/>
                <a:cs typeface="Cambria" pitchFamily="34" charset="-120"/>
              </a:rPr>
              <a:t>XGBoost</a:t>
            </a:r>
            <a:endParaRPr lang="en-US" sz="2000" dirty="0"/>
          </a:p>
        </p:txBody>
      </p:sp>
      <p:sp>
        <p:nvSpPr>
          <p:cNvPr id="23" name="Text 21"/>
          <p:cNvSpPr txBox="1"/>
          <p:nvPr/>
        </p:nvSpPr>
        <p:spPr>
          <a:xfrm>
            <a:off x="8275320" y="4572000"/>
            <a:ext cx="3108960" cy="118872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300 pohon berurutan memperbaiki kesalahan (boosting).</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LANDASAN TEORI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Evaluasi: akurasi saja tidak cukup</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8</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00800" cy="914400"/>
        </p:xfrm>
        <a:graphic>
          <a:graphicData uri="http://schemas.openxmlformats.org/drawingml/2006/table">
            <a:tbl>
              <a:tblPr/>
              <a:tblGrid>
                <a:gridCol w="2194560"/>
                <a:gridCol w="4206240"/>
              </a:tblGrid>
              <a:tr h="502920">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Metrik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Arti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(TP + TN) / semua data</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Precision /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kualitas tebakan pada kelas "dapat 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F1-score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harmonik precision &amp; recall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Balanced 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rata-rata recall dua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kemampuan membedakan kelas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02920">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ketepatan angka peluang (kecil = baik)</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7315200" y="1645920"/>
            <a:ext cx="4297680" cy="4114800"/>
          </a:xfrm>
          <a:prstGeom prst="roundRect">
            <a:avLst>
              <a:gd name="adj" fmla="val 1778"/>
            </a:avLst>
          </a:prstGeom>
          <a:solidFill>
            <a:srgbClr val="1C2230"/>
          </a:solidFill>
          <a:ln w="9525">
            <a:solidFill>
              <a:srgbClr val="30363D"/>
            </a:solidFill>
            <a:prstDash val="solid"/>
          </a:ln>
        </p:spPr>
      </p:sp>
      <p:sp>
        <p:nvSpPr>
          <p:cNvPr id="8" name="Text 5"/>
          <p:cNvSpPr txBox="1"/>
          <p:nvPr/>
        </p:nvSpPr>
        <p:spPr>
          <a:xfrm>
            <a:off x="7543800" y="1874520"/>
            <a:ext cx="384048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Kenapa?</a:t>
            </a:r>
            <a:endParaRPr lang="en-US" sz="1800" dirty="0"/>
          </a:p>
        </p:txBody>
      </p:sp>
      <p:sp>
        <p:nvSpPr>
          <p:cNvPr id="9" name="Text 6"/>
          <p:cNvSpPr txBox="1"/>
          <p:nvPr/>
        </p:nvSpPr>
        <p:spPr>
          <a:xfrm>
            <a:off x="7543800" y="2331720"/>
            <a:ext cx="3840480" cy="324612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Kalau S-Rank hanya ±1,7%, model yang SELALU menebak "tidak dapat S" sudah benar 98% dari waktu. Akurasinya tinggi, tetapi tidak berguna. Karena itu metrik lain wajib ditampilkan, dan semuanya dihitung dari confusion matrix.</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METODE</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Metodologi: CRISP-DM</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9</a:t>
            </a:r>
            <a:endParaRPr lang="en-US" sz="1000" dirty="0"/>
          </a:p>
        </p:txBody>
      </p:sp>
      <p:sp>
        <p:nvSpPr>
          <p:cNvPr id="6" name="Shape 4"/>
          <p:cNvSpPr/>
          <p:nvPr/>
        </p:nvSpPr>
        <p:spPr>
          <a:xfrm>
            <a:off x="548640" y="2103120"/>
            <a:ext cx="1645920" cy="1463040"/>
          </a:xfrm>
          <a:prstGeom prst="roundRect">
            <a:avLst>
              <a:gd name="adj" fmla="val 5000"/>
            </a:avLst>
          </a:prstGeom>
          <a:solidFill>
            <a:srgbClr val="1C2230"/>
          </a:solidFill>
          <a:ln w="12700">
            <a:solidFill>
              <a:srgbClr val="30363D"/>
            </a:solidFill>
            <a:prstDash val="solid"/>
          </a:ln>
        </p:spPr>
      </p:sp>
      <p:sp>
        <p:nvSpPr>
          <p:cNvPr id="7" name="Text 5"/>
          <p:cNvSpPr txBox="1"/>
          <p:nvPr/>
        </p:nvSpPr>
        <p:spPr>
          <a:xfrm>
            <a:off x="5943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Business</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8" name="Text 6"/>
          <p:cNvSpPr txBox="1"/>
          <p:nvPr/>
        </p:nvSpPr>
        <p:spPr>
          <a:xfrm>
            <a:off x="6400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5486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Kebutuhan pemain</a:t>
            </a:r>
            <a:endParaRPr lang="en-US" sz="1300" dirty="0"/>
          </a:p>
        </p:txBody>
      </p:sp>
      <p:sp>
        <p:nvSpPr>
          <p:cNvPr id="10" name="Shape 8"/>
          <p:cNvSpPr/>
          <p:nvPr/>
        </p:nvSpPr>
        <p:spPr>
          <a:xfrm>
            <a:off x="2221992" y="2715768"/>
            <a:ext cx="182880" cy="237744"/>
          </a:xfrm>
          <a:prstGeom prst="rightArrow">
            <a:avLst/>
          </a:prstGeom>
          <a:solidFill>
            <a:srgbClr val="F5A623"/>
          </a:solidFill>
          <a:ln w="12700">
            <a:solidFill>
              <a:srgbClr val="F5A623"/>
            </a:solidFill>
            <a:prstDash val="solid"/>
          </a:ln>
        </p:spPr>
      </p:sp>
      <p:sp>
        <p:nvSpPr>
          <p:cNvPr id="11" name="Shape 9"/>
          <p:cNvSpPr/>
          <p:nvPr/>
        </p:nvSpPr>
        <p:spPr>
          <a:xfrm>
            <a:off x="2423160" y="2103120"/>
            <a:ext cx="1645920" cy="1463040"/>
          </a:xfrm>
          <a:prstGeom prst="roundRect">
            <a:avLst>
              <a:gd name="adj" fmla="val 5000"/>
            </a:avLst>
          </a:prstGeom>
          <a:solidFill>
            <a:srgbClr val="1C2230"/>
          </a:solidFill>
          <a:ln w="12700">
            <a:solidFill>
              <a:srgbClr val="30363D"/>
            </a:solidFill>
            <a:prstDash val="solid"/>
          </a:ln>
        </p:spPr>
      </p:sp>
      <p:sp>
        <p:nvSpPr>
          <p:cNvPr id="12" name="Text 10"/>
          <p:cNvSpPr txBox="1"/>
          <p:nvPr/>
        </p:nvSpPr>
        <p:spPr>
          <a:xfrm>
            <a:off x="246888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Understanding</a:t>
            </a:r>
            <a:endParaRPr lang="en-US" sz="1200" dirty="0"/>
          </a:p>
        </p:txBody>
      </p:sp>
      <p:sp>
        <p:nvSpPr>
          <p:cNvPr id="13" name="Text 11"/>
          <p:cNvSpPr txBox="1"/>
          <p:nvPr/>
        </p:nvSpPr>
        <p:spPr>
          <a:xfrm>
            <a:off x="251460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2</a:t>
            </a:r>
            <a:endParaRPr lang="en-US" sz="1200" dirty="0"/>
          </a:p>
        </p:txBody>
      </p:sp>
      <p:sp>
        <p:nvSpPr>
          <p:cNvPr id="14" name="Text 12"/>
          <p:cNvSpPr txBox="1"/>
          <p:nvPr/>
        </p:nvSpPr>
        <p:spPr>
          <a:xfrm>
            <a:off x="242316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Struktur riwayat gacha</a:t>
            </a:r>
            <a:endParaRPr lang="en-US" sz="1300" dirty="0"/>
          </a:p>
        </p:txBody>
      </p:sp>
      <p:sp>
        <p:nvSpPr>
          <p:cNvPr id="15" name="Shape 13"/>
          <p:cNvSpPr/>
          <p:nvPr/>
        </p:nvSpPr>
        <p:spPr>
          <a:xfrm>
            <a:off x="4096512" y="2715768"/>
            <a:ext cx="182880" cy="237744"/>
          </a:xfrm>
          <a:prstGeom prst="rightArrow">
            <a:avLst/>
          </a:prstGeom>
          <a:solidFill>
            <a:srgbClr val="F5A623"/>
          </a:solidFill>
          <a:ln w="12700">
            <a:solidFill>
              <a:srgbClr val="F5A623"/>
            </a:solidFill>
            <a:prstDash val="solid"/>
          </a:ln>
        </p:spPr>
      </p:sp>
      <p:sp>
        <p:nvSpPr>
          <p:cNvPr id="16" name="Shape 14"/>
          <p:cNvSpPr/>
          <p:nvPr/>
        </p:nvSpPr>
        <p:spPr>
          <a:xfrm>
            <a:off x="4297680" y="2103120"/>
            <a:ext cx="1645920" cy="1463040"/>
          </a:xfrm>
          <a:prstGeom prst="roundRect">
            <a:avLst>
              <a:gd name="adj" fmla="val 5000"/>
            </a:avLst>
          </a:prstGeom>
          <a:solidFill>
            <a:srgbClr val="1C2230"/>
          </a:solidFill>
          <a:ln w="12700">
            <a:solidFill>
              <a:srgbClr val="30363D"/>
            </a:solidFill>
            <a:prstDash val="solid"/>
          </a:ln>
        </p:spPr>
      </p:sp>
      <p:sp>
        <p:nvSpPr>
          <p:cNvPr id="17" name="Text 15"/>
          <p:cNvSpPr txBox="1"/>
          <p:nvPr/>
        </p:nvSpPr>
        <p:spPr>
          <a:xfrm>
            <a:off x="434340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Data</a:t>
            </a:r>
            <a:endParaRPr lang="en-US" sz="1200" dirty="0"/>
          </a:p>
          <a:p>
            <a:pPr algn="ctr" indent="0" marL="0">
              <a:buNone/>
            </a:pPr>
            <a:r>
              <a:rPr lang="en-US" sz="1200" b="1" dirty="0">
                <a:solidFill>
                  <a:srgbClr val="E6EDF3"/>
                </a:solidFill>
                <a:latin typeface="Calibri" pitchFamily="34" charset="0"/>
                <a:ea typeface="Calibri" pitchFamily="34" charset="-122"/>
                <a:cs typeface="Calibri" pitchFamily="34" charset="-120"/>
              </a:rPr>
              <a:t>Preparation</a:t>
            </a:r>
            <a:endParaRPr lang="en-US" sz="1200" dirty="0"/>
          </a:p>
        </p:txBody>
      </p:sp>
      <p:sp>
        <p:nvSpPr>
          <p:cNvPr id="18" name="Text 16"/>
          <p:cNvSpPr txBox="1"/>
          <p:nvPr/>
        </p:nvSpPr>
        <p:spPr>
          <a:xfrm>
            <a:off x="438912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429768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Pity, guaranteed, fitur</a:t>
            </a:r>
            <a:endParaRPr lang="en-US" sz="1300" dirty="0"/>
          </a:p>
        </p:txBody>
      </p:sp>
      <p:sp>
        <p:nvSpPr>
          <p:cNvPr id="20" name="Shape 18"/>
          <p:cNvSpPr/>
          <p:nvPr/>
        </p:nvSpPr>
        <p:spPr>
          <a:xfrm>
            <a:off x="5971032" y="2715768"/>
            <a:ext cx="182880" cy="237744"/>
          </a:xfrm>
          <a:prstGeom prst="rightArrow">
            <a:avLst/>
          </a:prstGeom>
          <a:solidFill>
            <a:srgbClr val="F5A623"/>
          </a:solidFill>
          <a:ln w="12700">
            <a:solidFill>
              <a:srgbClr val="F5A623"/>
            </a:solidFill>
            <a:prstDash val="solid"/>
          </a:ln>
        </p:spPr>
      </p:sp>
      <p:sp>
        <p:nvSpPr>
          <p:cNvPr id="21" name="Shape 19"/>
          <p:cNvSpPr/>
          <p:nvPr/>
        </p:nvSpPr>
        <p:spPr>
          <a:xfrm>
            <a:off x="6172200" y="2103120"/>
            <a:ext cx="1645920" cy="1463040"/>
          </a:xfrm>
          <a:prstGeom prst="roundRect">
            <a:avLst>
              <a:gd name="adj" fmla="val 5000"/>
            </a:avLst>
          </a:prstGeom>
          <a:solidFill>
            <a:srgbClr val="1C2230"/>
          </a:solidFill>
          <a:ln w="12700">
            <a:solidFill>
              <a:srgbClr val="F5A623"/>
            </a:solidFill>
            <a:prstDash val="solid"/>
          </a:ln>
        </p:spPr>
      </p:sp>
      <p:sp>
        <p:nvSpPr>
          <p:cNvPr id="22" name="Text 20"/>
          <p:cNvSpPr txBox="1"/>
          <p:nvPr/>
        </p:nvSpPr>
        <p:spPr>
          <a:xfrm>
            <a:off x="621792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Modeling</a:t>
            </a:r>
            <a:endParaRPr lang="en-US" sz="1200" dirty="0"/>
          </a:p>
        </p:txBody>
      </p:sp>
      <p:sp>
        <p:nvSpPr>
          <p:cNvPr id="23" name="Text 21"/>
          <p:cNvSpPr txBox="1"/>
          <p:nvPr/>
        </p:nvSpPr>
        <p:spPr>
          <a:xfrm>
            <a:off x="626364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4</a:t>
            </a:r>
            <a:endParaRPr lang="en-US" sz="1200" dirty="0"/>
          </a:p>
        </p:txBody>
      </p:sp>
      <p:sp>
        <p:nvSpPr>
          <p:cNvPr id="24" name="Text 22"/>
          <p:cNvSpPr txBox="1"/>
          <p:nvPr/>
        </p:nvSpPr>
        <p:spPr>
          <a:xfrm>
            <a:off x="617220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6 algoritma + Markov</a:t>
            </a:r>
            <a:endParaRPr lang="en-US" sz="1300" dirty="0"/>
          </a:p>
        </p:txBody>
      </p:sp>
      <p:sp>
        <p:nvSpPr>
          <p:cNvPr id="25" name="Shape 23"/>
          <p:cNvSpPr/>
          <p:nvPr/>
        </p:nvSpPr>
        <p:spPr>
          <a:xfrm>
            <a:off x="7845552" y="2715768"/>
            <a:ext cx="182880" cy="237744"/>
          </a:xfrm>
          <a:prstGeom prst="rightArrow">
            <a:avLst/>
          </a:prstGeom>
          <a:solidFill>
            <a:srgbClr val="F5A623"/>
          </a:solidFill>
          <a:ln w="12700">
            <a:solidFill>
              <a:srgbClr val="F5A623"/>
            </a:solidFill>
            <a:prstDash val="solid"/>
          </a:ln>
        </p:spPr>
      </p:sp>
      <p:sp>
        <p:nvSpPr>
          <p:cNvPr id="26" name="Shape 24"/>
          <p:cNvSpPr/>
          <p:nvPr/>
        </p:nvSpPr>
        <p:spPr>
          <a:xfrm>
            <a:off x="8046720" y="2103120"/>
            <a:ext cx="1645920" cy="1463040"/>
          </a:xfrm>
          <a:prstGeom prst="roundRect">
            <a:avLst>
              <a:gd name="adj" fmla="val 5000"/>
            </a:avLst>
          </a:prstGeom>
          <a:solidFill>
            <a:srgbClr val="1C2230"/>
          </a:solidFill>
          <a:ln w="12700">
            <a:solidFill>
              <a:srgbClr val="30363D"/>
            </a:solidFill>
            <a:prstDash val="solid"/>
          </a:ln>
        </p:spPr>
      </p:sp>
      <p:sp>
        <p:nvSpPr>
          <p:cNvPr id="27" name="Text 25"/>
          <p:cNvSpPr txBox="1"/>
          <p:nvPr/>
        </p:nvSpPr>
        <p:spPr>
          <a:xfrm>
            <a:off x="809244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Evaluation</a:t>
            </a:r>
            <a:endParaRPr lang="en-US" sz="1200" dirty="0"/>
          </a:p>
        </p:txBody>
      </p:sp>
      <p:sp>
        <p:nvSpPr>
          <p:cNvPr id="28" name="Text 26"/>
          <p:cNvSpPr txBox="1"/>
          <p:nvPr/>
        </p:nvSpPr>
        <p:spPr>
          <a:xfrm>
            <a:off x="813816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5</a:t>
            </a:r>
            <a:endParaRPr lang="en-US" sz="1200" dirty="0"/>
          </a:p>
        </p:txBody>
      </p:sp>
      <p:sp>
        <p:nvSpPr>
          <p:cNvPr id="29" name="Text 27"/>
          <p:cNvSpPr txBox="1"/>
          <p:nvPr/>
        </p:nvSpPr>
        <p:spPr>
          <a:xfrm>
            <a:off x="804672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5-fold CV + data asli</a:t>
            </a:r>
            <a:endParaRPr lang="en-US" sz="1300" dirty="0"/>
          </a:p>
        </p:txBody>
      </p:sp>
      <p:sp>
        <p:nvSpPr>
          <p:cNvPr id="30" name="Shape 28"/>
          <p:cNvSpPr/>
          <p:nvPr/>
        </p:nvSpPr>
        <p:spPr>
          <a:xfrm>
            <a:off x="9720072" y="2715768"/>
            <a:ext cx="182880" cy="237744"/>
          </a:xfrm>
          <a:prstGeom prst="rightArrow">
            <a:avLst/>
          </a:prstGeom>
          <a:solidFill>
            <a:srgbClr val="F5A623"/>
          </a:solidFill>
          <a:ln w="12700">
            <a:solidFill>
              <a:srgbClr val="F5A623"/>
            </a:solidFill>
            <a:prstDash val="solid"/>
          </a:ln>
        </p:spPr>
      </p:sp>
      <p:sp>
        <p:nvSpPr>
          <p:cNvPr id="31" name="Shape 29"/>
          <p:cNvSpPr/>
          <p:nvPr/>
        </p:nvSpPr>
        <p:spPr>
          <a:xfrm>
            <a:off x="9921240" y="2103120"/>
            <a:ext cx="1645920" cy="1463040"/>
          </a:xfrm>
          <a:prstGeom prst="roundRect">
            <a:avLst>
              <a:gd name="adj" fmla="val 5000"/>
            </a:avLst>
          </a:prstGeom>
          <a:solidFill>
            <a:srgbClr val="1C2230"/>
          </a:solidFill>
          <a:ln w="12700">
            <a:solidFill>
              <a:srgbClr val="30363D"/>
            </a:solidFill>
            <a:prstDash val="solid"/>
          </a:ln>
        </p:spPr>
      </p:sp>
      <p:sp>
        <p:nvSpPr>
          <p:cNvPr id="32" name="Text 30"/>
          <p:cNvSpPr txBox="1"/>
          <p:nvPr/>
        </p:nvSpPr>
        <p:spPr>
          <a:xfrm>
            <a:off x="9966960" y="2194560"/>
            <a:ext cx="1554480" cy="914400"/>
          </a:xfrm>
          <a:prstGeom prst="rect">
            <a:avLst/>
          </a:prstGeom>
          <a:noFill/>
          <a:ln/>
        </p:spPr>
        <p:txBody>
          <a:bodyPr wrap="square" lIns="0" tIns="0" rIns="0" bIns="0" rtlCol="0" anchor="ctr"/>
          <a:lstStyle/>
          <a:p>
            <a:pPr algn="ctr" indent="0" marL="0">
              <a:buNone/>
            </a:pPr>
            <a:r>
              <a:rPr lang="en-US" sz="1200" b="1" dirty="0">
                <a:solidFill>
                  <a:srgbClr val="E6EDF3"/>
                </a:solidFill>
                <a:latin typeface="Calibri" pitchFamily="34" charset="0"/>
                <a:ea typeface="Calibri" pitchFamily="34" charset="-122"/>
                <a:cs typeface="Calibri" pitchFamily="34" charset="-120"/>
              </a:rPr>
              <a:t>Deployment</a:t>
            </a:r>
            <a:endParaRPr lang="en-US" sz="1200" dirty="0"/>
          </a:p>
        </p:txBody>
      </p:sp>
      <p:sp>
        <p:nvSpPr>
          <p:cNvPr id="33" name="Text 31"/>
          <p:cNvSpPr txBox="1"/>
          <p:nvPr/>
        </p:nvSpPr>
        <p:spPr>
          <a:xfrm>
            <a:off x="10012680" y="3154680"/>
            <a:ext cx="1463040" cy="320040"/>
          </a:xfrm>
          <a:prstGeom prst="rect">
            <a:avLst/>
          </a:prstGeom>
          <a:noFill/>
          <a:ln/>
        </p:spPr>
        <p:txBody>
          <a:bodyPr wrap="square" lIns="0" tIns="0" rIns="0" bIns="0" rtlCol="0" anchor="ctr"/>
          <a:lstStyle/>
          <a:p>
            <a:pPr algn="ctr" indent="0" marL="0">
              <a:buNone/>
            </a:pPr>
            <a:r>
              <a:rPr lang="en-US" sz="1200" b="1" dirty="0">
                <a:solidFill>
                  <a:srgbClr val="F5A623"/>
                </a:solidFill>
                <a:latin typeface="Calibri" pitchFamily="34" charset="0"/>
                <a:ea typeface="Calibri" pitchFamily="34" charset="-122"/>
                <a:cs typeface="Calibri" pitchFamily="34" charset="-120"/>
              </a:rPr>
              <a:t>6</a:t>
            </a:r>
            <a:endParaRPr lang="en-US" sz="1200" dirty="0"/>
          </a:p>
        </p:txBody>
      </p:sp>
      <p:sp>
        <p:nvSpPr>
          <p:cNvPr id="34" name="Text 32"/>
          <p:cNvSpPr txBox="1"/>
          <p:nvPr/>
        </p:nvSpPr>
        <p:spPr>
          <a:xfrm>
            <a:off x="9921240" y="3749040"/>
            <a:ext cx="1645920" cy="731520"/>
          </a:xfrm>
          <a:prstGeom prst="rect">
            <a:avLst/>
          </a:prstGeom>
          <a:noFill/>
          <a:ln/>
        </p:spPr>
        <p:txBody>
          <a:bodyPr wrap="square" lIns="0" tIns="0" rIns="0" bIns="0" rtlCol="0" anchor="t"/>
          <a:lstStyle/>
          <a:p>
            <a:pPr algn="ctr" indent="0" marL="0">
              <a:buNone/>
            </a:pPr>
            <a:r>
              <a:rPr lang="en-US" sz="1300" dirty="0">
                <a:solidFill>
                  <a:srgbClr val="A9B4C2"/>
                </a:solidFill>
                <a:latin typeface="Calibri" pitchFamily="34" charset="0"/>
                <a:ea typeface="Calibri" pitchFamily="34" charset="-122"/>
                <a:cs typeface="Calibri" pitchFamily="34" charset="-120"/>
              </a:rPr>
              <a:t>Web Streamlit</a:t>
            </a:r>
            <a:endParaRPr lang="en-US" sz="1300" dirty="0"/>
          </a:p>
        </p:txBody>
      </p:sp>
      <p:sp>
        <p:nvSpPr>
          <p:cNvPr id="35" name="Text 33"/>
          <p:cNvSpPr txBox="1"/>
          <p:nvPr/>
        </p:nvSpPr>
        <p:spPr>
          <a:xfrm>
            <a:off x="548640" y="5029200"/>
            <a:ext cx="10972800" cy="548640"/>
          </a:xfrm>
          <a:prstGeom prst="rect">
            <a:avLst/>
          </a:prstGeom>
          <a:noFill/>
          <a:ln/>
        </p:spPr>
        <p:txBody>
          <a:bodyPr wrap="square" lIns="0" tIns="0" rIns="0" bIns="0" rtlCol="0" anchor="ctr"/>
          <a:lstStyle/>
          <a:p>
            <a:pPr indent="0" marL="0">
              <a:buNone/>
            </a:pPr>
            <a:r>
              <a:rPr lang="en-US" sz="1500" dirty="0">
                <a:solidFill>
                  <a:srgbClr val="A9B4C2"/>
                </a:solidFill>
                <a:latin typeface="Calibri" pitchFamily="34" charset="0"/>
                <a:ea typeface="Calibri" pitchFamily="34" charset="-122"/>
                <a:cs typeface="Calibri" pitchFamily="34" charset="-120"/>
              </a:rPr>
              <a:t>Kerangka standar proses data mining (Chapman et al., 2000), diterapkan dari pemahaman masalah sampai aplikasi web.</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Data: simulasi + data asli pemain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548640" y="1645920"/>
            <a:ext cx="5394960" cy="2194560"/>
          </a:xfrm>
          <a:prstGeom prst="roundRect">
            <a:avLst>
              <a:gd name="adj" fmla="val 3333"/>
            </a:avLst>
          </a:prstGeom>
          <a:solidFill>
            <a:srgbClr val="1C2230"/>
          </a:solidFill>
          <a:ln w="9525">
            <a:solidFill>
              <a:srgbClr val="30363D"/>
            </a:solidFill>
            <a:prstDash val="solid"/>
          </a:ln>
        </p:spPr>
      </p:sp>
      <p:sp>
        <p:nvSpPr>
          <p:cNvPr id="7" name="Text 5"/>
          <p:cNvSpPr txBox="1"/>
          <p:nvPr/>
        </p:nvSpPr>
        <p:spPr>
          <a:xfrm>
            <a:off x="777240" y="1874520"/>
            <a:ext cx="4937760" cy="411480"/>
          </a:xfrm>
          <a:prstGeom prst="rect">
            <a:avLst/>
          </a:prstGeom>
          <a:noFill/>
          <a:ln/>
        </p:spPr>
        <p:txBody>
          <a:bodyPr wrap="square" lIns="0" tIns="0" rIns="0" bIns="0" rtlCol="0" anchor="t"/>
          <a:lstStyle/>
          <a:p>
            <a:pPr indent="0" marL="0">
              <a:buNone/>
            </a:pPr>
            <a:r>
              <a:rPr lang="en-US" sz="1800" b="1" dirty="0">
                <a:solidFill>
                  <a:srgbClr val="58A6FF"/>
                </a:solidFill>
                <a:latin typeface="Cambria" pitchFamily="34" charset="0"/>
                <a:ea typeface="Cambria" pitchFamily="34" charset="-122"/>
                <a:cs typeface="Cambria" pitchFamily="34" charset="-120"/>
              </a:rPr>
              <a:t>Simulasi Monte Carlo</a:t>
            </a:r>
            <a:endParaRPr lang="en-US" sz="1800" dirty="0"/>
          </a:p>
        </p:txBody>
      </p:sp>
      <p:sp>
        <p:nvSpPr>
          <p:cNvPr id="8" name="Text 6"/>
          <p:cNvSpPr txBox="1"/>
          <p:nvPr/>
        </p:nvSpPr>
        <p:spPr>
          <a:xfrm>
            <a:off x="77724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400 akun virtual · ±314 ribu pull · dibangkitkan dari model Markov (seed 42). Dipakai untuk melatih dan menguji.</a:t>
            </a:r>
            <a:endParaRPr lang="en-US" sz="1600" dirty="0"/>
          </a:p>
        </p:txBody>
      </p:sp>
      <p:sp>
        <p:nvSpPr>
          <p:cNvPr id="9" name="Shape 7"/>
          <p:cNvSpPr/>
          <p:nvPr/>
        </p:nvSpPr>
        <p:spPr>
          <a:xfrm>
            <a:off x="6217920" y="1645920"/>
            <a:ext cx="5394960" cy="2194560"/>
          </a:xfrm>
          <a:prstGeom prst="roundRect">
            <a:avLst>
              <a:gd name="adj" fmla="val 3333"/>
            </a:avLst>
          </a:prstGeom>
          <a:solidFill>
            <a:srgbClr val="1C2230"/>
          </a:solidFill>
          <a:ln w="9525">
            <a:solidFill>
              <a:srgbClr val="30363D"/>
            </a:solidFill>
            <a:prstDash val="solid"/>
          </a:ln>
        </p:spPr>
      </p:sp>
      <p:sp>
        <p:nvSpPr>
          <p:cNvPr id="10" name="Text 8"/>
          <p:cNvSpPr txBox="1"/>
          <p:nvPr/>
        </p:nvSpPr>
        <p:spPr>
          <a:xfrm>
            <a:off x="6446520" y="1874520"/>
            <a:ext cx="4937760" cy="411480"/>
          </a:xfrm>
          <a:prstGeom prst="rect">
            <a:avLst/>
          </a:prstGeom>
          <a:noFill/>
          <a:ln/>
        </p:spPr>
        <p:txBody>
          <a:bodyPr wrap="square" lIns="0" tIns="0" rIns="0" bIns="0" rtlCol="0" anchor="t"/>
          <a:lstStyle/>
          <a:p>
            <a:pPr indent="0" marL="0">
              <a:buNone/>
            </a:pPr>
            <a:r>
              <a:rPr lang="en-US" sz="1800" b="1" dirty="0">
                <a:solidFill>
                  <a:srgbClr val="3FB950"/>
                </a:solidFill>
                <a:latin typeface="Cambria" pitchFamily="34" charset="0"/>
                <a:ea typeface="Cambria" pitchFamily="34" charset="-122"/>
                <a:cs typeface="Cambria" pitchFamily="34" charset="-120"/>
              </a:rPr>
              <a:t>Data asli (2 akun)</a:t>
            </a:r>
            <a:endParaRPr lang="en-US" sz="1800" dirty="0"/>
          </a:p>
        </p:txBody>
      </p:sp>
      <p:sp>
        <p:nvSpPr>
          <p:cNvPr id="11" name="Text 9"/>
          <p:cNvSpPr txBox="1"/>
          <p:nvPr/>
        </p:nvSpPr>
        <p:spPr>
          <a:xfrm>
            <a:off x="6446520" y="2331720"/>
            <a:ext cx="4937760" cy="132588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1.424 pull · 21 S-Rank · anonim. Dipakai untuk menguji model, dan dalam eksperimen kedua untuk melatih + menguji sendiri (1.192 baris).</a:t>
            </a:r>
            <a:endParaRPr lang="en-US" sz="1600" dirty="0"/>
          </a:p>
        </p:txBody>
      </p:sp>
      <p:sp>
        <p:nvSpPr>
          <p:cNvPr id="12" name="Text 10"/>
          <p:cNvSpPr txBox="1"/>
          <p:nvPr/>
        </p:nvSpPr>
        <p:spPr>
          <a:xfrm>
            <a:off x="548640" y="4160520"/>
            <a:ext cx="10972800" cy="365760"/>
          </a:xfrm>
          <a:prstGeom prst="rect">
            <a:avLst/>
          </a:prstGeom>
          <a:noFill/>
          <a:ln/>
        </p:spPr>
        <p:txBody>
          <a:bodyPr wrap="square" lIns="0" tIns="0" rIns="0" bIns="0" rtlCol="0" anchor="ctr"/>
          <a:lstStyle/>
          <a:p>
            <a:pPr indent="0" marL="0">
              <a:buNone/>
            </a:pPr>
            <a:r>
              <a:rPr lang="en-US" sz="1600" b="1" dirty="0">
                <a:solidFill>
                  <a:srgbClr val="E6EDF3"/>
                </a:solidFill>
                <a:latin typeface="Calibri" pitchFamily="34" charset="0"/>
                <a:ea typeface="Calibri" pitchFamily="34" charset="-122"/>
                <a:cs typeface="Calibri" pitchFamily="34" charset="-120"/>
              </a:rPr>
              <a:t>Cara ambil data asli:</a:t>
            </a:r>
            <a:endParaRPr lang="en-US" sz="1600" dirty="0"/>
          </a:p>
        </p:txBody>
      </p:sp>
      <p:sp>
        <p:nvSpPr>
          <p:cNvPr id="13" name="Text 11"/>
          <p:cNvSpPr txBox="1"/>
          <p:nvPr/>
        </p:nvSpPr>
        <p:spPr>
          <a:xfrm>
            <a:off x="548640" y="4572000"/>
            <a:ext cx="10972800" cy="1645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Script PowerShell membaca URL riwayat dari cache game di PC (Steam/HoYoPlay) → server HoYoverse</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Upload file UIGF v4 (cocok untuk HP) atau input manual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Pra-pemrosesan: buang duplikat, urutkan per akun, hitung pity &amp; guaranteed, buang segmen pertama yang tidak lengkap</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DATA PREPARATION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Fitur dan target</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11</a:t>
            </a:r>
            <a:endParaRPr lang="en-US" sz="1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035040" cy="914400"/>
        </p:xfrm>
        <a:graphic>
          <a:graphicData uri="http://schemas.openxmlformats.org/drawingml/2006/table">
            <a:tbl>
              <a:tblPr/>
              <a:tblGrid>
                <a:gridCol w="1828800"/>
                <a:gridCol w="4206240"/>
              </a:tblGrid>
              <a:tr h="548640">
                <a:tc>
                  <a:txBody>
                    <a:bodyPr/>
                    <a:lstStyle/>
                    <a:p>
                      <a:pPr algn="l" indent="0" marL="0">
                        <a:buNone/>
                      </a:pPr>
                      <a:r>
                        <a:rPr lang="en-US" sz="1500" b="1" dirty="0">
                          <a:solidFill>
                            <a:srgbClr val="F5A623"/>
                          </a:solidFill>
                          <a:latin typeface="Calibri" pitchFamily="34" charset="0"/>
                          <a:ea typeface="Calibri" pitchFamily="34" charset="-122"/>
                          <a:cs typeface="Calibri" pitchFamily="34" charset="-120"/>
                        </a:rPr>
                        <a:t>Fitur</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500" b="1" dirty="0">
                          <a:solidFill>
                            <a:srgbClr val="F5A623"/>
                          </a:solidFill>
                          <a:latin typeface="Calibri" pitchFamily="34" charset="0"/>
                          <a:ea typeface="Calibri" pitchFamily="34" charset="-122"/>
                          <a:cs typeface="Calibri" pitchFamily="34" charset="-120"/>
                        </a:rPr>
                        <a:t>Keterangan</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pull sejak S-Rank terakhir (0 – 89)</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pity_ratio</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pity ÷ hard pity</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guaranteed</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jika S berikutnya pasti rate-up</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548640">
                <a:tc>
                  <a:txBody>
                    <a:bodyPr/>
                    <a:lstStyle/>
                    <a:p>
                      <a:pPr algn="l" indent="0" marL="0">
                        <a:buNone/>
                      </a:pPr>
                      <a:r>
                        <a:rPr lang="en-US" sz="1500" dirty="0">
                          <a:solidFill>
                            <a:srgbClr val="E6EDF3"/>
                          </a:solidFill>
                          <a:latin typeface="Calibri" pitchFamily="34" charset="0"/>
                          <a:ea typeface="Calibri" pitchFamily="34" charset="-122"/>
                          <a:cs typeface="Calibri" pitchFamily="34" charset="-120"/>
                        </a:rPr>
                        <a:t>is_wengine</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500" dirty="0">
                          <a:solidFill>
                            <a:srgbClr val="E6EDF3"/>
                          </a:solidFill>
                          <a:latin typeface="Calibri" pitchFamily="34" charset="0"/>
                          <a:ea typeface="Calibri" pitchFamily="34" charset="-122"/>
                          <a:cs typeface="Calibri" pitchFamily="34" charset="-120"/>
                        </a:rPr>
                        <a:t>1 = W-Engine, 0 = Agent</a:t>
                      </a:r>
                      <a:endParaRPr lang="en-US" sz="15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7" name="Shape 4"/>
          <p:cNvSpPr/>
          <p:nvPr/>
        </p:nvSpPr>
        <p:spPr>
          <a:xfrm>
            <a:off x="6949440" y="1645920"/>
            <a:ext cx="4663440" cy="1920240"/>
          </a:xfrm>
          <a:prstGeom prst="roundRect">
            <a:avLst>
              <a:gd name="adj" fmla="val 3810"/>
            </a:avLst>
          </a:prstGeom>
          <a:solidFill>
            <a:srgbClr val="1C2230"/>
          </a:solidFill>
          <a:ln w="9525">
            <a:solidFill>
              <a:srgbClr val="30363D"/>
            </a:solidFill>
            <a:prstDash val="solid"/>
          </a:ln>
        </p:spPr>
      </p:sp>
      <p:sp>
        <p:nvSpPr>
          <p:cNvPr id="8" name="Text 5"/>
          <p:cNvSpPr txBox="1"/>
          <p:nvPr/>
        </p:nvSpPr>
        <p:spPr>
          <a:xfrm>
            <a:off x="7178040" y="1874520"/>
            <a:ext cx="4206240" cy="411480"/>
          </a:xfrm>
          <a:prstGeom prst="rect">
            <a:avLst/>
          </a:prstGeom>
          <a:noFill/>
          <a:ln/>
        </p:spPr>
        <p:txBody>
          <a:bodyPr wrap="square" lIns="0" tIns="0" rIns="0" bIns="0" rtlCol="0" anchor="t"/>
          <a:lstStyle/>
          <a:p>
            <a:pPr indent="0" marL="0">
              <a:buNone/>
            </a:pPr>
            <a:r>
              <a:rPr lang="en-US" sz="1800" b="1" dirty="0">
                <a:solidFill>
                  <a:srgbClr val="8B949E"/>
                </a:solidFill>
                <a:latin typeface="Cambria" pitchFamily="34" charset="0"/>
                <a:ea typeface="Cambria" pitchFamily="34" charset="-122"/>
                <a:cs typeface="Cambria" pitchFamily="34" charset="-120"/>
              </a:rPr>
              <a:t>Tugas A</a:t>
            </a:r>
            <a:endParaRPr lang="en-US" sz="1800" dirty="0"/>
          </a:p>
        </p:txBody>
      </p:sp>
      <p:sp>
        <p:nvSpPr>
          <p:cNvPr id="9" name="Text 6"/>
          <p:cNvSpPr txBox="1"/>
          <p:nvPr/>
        </p:nvSpPr>
        <p:spPr>
          <a:xfrm>
            <a:off x="7178040" y="233172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di pull berikutnya? Kelas positif ±1,7%.</a:t>
            </a:r>
            <a:endParaRPr lang="en-US" sz="1600" dirty="0"/>
          </a:p>
        </p:txBody>
      </p:sp>
      <p:sp>
        <p:nvSpPr>
          <p:cNvPr id="10" name="Shape 7"/>
          <p:cNvSpPr/>
          <p:nvPr/>
        </p:nvSpPr>
        <p:spPr>
          <a:xfrm>
            <a:off x="6949440" y="3794760"/>
            <a:ext cx="4663440" cy="1920240"/>
          </a:xfrm>
          <a:prstGeom prst="roundRect">
            <a:avLst>
              <a:gd name="adj" fmla="val 3810"/>
            </a:avLst>
          </a:prstGeom>
          <a:solidFill>
            <a:srgbClr val="1C2230"/>
          </a:solidFill>
          <a:ln w="9525">
            <a:solidFill>
              <a:srgbClr val="30363D"/>
            </a:solidFill>
            <a:prstDash val="solid"/>
          </a:ln>
        </p:spPr>
      </p:sp>
      <p:sp>
        <p:nvSpPr>
          <p:cNvPr id="11" name="Text 8"/>
          <p:cNvSpPr txBox="1"/>
          <p:nvPr/>
        </p:nvSpPr>
        <p:spPr>
          <a:xfrm>
            <a:off x="7178040" y="4023360"/>
            <a:ext cx="420624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Tugas B (utama)</a:t>
            </a:r>
            <a:endParaRPr lang="en-US" sz="1800" dirty="0"/>
          </a:p>
        </p:txBody>
      </p:sp>
      <p:sp>
        <p:nvSpPr>
          <p:cNvPr id="12" name="Text 9"/>
          <p:cNvSpPr txBox="1"/>
          <p:nvPr/>
        </p:nvSpPr>
        <p:spPr>
          <a:xfrm>
            <a:off x="7178040" y="4480560"/>
            <a:ext cx="4206240" cy="1051560"/>
          </a:xfrm>
          <a:prstGeom prst="rect">
            <a:avLst/>
          </a:prstGeom>
          <a:noFill/>
          <a:ln/>
        </p:spPr>
        <p:txBody>
          <a:bodyPr wrap="square" lIns="0" tIns="0" rIns="0" bIns="0" rtlCol="0" anchor="t"/>
          <a:lstStyle/>
          <a:p>
            <a:pPr indent="0" marL="0">
              <a:spcAft>
                <a:spcPts val="400"/>
              </a:spcAft>
              <a:buNone/>
            </a:pPr>
            <a:r>
              <a:rPr lang="en-US" sz="1600" dirty="0">
                <a:solidFill>
                  <a:srgbClr val="A9B4C2"/>
                </a:solidFill>
                <a:latin typeface="Calibri" pitchFamily="34" charset="0"/>
                <a:ea typeface="Calibri" pitchFamily="34" charset="-122"/>
                <a:cs typeface="Calibri" pitchFamily="34" charset="-120"/>
              </a:rPr>
              <a:t>Dapat S-Rank dalam 10 pull berikutnya (1x ten-pull)? Kelas positif ±16,6%.</a:t>
            </a:r>
            <a:endParaRPr lang="en-US" sz="1600" dirty="0"/>
          </a:p>
        </p:txBody>
      </p:sp>
      <p:sp>
        <p:nvSpPr>
          <p:cNvPr id="13" name="Text 10"/>
          <p:cNvSpPr txBox="1"/>
          <p:nvPr/>
        </p:nvSpPr>
        <p:spPr>
          <a:xfrm>
            <a:off x="548640" y="4754880"/>
            <a:ext cx="6035040" cy="82296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Semua fitur diketahui SEBELUM pull dilakukan → tidak ada kebocoran data.</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Import Data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12</a:t>
            </a:r>
            <a:endParaRPr lang="en-US" sz="1000" dirty="0"/>
          </a:p>
        </p:txBody>
      </p:sp>
      <p:pic>
        <p:nvPicPr>
          <p:cNvPr id="6" name="Image 0" descr="app_import.png">    </p:cNvPr>
          <p:cNvPicPr>
            <a:picLocks noChangeAspect="1"/>
          </p:cNvPicPr>
          <p:nvPr/>
        </p:nvPicPr>
        <p:blipFill>
          <a:blip r:embed="rId1"/>
          <a:stretch>
            <a:fillRect/>
          </a:stretch>
        </p:blipFill>
        <p:spPr>
          <a:xfrm>
            <a:off x="1571954" y="1463040"/>
            <a:ext cx="3805531"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URL dari script PowerShell (PC)</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Upload file UIGF v4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Input manual pity (HP)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Data contoh untuk yang tidak punya game</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authkey tidak disimpan; riwayat hanya ada di sesi browser</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IMPLEMENTASI</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Aplikasi: Kalkulator Peluang</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13</a:t>
            </a:r>
            <a:endParaRPr lang="en-US" sz="1000" dirty="0"/>
          </a:p>
        </p:txBody>
      </p:sp>
      <p:pic>
        <p:nvPicPr>
          <p:cNvPr id="6" name="Image 0" descr="app_kalkulator_top.png">    </p:cNvPr>
          <p:cNvPicPr>
            <a:picLocks noChangeAspect="1"/>
          </p:cNvPicPr>
          <p:nvPr/>
        </p:nvPicPr>
        <p:blipFill>
          <a:blip r:embed="rId1"/>
          <a:stretch>
            <a:fillRect/>
          </a:stretch>
        </p:blipFill>
        <p:spPr>
          <a:xfrm>
            <a:off x="1734503" y="1463040"/>
            <a:ext cx="3480435" cy="4800600"/>
          </a:xfrm>
          <a:prstGeom prst="rect">
            <a:avLst/>
          </a:prstGeom>
        </p:spPr>
      </p:pic>
      <p:sp>
        <p:nvSpPr>
          <p:cNvPr id="7" name="Text 4"/>
          <p:cNvSpPr txBox="1"/>
          <p:nvPr/>
        </p:nvSpPr>
        <p:spPr>
          <a:xfrm>
            <a:off x="6675120" y="1737360"/>
            <a:ext cx="4937760" cy="43891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Peluang dapat S / S rate-up dalam N pull (Markov Chain, eksak)</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Rata-rata &amp; paling sial sampai S rate-up</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Konversi Polychrome → jumlah pull</a:t>
            </a:r>
            <a:endParaRPr lang="en-US" sz="1600" dirty="0"/>
          </a:p>
          <a:p>
            <a:pPr marL="228600" indent="-228600">
              <a:spcAft>
                <a:spcPts val="1000"/>
              </a:spcAft>
              <a:buSzPct val="100000"/>
              <a:buChar char="•"/>
            </a:pPr>
            <a:r>
              <a:rPr lang="en-US" sz="1600" dirty="0">
                <a:solidFill>
                  <a:srgbClr val="E6EDF3"/>
                </a:solidFill>
                <a:latin typeface="Calibri" pitchFamily="34" charset="0"/>
                <a:ea typeface="Calibri" pitchFamily="34" charset="-122"/>
                <a:cs typeface="Calibri" pitchFamily="34" charset="-120"/>
              </a:rPr>
              <a:t>Prediksi 6 algoritma untuk 1 pull &amp; 10 pull</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Validasi dengan akun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14</a:t>
            </a:r>
            <a:endParaRPr lang="en-US" sz="1000" dirty="0"/>
          </a:p>
        </p:txBody>
      </p:sp>
      <p:sp>
        <p:nvSpPr>
          <p:cNvPr id="6" name="Text 4"/>
          <p:cNvSpPr txBox="1"/>
          <p:nvPr/>
        </p:nvSpPr>
        <p:spPr>
          <a:xfrm>
            <a:off x="548640" y="1828800"/>
            <a:ext cx="347472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70 / 90</a:t>
            </a:r>
            <a:endParaRPr lang="en-US" sz="5400" dirty="0"/>
          </a:p>
        </p:txBody>
      </p:sp>
      <p:sp>
        <p:nvSpPr>
          <p:cNvPr id="7" name="Text 5"/>
          <p:cNvSpPr txBox="1"/>
          <p:nvPr/>
        </p:nvSpPr>
        <p:spPr>
          <a:xfrm>
            <a:off x="54864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Agent dihitung aplikasi = di game</a:t>
            </a:r>
            <a:endParaRPr lang="en-US" sz="1400" dirty="0"/>
          </a:p>
        </p:txBody>
      </p:sp>
      <p:sp>
        <p:nvSpPr>
          <p:cNvPr id="8" name="Text 6"/>
          <p:cNvSpPr txBox="1"/>
          <p:nvPr/>
        </p:nvSpPr>
        <p:spPr>
          <a:xfrm>
            <a:off x="4343400" y="1828800"/>
            <a:ext cx="3474720" cy="914400"/>
          </a:xfrm>
          <a:prstGeom prst="rect">
            <a:avLst/>
          </a:prstGeom>
          <a:noFill/>
          <a:ln/>
        </p:spPr>
        <p:txBody>
          <a:bodyPr wrap="square" lIns="0" tIns="0" rIns="0" bIns="0" rtlCol="0" anchor="ctr"/>
          <a:lstStyle/>
          <a:p>
            <a:pPr indent="0" marL="0">
              <a:buNone/>
            </a:pPr>
            <a:r>
              <a:rPr lang="en-US" sz="5400" b="1" dirty="0">
                <a:solidFill>
                  <a:srgbClr val="58A6FF"/>
                </a:solidFill>
                <a:latin typeface="Cambria" pitchFamily="34" charset="0"/>
                <a:ea typeface="Cambria" pitchFamily="34" charset="-122"/>
                <a:cs typeface="Cambria" pitchFamily="34" charset="-120"/>
              </a:rPr>
              <a:t>46 / 80</a:t>
            </a:r>
            <a:endParaRPr lang="en-US" sz="5400" dirty="0"/>
          </a:p>
        </p:txBody>
      </p:sp>
      <p:sp>
        <p:nvSpPr>
          <p:cNvPr id="9" name="Text 7"/>
          <p:cNvSpPr txBox="1"/>
          <p:nvPr/>
        </p:nvSpPr>
        <p:spPr>
          <a:xfrm>
            <a:off x="434340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pity W-Engine + guaranteed = di game</a:t>
            </a:r>
            <a:endParaRPr lang="en-US" sz="1400" dirty="0"/>
          </a:p>
        </p:txBody>
      </p:sp>
      <p:sp>
        <p:nvSpPr>
          <p:cNvPr id="10" name="Text 8"/>
          <p:cNvSpPr txBox="1"/>
          <p:nvPr/>
        </p:nvSpPr>
        <p:spPr>
          <a:xfrm>
            <a:off x="8138160" y="1828800"/>
            <a:ext cx="3474720" cy="914400"/>
          </a:xfrm>
          <a:prstGeom prst="rect">
            <a:avLst/>
          </a:prstGeom>
          <a:noFill/>
          <a:ln/>
        </p:spPr>
        <p:txBody>
          <a:bodyPr wrap="square" lIns="0" tIns="0" rIns="0" bIns="0" rtlCol="0" anchor="ctr"/>
          <a:lstStyle/>
          <a:p>
            <a:pPr indent="0" marL="0">
              <a:buNone/>
            </a:pPr>
            <a:r>
              <a:rPr lang="en-US" sz="5400" b="1" dirty="0">
                <a:solidFill>
                  <a:srgbClr val="3FB950"/>
                </a:solidFill>
                <a:latin typeface="Cambria" pitchFamily="34" charset="0"/>
                <a:ea typeface="Cambria" pitchFamily="34" charset="-122"/>
                <a:cs typeface="Cambria" pitchFamily="34" charset="-120"/>
              </a:rPr>
              <a:t>87 / 87</a:t>
            </a:r>
            <a:endParaRPr lang="en-US" sz="5400" dirty="0"/>
          </a:p>
        </p:txBody>
      </p:sp>
      <p:sp>
        <p:nvSpPr>
          <p:cNvPr id="11" name="Text 9"/>
          <p:cNvSpPr txBox="1"/>
          <p:nvPr/>
        </p:nvSpPr>
        <p:spPr>
          <a:xfrm>
            <a:off x="8138160" y="2788920"/>
            <a:ext cx="347472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test otomatis lolos (pytest + GitHub Actions)</a:t>
            </a:r>
            <a:endParaRPr lang="en-US" sz="1400" dirty="0"/>
          </a:p>
        </p:txBody>
      </p:sp>
      <p:sp>
        <p:nvSpPr>
          <p:cNvPr id="12" name="Text 10"/>
          <p:cNvSpPr txBox="1"/>
          <p:nvPr/>
        </p:nvSpPr>
        <p:spPr>
          <a:xfrm>
            <a:off x="548640" y="4206240"/>
            <a:ext cx="10972800" cy="822960"/>
          </a:xfrm>
          <a:prstGeom prst="rect">
            <a:avLst/>
          </a:prstGeom>
          <a:noFill/>
          <a:ln/>
        </p:spPr>
        <p:txBody>
          <a:bodyPr wrap="square" lIns="0" tIns="0" rIns="0" bIns="0" rtlCol="0" anchor="t"/>
          <a:lstStyle/>
          <a:p>
            <a:pPr indent="0" marL="0">
              <a:buNone/>
            </a:pPr>
            <a:r>
              <a:rPr lang="en-US" sz="1800" dirty="0">
                <a:solidFill>
                  <a:srgbClr val="A9B4C2"/>
                </a:solidFill>
                <a:latin typeface="Calibri" pitchFamily="34" charset="0"/>
                <a:ea typeface="Calibri" pitchFamily="34" charset="-122"/>
                <a:cs typeface="Calibri" pitchFamily="34" charset="-120"/>
              </a:rPr>
              <a:t>Pengambilan data, perhitungan pity, dan deteksi 50/50 terbukti benar dengan data game sungguhan (versi Steam).</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A: jebakan akurasi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15</a:t>
            </a:r>
            <a:endParaRPr lang="en-US" sz="1000" dirty="0"/>
          </a:p>
        </p:txBody>
      </p:sp>
      <p:sp>
        <p:nvSpPr>
          <p:cNvPr id="6" name="Text 4"/>
          <p:cNvSpPr txBox="1"/>
          <p:nvPr/>
        </p:nvSpPr>
        <p:spPr>
          <a:xfrm>
            <a:off x="548640" y="1737360"/>
            <a:ext cx="4114800" cy="914400"/>
          </a:xfrm>
          <a:prstGeom prst="rect">
            <a:avLst/>
          </a:prstGeom>
          <a:noFill/>
          <a:ln/>
        </p:spPr>
        <p:txBody>
          <a:bodyPr wrap="square" lIns="0" tIns="0" rIns="0" bIns="0" rtlCol="0" anchor="ctr"/>
          <a:lstStyle/>
          <a:p>
            <a:pPr indent="0" marL="0">
              <a:buNone/>
            </a:pPr>
            <a:r>
              <a:rPr lang="en-US" sz="5400" b="1" dirty="0">
                <a:solidFill>
                  <a:srgbClr val="F5A623"/>
                </a:solidFill>
                <a:latin typeface="Cambria" pitchFamily="34" charset="0"/>
                <a:ea typeface="Cambria" pitchFamily="34" charset="-122"/>
                <a:cs typeface="Cambria" pitchFamily="34" charset="-120"/>
              </a:rPr>
              <a:t>98,3%</a:t>
            </a:r>
            <a:endParaRPr lang="en-US" sz="5400" dirty="0"/>
          </a:p>
        </p:txBody>
      </p:sp>
      <p:sp>
        <p:nvSpPr>
          <p:cNvPr id="7" name="Text 5"/>
          <p:cNvSpPr txBox="1"/>
          <p:nvPr/>
        </p:nvSpPr>
        <p:spPr>
          <a:xfrm>
            <a:off x="548640" y="2697480"/>
            <a:ext cx="4114800" cy="640080"/>
          </a:xfrm>
          <a:prstGeom prst="rect">
            <a:avLst/>
          </a:prstGeom>
          <a:noFill/>
          <a:ln/>
        </p:spPr>
        <p:txBody>
          <a:bodyPr wrap="square" lIns="0" tIns="0" rIns="0" bIns="0" rtlCol="0" anchor="t"/>
          <a:lstStyle/>
          <a:p>
            <a:pPr indent="0" marL="0">
              <a:buNone/>
            </a:pPr>
            <a:r>
              <a:rPr lang="en-US" sz="1400" dirty="0">
                <a:solidFill>
                  <a:srgbClr val="A9B4C2"/>
                </a:solidFill>
                <a:latin typeface="Calibri" pitchFamily="34" charset="0"/>
                <a:ea typeface="Calibri" pitchFamily="34" charset="-122"/>
                <a:cs typeface="Calibri" pitchFamily="34" charset="-120"/>
              </a:rPr>
              <a:t>akurasi model yang SELALU menebak "tidak dapat S"</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120640" y="1645920"/>
          <a:ext cx="6492240" cy="914400"/>
        </p:xfrm>
        <a:graphic>
          <a:graphicData uri="http://schemas.openxmlformats.org/drawingml/2006/table">
            <a:tbl>
              <a:tblPr/>
              <a:tblGrid>
                <a:gridCol w="2651760"/>
                <a:gridCol w="1280160"/>
                <a:gridCol w="1280160"/>
                <a:gridCol w="1280160"/>
              </a:tblGrid>
              <a:tr h="438912">
                <a:tc>
                  <a:txBody>
                    <a:bodyPr/>
                    <a:lstStyle/>
                    <a:p>
                      <a:pPr algn="l" indent="0" marL="0">
                        <a:buNone/>
                      </a:pPr>
                      <a:r>
                        <a:rPr lang="en-US" sz="1300" b="1" dirty="0">
                          <a:solidFill>
                            <a:srgbClr val="F5A623"/>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Accuracy</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Bal. Acc.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300" b="1" dirty="0">
                          <a:solidFill>
                            <a:srgbClr val="F5A623"/>
                          </a:solidFill>
                          <a:latin typeface="Calibri" pitchFamily="34" charset="0"/>
                          <a:ea typeface="Calibri" pitchFamily="34" charset="-122"/>
                          <a:cs typeface="Calibri" pitchFamily="34" charset="-120"/>
                        </a:rPr>
                        <a:t>ROC-AUC</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Baseline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Markov (teori)</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0,5184</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0,7890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0,7563</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KNN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0,7728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0,5000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0,7578</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Decision Tree</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0,5136</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0,7889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0,9830</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0,5151</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0,7877</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38912">
                <a:tc>
                  <a:txBody>
                    <a:bodyPr/>
                    <a:lstStyle/>
                    <a:p>
                      <a:pPr algn="l" indent="0" marL="0">
                        <a:buNone/>
                      </a:pPr>
                      <a:r>
                        <a:rPr lang="en-US" sz="1300" dirty="0">
                          <a:solidFill>
                            <a:srgbClr val="E6EDF3"/>
                          </a:solidFill>
                          <a:latin typeface="Calibri" pitchFamily="34" charset="0"/>
                          <a:ea typeface="Calibri" pitchFamily="34" charset="-122"/>
                          <a:cs typeface="Calibri" pitchFamily="34" charset="-120"/>
                        </a:rPr>
                        <a:t>XGBoost</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0,9829</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0,5162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300" dirty="0">
                          <a:solidFill>
                            <a:srgbClr val="E6EDF3"/>
                          </a:solidFill>
                          <a:latin typeface="Calibri" pitchFamily="34" charset="0"/>
                          <a:ea typeface="Calibri" pitchFamily="34" charset="-122"/>
                          <a:cs typeface="Calibri" pitchFamily="34" charset="-120"/>
                        </a:rPr>
                        <a:t>0,7862</a:t>
                      </a:r>
                      <a:endParaRPr lang="en-US" sz="13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bl>
          </a:graphicData>
        </a:graphic>
      </p:graphicFrame>
      <p:sp>
        <p:nvSpPr>
          <p:cNvPr id="9" name="Text 6"/>
          <p:cNvSpPr txBox="1"/>
          <p:nvPr/>
        </p:nvSpPr>
        <p:spPr>
          <a:xfrm>
            <a:off x="548640" y="3840480"/>
            <a:ext cx="4206240" cy="1828800"/>
          </a:xfrm>
          <a:prstGeom prst="rect">
            <a:avLst/>
          </a:prstGeom>
          <a:noFill/>
          <a:ln/>
        </p:spPr>
        <p:txBody>
          <a:bodyPr wrap="square" lIns="0" tIns="0" rIns="0" bIns="0" rtlCol="0" anchor="t"/>
          <a:lstStyle/>
          <a:p>
            <a:pPr indent="0" marL="0">
              <a:buNone/>
            </a:pPr>
            <a:r>
              <a:rPr lang="en-US" sz="1600" dirty="0">
                <a:solidFill>
                  <a:srgbClr val="A9B4C2"/>
                </a:solidFill>
                <a:latin typeface="Calibri" pitchFamily="34" charset="0"/>
                <a:ea typeface="Calibri" pitchFamily="34" charset="-122"/>
                <a:cs typeface="Calibri" pitchFamily="34" charset="-120"/>
              </a:rPr>
              <a:t>Semua model ±98,3% → akurasi tidak bisa membedakan model. Perbedaan baru terlihat di ROC-AUC &amp; Log Loss.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akurasi 6 algoritma</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16</a:t>
            </a:r>
            <a:endParaRPr lang="en-US" sz="1000" dirty="0"/>
          </a:p>
        </p:txBody>
      </p:sp>
      <p:graphicFrame>
        <p:nvGraphicFramePr>
          <p:cNvPr id="6" name="Chart 0" descr=""/>
          <p:cNvGraphicFramePr/>
          <p:nvPr/>
        </p:nvGraphicFramePr>
        <p:xfrm>
          <a:off x="548640" y="1554480"/>
          <a:ext cx="110642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Tugas B: metrik lengkap (cross-validation)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3291840"/>
                <a:gridCol w="1554480"/>
                <a:gridCol w="1554480"/>
                <a:gridCol w="1554480"/>
                <a:gridCol w="1554480"/>
                <a:gridCol w="1554480"/>
              </a:tblGrid>
              <a:tr h="475488">
                <a:tc>
                  <a:txBody>
                    <a:bodyPr/>
                    <a:lstStyle/>
                    <a:p>
                      <a:pPr algn="l" indent="0" marL="0">
                        <a:buNone/>
                      </a:pPr>
                      <a:r>
                        <a:rPr lang="en-US" sz="1400" b="1" dirty="0">
                          <a:solidFill>
                            <a:srgbClr val="F5A623"/>
                          </a:solidFill>
                          <a:latin typeface="Calibri" pitchFamily="34" charset="0"/>
                          <a:ea typeface="Calibri" pitchFamily="34" charset="-122"/>
                          <a:cs typeface="Calibri" pitchFamily="34" charset="-120"/>
                        </a:rPr>
                        <a:t>Model</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Accuracy</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Bal. Acc.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F1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ROC-AUC</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c>
                  <a:txBody>
                    <a:bodyPr/>
                    <a:lstStyle/>
                    <a:p>
                      <a:pPr algn="ctr" indent="0" marL="0">
                        <a:buNone/>
                      </a:pPr>
                      <a:r>
                        <a:rPr lang="en-US" sz="1400" b="1" dirty="0">
                          <a:solidFill>
                            <a:srgbClr val="F5A623"/>
                          </a:solidFill>
                          <a:latin typeface="Calibri" pitchFamily="34" charset="0"/>
                          <a:ea typeface="Calibri" pitchFamily="34" charset="-122"/>
                          <a:cs typeface="Calibri" pitchFamily="34" charset="-120"/>
                        </a:rPr>
                        <a:t>Log Loss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61B22"/>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0,8337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0,0000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0,5000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2,6804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Markov (teori)</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0E1117"/>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Naive Bayes</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0,8572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0,5855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0,3844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KNN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0,7598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0,6654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0,8072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0,2866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Logistic Regression</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0,8888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0,5010</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0,7895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0,3625</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1C2230"/>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Decision Tree</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0,6671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0,8117</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Random Forest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0,7612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0,6669</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0,8102</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r h="475488">
                <a:tc>
                  <a:txBody>
                    <a:bodyPr/>
                    <a:lstStyle/>
                    <a:p>
                      <a:pPr algn="l" indent="0" marL="0">
                        <a:buNone/>
                      </a:pPr>
                      <a:r>
                        <a:rPr lang="en-US" sz="1400" dirty="0">
                          <a:solidFill>
                            <a:srgbClr val="E6EDF3"/>
                          </a:solidFill>
                          <a:latin typeface="Calibri" pitchFamily="34" charset="0"/>
                          <a:ea typeface="Calibri" pitchFamily="34" charset="-122"/>
                          <a:cs typeface="Calibri" pitchFamily="34" charset="-120"/>
                        </a:rPr>
                        <a:t>XGBoost</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0,9108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0,7604</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0,6661</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0,8098</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c>
                  <a:txBody>
                    <a:bodyPr/>
                    <a:lstStyle/>
                    <a:p>
                      <a:pPr algn="ctr" indent="0" marL="0">
                        <a:buNone/>
                      </a:pPr>
                      <a:r>
                        <a:rPr lang="en-US" sz="1400" dirty="0">
                          <a:solidFill>
                            <a:srgbClr val="E6EDF3"/>
                          </a:solidFill>
                          <a:latin typeface="Calibri" pitchFamily="34" charset="0"/>
                          <a:ea typeface="Calibri" pitchFamily="34" charset="-122"/>
                          <a:cs typeface="Calibri" pitchFamily="34" charset="-120"/>
                        </a:rPr>
                        <a:t>0,2816</a:t>
                      </a:r>
                      <a:endParaRPr lang="en-US" sz="1400" dirty="0">
                        <a:latin typeface="Calibri" charset="0"/>
                        <a:ea typeface="Calibri" charset="0"/>
                        <a:cs typeface="Calibri" charset="0"/>
                      </a:endParaRPr>
                    </a:p>
                  </a:txBody>
                  <a:tcPr marL="76200" marR="76200" marT="38100" marB="38100" anchor="ctr">
                    <a:lnL w="6350" cap="flat" cmpd="sng" algn="ctr">
                      <a:solidFill>
                        <a:srgbClr val="30363D"/>
                      </a:solidFill>
                      <a:prstDash val="solid"/>
                      <a:round/>
                      <a:headEnd type="none" w="med" len="med"/>
                      <a:tailEnd type="none" w="med" len="med"/>
                    </a:lnL>
                    <a:lnR w="6350" cap="flat" cmpd="sng" algn="ctr">
                      <a:solidFill>
                        <a:srgbClr val="30363D"/>
                      </a:solidFill>
                      <a:prstDash val="solid"/>
                      <a:round/>
                      <a:headEnd type="none" w="med" len="med"/>
                      <a:tailEnd type="none" w="med" len="med"/>
                    </a:lnR>
                    <a:lnT w="6350" cap="flat" cmpd="sng" algn="ctr">
                      <a:solidFill>
                        <a:srgbClr val="30363D"/>
                      </a:solidFill>
                      <a:prstDash val="solid"/>
                      <a:round/>
                      <a:headEnd type="none" w="med" len="med"/>
                      <a:tailEnd type="none" w="med" len="med"/>
                    </a:lnT>
                    <a:lnB w="6350" cap="flat" cmpd="sng" algn="ctr">
                      <a:solidFill>
                        <a:srgbClr val="30363D"/>
                      </a:solidFill>
                      <a:prstDash val="solid"/>
                      <a:round/>
                      <a:headEnd type="none" w="med" len="med"/>
                      <a:tailEnd type="none" w="med" len="med"/>
                    </a:lnB>
                    <a:solidFill>
                      <a:srgbClr val="2A2414"/>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HASIL · EKSPERIMEN KEDUA</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Latih &amp; uji hanya dengan data asli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18</a:t>
            </a:r>
            <a:endParaRPr lang="en-US" sz="1000" dirty="0"/>
          </a:p>
        </p:txBody>
      </p:sp>
      <p:graphicFrame>
        <p:nvGraphicFramePr>
          <p:cNvPr id="6" name="Chart 0" descr=""/>
          <p:cNvGraphicFramePr/>
          <p:nvPr/>
        </p:nvGraphicFramePr>
        <p:xfrm>
          <a:off x="548640" y="1554480"/>
          <a:ext cx="7680960" cy="46634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503920" y="1645920"/>
            <a:ext cx="3108960" cy="2286000"/>
          </a:xfrm>
          <a:prstGeom prst="roundRect">
            <a:avLst>
              <a:gd name="adj" fmla="val 3200"/>
            </a:avLst>
          </a:prstGeom>
          <a:solidFill>
            <a:srgbClr val="1C2230"/>
          </a:solidFill>
          <a:ln w="9525">
            <a:solidFill>
              <a:srgbClr val="30363D"/>
            </a:solidFill>
            <a:prstDash val="solid"/>
          </a:ln>
        </p:spPr>
      </p:sp>
      <p:sp>
        <p:nvSpPr>
          <p:cNvPr id="8" name="Text 5"/>
          <p:cNvSpPr txBox="1"/>
          <p:nvPr/>
        </p:nvSpPr>
        <p:spPr>
          <a:xfrm>
            <a:off x="8732520" y="1874520"/>
            <a:ext cx="265176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Tetap konsisten</a:t>
            </a:r>
            <a:endParaRPr lang="en-US" sz="1800" dirty="0"/>
          </a:p>
        </p:txBody>
      </p:sp>
      <p:sp>
        <p:nvSpPr>
          <p:cNvPr id="9" name="Text 6"/>
          <p:cNvSpPr txBox="1"/>
          <p:nvPr/>
        </p:nvSpPr>
        <p:spPr>
          <a:xfrm>
            <a:off x="8732520" y="2331720"/>
            <a:ext cx="2651760" cy="141732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Decision Tree 93,0%, Random Forest 92,9%, XGBoost 92,6%: urutan sama seperti di simulasi.</a:t>
            </a:r>
            <a:endParaRPr lang="en-US" sz="1400" dirty="0"/>
          </a:p>
        </p:txBody>
      </p:sp>
      <p:sp>
        <p:nvSpPr>
          <p:cNvPr id="10" name="Shape 7"/>
          <p:cNvSpPr/>
          <p:nvPr/>
        </p:nvSpPr>
        <p:spPr>
          <a:xfrm>
            <a:off x="8503920" y="4114800"/>
            <a:ext cx="3108960" cy="2011680"/>
          </a:xfrm>
          <a:prstGeom prst="roundRect">
            <a:avLst>
              <a:gd name="adj" fmla="val 3636"/>
            </a:avLst>
          </a:prstGeom>
          <a:solidFill>
            <a:srgbClr val="1C2230"/>
          </a:solidFill>
          <a:ln w="9525">
            <a:solidFill>
              <a:srgbClr val="30363D"/>
            </a:solidFill>
            <a:prstDash val="solid"/>
          </a:ln>
        </p:spPr>
      </p:sp>
      <p:sp>
        <p:nvSpPr>
          <p:cNvPr id="11" name="Text 8"/>
          <p:cNvSpPr txBox="1"/>
          <p:nvPr/>
        </p:nvSpPr>
        <p:spPr>
          <a:xfrm>
            <a:off x="8732520" y="4343400"/>
            <a:ext cx="2651760" cy="411480"/>
          </a:xfrm>
          <a:prstGeom prst="rect">
            <a:avLst/>
          </a:prstGeom>
          <a:noFill/>
          <a:ln/>
        </p:spPr>
        <p:txBody>
          <a:bodyPr wrap="square" lIns="0" tIns="0" rIns="0" bIns="0" rtlCol="0" anchor="t"/>
          <a:lstStyle/>
          <a:p>
            <a:pPr indent="0" marL="0">
              <a:buNone/>
            </a:pPr>
            <a:r>
              <a:rPr lang="en-US" sz="1800" b="1" dirty="0">
                <a:solidFill>
                  <a:srgbClr val="FF7EB6"/>
                </a:solidFill>
                <a:latin typeface="Cambria" pitchFamily="34" charset="0"/>
                <a:ea typeface="Cambria" pitchFamily="34" charset="-122"/>
                <a:cs typeface="Cambria" pitchFamily="34" charset="-120"/>
              </a:rPr>
              <a:t>KNN turun</a:t>
            </a:r>
            <a:endParaRPr lang="en-US" sz="1800" dirty="0"/>
          </a:p>
        </p:txBody>
      </p:sp>
      <p:sp>
        <p:nvSpPr>
          <p:cNvPr id="12" name="Text 9"/>
          <p:cNvSpPr txBox="1"/>
          <p:nvPr/>
        </p:nvSpPr>
        <p:spPr>
          <a:xfrm>
            <a:off x="8732520" y="4800600"/>
            <a:ext cx="2651760" cy="1143000"/>
          </a:xfrm>
          <a:prstGeom prst="rect">
            <a:avLst/>
          </a:prstGeom>
          <a:noFill/>
          <a:ln/>
        </p:spPr>
        <p:txBody>
          <a:bodyPr wrap="square" lIns="0" tIns="0" rIns="0" bIns="0" rtlCol="0" anchor="t"/>
          <a:lstStyle/>
          <a:p>
            <a:pPr indent="0" marL="0">
              <a:spcAft>
                <a:spcPts val="400"/>
              </a:spcAft>
              <a:buNone/>
            </a:pPr>
            <a:r>
              <a:rPr lang="en-US" sz="1400" dirty="0">
                <a:solidFill>
                  <a:srgbClr val="A9B4C2"/>
                </a:solidFill>
                <a:latin typeface="Calibri" pitchFamily="34" charset="0"/>
                <a:ea typeface="Calibri" pitchFamily="34" charset="-122"/>
                <a:cs typeface="Calibri" pitchFamily="34" charset="-120"/>
              </a:rPr>
              <a:t>k = 101 terlalu besar untuk ±950 baris latih → hampir selalu menebak mayoritas.</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Model pohon menemukan soft pity sendiri</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19</a:t>
            </a:r>
            <a:endParaRPr lang="en-US" sz="1000" dirty="0"/>
          </a:p>
        </p:txBody>
      </p:sp>
      <p:sp>
        <p:nvSpPr>
          <p:cNvPr id="6" name="Shape 4"/>
          <p:cNvSpPr/>
          <p:nvPr/>
        </p:nvSpPr>
        <p:spPr>
          <a:xfrm>
            <a:off x="438912" y="1591056"/>
            <a:ext cx="7717536" cy="3218688"/>
          </a:xfrm>
          <a:prstGeom prst="roundRect">
            <a:avLst>
              <a:gd name="adj" fmla="val 1705"/>
            </a:avLst>
          </a:prstGeom>
          <a:solidFill>
            <a:srgbClr val="FFFFFF"/>
          </a:solidFill>
          <a:ln w="12700">
            <a:solidFill>
              <a:srgbClr val="30363D"/>
            </a:solidFill>
            <a:prstDash val="solid"/>
          </a:ln>
        </p:spPr>
      </p:sp>
      <p:pic>
        <p:nvPicPr>
          <p:cNvPr id="7" name="Image 0" descr="fig_kurva.png">    </p:cNvPr>
          <p:cNvPicPr>
            <a:picLocks noChangeAspect="1"/>
          </p:cNvPicPr>
          <p:nvPr/>
        </p:nvPicPr>
        <p:blipFill>
          <a:blip r:embed="rId1"/>
          <a:stretch>
            <a:fillRect/>
          </a:stretch>
        </p:blipFill>
        <p:spPr>
          <a:xfrm>
            <a:off x="548640" y="1700784"/>
            <a:ext cx="7498080" cy="2999232"/>
          </a:xfrm>
          <a:prstGeom prst="rect">
            <a:avLst/>
          </a:prstGeom>
        </p:spPr>
      </p:pic>
      <p:sp>
        <p:nvSpPr>
          <p:cNvPr id="8" name="Text 5"/>
          <p:cNvSpPr txBox="1"/>
          <p:nvPr/>
        </p:nvSpPr>
        <p:spPr>
          <a:xfrm>
            <a:off x="548640" y="5029200"/>
            <a:ext cx="10972800" cy="128016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Garis putus-putus = peluang teori (Markov)</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Pohon &amp; KNN menempel ke teori, termasuk lonjakan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Logistic Regression &amp; Naive Bayes hanya kurva halus → meleset</a:t>
            </a:r>
            <a:endParaRPr lang="en-US" sz="1500" dirty="0"/>
          </a:p>
        </p:txBody>
      </p:sp>
      <p:sp>
        <p:nvSpPr>
          <p:cNvPr id="9" name="Shape 6"/>
          <p:cNvSpPr/>
          <p:nvPr/>
        </p:nvSpPr>
        <p:spPr>
          <a:xfrm>
            <a:off x="8412480" y="1554480"/>
            <a:ext cx="3200400" cy="3291840"/>
          </a:xfrm>
          <a:prstGeom prst="roundRect">
            <a:avLst>
              <a:gd name="adj" fmla="val 2286"/>
            </a:avLst>
          </a:prstGeom>
          <a:solidFill>
            <a:srgbClr val="1C2230"/>
          </a:solidFill>
          <a:ln w="9525">
            <a:solidFill>
              <a:srgbClr val="30363D"/>
            </a:solidFill>
            <a:prstDash val="solid"/>
          </a:ln>
        </p:spPr>
      </p:sp>
      <p:sp>
        <p:nvSpPr>
          <p:cNvPr id="10" name="Text 7"/>
          <p:cNvSpPr txBox="1"/>
          <p:nvPr/>
        </p:nvSpPr>
        <p:spPr>
          <a:xfrm>
            <a:off x="8641080" y="1783080"/>
            <a:ext cx="2743200" cy="411480"/>
          </a:xfrm>
          <a:prstGeom prst="rect">
            <a:avLst/>
          </a:prstGeom>
          <a:noFill/>
          <a:ln/>
        </p:spPr>
        <p:txBody>
          <a:bodyPr wrap="square" lIns="0" tIns="0" rIns="0" bIns="0" rtlCol="0" anchor="t"/>
          <a:lstStyle/>
          <a:p>
            <a:pPr indent="0" marL="0">
              <a:buNone/>
            </a:pPr>
            <a:r>
              <a:rPr lang="en-US" sz="1800" b="1" dirty="0">
                <a:solidFill>
                  <a:srgbClr val="F5A623"/>
                </a:solidFill>
                <a:latin typeface="Cambria" pitchFamily="34" charset="0"/>
                <a:ea typeface="Cambria" pitchFamily="34" charset="-122"/>
                <a:cs typeface="Cambria" pitchFamily="34" charset="-120"/>
              </a:rPr>
              <a:t>Tanpa diberi tahu</a:t>
            </a:r>
            <a:endParaRPr lang="en-US" sz="1800" dirty="0"/>
          </a:p>
        </p:txBody>
      </p:sp>
      <p:sp>
        <p:nvSpPr>
          <p:cNvPr id="11" name="Text 8"/>
          <p:cNvSpPr txBox="1"/>
          <p:nvPr/>
        </p:nvSpPr>
        <p:spPr>
          <a:xfrm>
            <a:off x="8641080" y="2240280"/>
            <a:ext cx="2743200" cy="24231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memisahkan data di pity_ratio ±0,72, sekitar 10 pull sebelum soft pity.</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PEMBAHASAN</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Confusion matrix &amp; feature importance</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20</a:t>
            </a:r>
            <a:endParaRPr lang="en-US" sz="1000" dirty="0"/>
          </a:p>
        </p:txBody>
      </p:sp>
      <p:sp>
        <p:nvSpPr>
          <p:cNvPr id="6" name="Shape 4"/>
          <p:cNvSpPr/>
          <p:nvPr/>
        </p:nvSpPr>
        <p:spPr>
          <a:xfrm>
            <a:off x="438912" y="1602694"/>
            <a:ext cx="6986016" cy="2372452"/>
          </a:xfrm>
          <a:prstGeom prst="roundRect">
            <a:avLst>
              <a:gd name="adj" fmla="val 2313"/>
            </a:avLst>
          </a:prstGeom>
          <a:solidFill>
            <a:srgbClr val="FFFFFF"/>
          </a:solidFill>
          <a:ln w="12700">
            <a:solidFill>
              <a:srgbClr val="30363D"/>
            </a:solidFill>
            <a:prstDash val="solid"/>
          </a:ln>
        </p:spPr>
      </p:sp>
      <p:pic>
        <p:nvPicPr>
          <p:cNvPr id="7" name="Image 0" descr="fig_cm.png">    </p:cNvPr>
          <p:cNvPicPr>
            <a:picLocks noChangeAspect="1"/>
          </p:cNvPicPr>
          <p:nvPr/>
        </p:nvPicPr>
        <p:blipFill>
          <a:blip r:embed="rId1"/>
          <a:stretch>
            <a:fillRect/>
          </a:stretch>
        </p:blipFill>
        <p:spPr>
          <a:xfrm>
            <a:off x="548640" y="1712422"/>
            <a:ext cx="6766560" cy="2152996"/>
          </a:xfrm>
          <a:prstGeom prst="rect">
            <a:avLst/>
          </a:prstGeom>
        </p:spPr>
      </p:pic>
      <p:sp>
        <p:nvSpPr>
          <p:cNvPr id="8" name="Shape 5"/>
          <p:cNvSpPr/>
          <p:nvPr/>
        </p:nvSpPr>
        <p:spPr>
          <a:xfrm>
            <a:off x="7479792" y="1824228"/>
            <a:ext cx="4242816" cy="1929384"/>
          </a:xfrm>
          <a:prstGeom prst="roundRect">
            <a:avLst>
              <a:gd name="adj" fmla="val 2844"/>
            </a:avLst>
          </a:prstGeom>
          <a:solidFill>
            <a:srgbClr val="FFFFFF"/>
          </a:solidFill>
          <a:ln w="12700">
            <a:solidFill>
              <a:srgbClr val="30363D"/>
            </a:solidFill>
            <a:prstDash val="solid"/>
          </a:ln>
        </p:spPr>
      </p:sp>
      <p:pic>
        <p:nvPicPr>
          <p:cNvPr id="9" name="Image 1" descr="fig_importance.png">    </p:cNvPr>
          <p:cNvPicPr>
            <a:picLocks noChangeAspect="1"/>
          </p:cNvPicPr>
          <p:nvPr/>
        </p:nvPicPr>
        <p:blipFill>
          <a:blip r:embed="rId2"/>
          <a:stretch>
            <a:fillRect/>
          </a:stretch>
        </p:blipFill>
        <p:spPr>
          <a:xfrm>
            <a:off x="7589520" y="1933956"/>
            <a:ext cx="4023360" cy="1709928"/>
          </a:xfrm>
          <a:prstGeom prst="rect">
            <a:avLst/>
          </a:prstGeom>
        </p:spPr>
      </p:pic>
      <p:sp>
        <p:nvSpPr>
          <p:cNvPr id="10" name="Text 6"/>
          <p:cNvSpPr txBox="1"/>
          <p:nvPr/>
        </p:nvSpPr>
        <p:spPr>
          <a:xfrm>
            <a:off x="548640" y="4389120"/>
            <a:ext cx="10972800" cy="1828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Baseline tidak pernah menebak "dapat S" → recall 0</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XGBoost menangkap sebagian besar S di sekitar soft pity</a:t>
            </a:r>
            <a:endParaRPr lang="en-US" sz="1500" dirty="0"/>
          </a:p>
          <a:p>
            <a:pPr marL="228600" indent="-228600">
              <a:spcAft>
                <a:spcPts val="1000"/>
              </a:spcAft>
              <a:buSzPct val="100000"/>
              <a:buChar char="•"/>
            </a:pPr>
            <a:r>
              <a:rPr lang="en-US" sz="1500" dirty="0">
                <a:solidFill>
                  <a:srgbClr val="E6EDF3"/>
                </a:solidFill>
                <a:latin typeface="Calibri" pitchFamily="34" charset="0"/>
                <a:ea typeface="Calibri" pitchFamily="34" charset="-122"/>
                <a:cs typeface="Calibri" pitchFamily="34" charset="-120"/>
              </a:rPr>
              <a:t>pity_ratio paling penting; guaranteed ≈ 0 (benar menurut aturan game: guaranteed hanya menentukan S mana, bukan kapan)</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411480"/>
            <a:ext cx="9144000" cy="274320"/>
          </a:xfrm>
          <a:prstGeom prst="rect">
            <a:avLst/>
          </a:prstGeom>
          <a:noFill/>
          <a:ln/>
        </p:spPr>
        <p:txBody>
          <a:bodyPr wrap="square" lIns="0" tIns="0" rIns="0" bIns="0" rtlCol="0" anchor="ctr"/>
          <a:lstStyle/>
          <a:p>
            <a:pPr indent="0" marL="0">
              <a:buNone/>
            </a:pPr>
            <a:r>
              <a:rPr lang="en-US" sz="1200" b="1" spc="300" kern="0" dirty="0">
                <a:solidFill>
                  <a:srgbClr val="F5A623"/>
                </a:solidFill>
                <a:latin typeface="Calibri" pitchFamily="34" charset="0"/>
                <a:ea typeface="Calibri" pitchFamily="34" charset="-122"/>
                <a:cs typeface="Calibri" pitchFamily="34" charset="-120"/>
              </a:rPr>
              <a:t>PENUTUP</a:t>
            </a:r>
            <a:endParaRPr lang="en-US" sz="1200" dirty="0"/>
          </a:p>
        </p:txBody>
      </p:sp>
      <p:sp>
        <p:nvSpPr>
          <p:cNvPr id="3" name="Text 1"/>
          <p:cNvSpPr txBox="1"/>
          <p:nvPr/>
        </p:nvSpPr>
        <p:spPr>
          <a:xfrm>
            <a:off x="548640" y="685800"/>
            <a:ext cx="11091672" cy="731520"/>
          </a:xfrm>
          <a:prstGeom prst="rect">
            <a:avLst/>
          </a:prstGeom>
          <a:noFill/>
          <a:ln/>
        </p:spPr>
        <p:txBody>
          <a:bodyPr wrap="square" lIns="0" tIns="0" rIns="0" bIns="0" rtlCol="0" anchor="ctr"/>
          <a:lstStyle/>
          <a:p>
            <a:pPr indent="0" marL="0">
              <a:buNone/>
            </a:pPr>
            <a:r>
              <a:rPr lang="en-US" sz="3200" b="1" dirty="0">
                <a:solidFill>
                  <a:srgbClr val="E6EDF3"/>
                </a:solidFill>
                <a:latin typeface="Cambria" pitchFamily="34" charset="0"/>
                <a:ea typeface="Cambria" pitchFamily="34" charset="-122"/>
                <a:cs typeface="Cambria" pitchFamily="34" charset="-120"/>
              </a:rPr>
              <a:t>Kesimpulan &amp; saran</a:t>
            </a:r>
            <a:endParaRPr lang="en-US" sz="3200" dirty="0"/>
          </a:p>
        </p:txBody>
      </p:sp>
      <p:sp>
        <p:nvSpPr>
          <p:cNvPr id="4" name="Text 2"/>
          <p:cNvSpPr txBox="1"/>
          <p:nvPr/>
        </p:nvSpPr>
        <p:spPr>
          <a:xfrm>
            <a:off x="548640" y="6400800"/>
            <a:ext cx="7315200" cy="22860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ZZZ Gacha Predictor · Kelompok 6 · A11.4502</a:t>
            </a:r>
            <a:endParaRPr lang="en-US" sz="1000" dirty="0"/>
          </a:p>
        </p:txBody>
      </p:sp>
      <p:sp>
        <p:nvSpPr>
          <p:cNvPr id="5" name="Text 3"/>
          <p:cNvSpPr txBox="1"/>
          <p:nvPr/>
        </p:nvSpPr>
        <p:spPr>
          <a:xfrm>
            <a:off x="10725912" y="6400800"/>
            <a:ext cx="914400" cy="228600"/>
          </a:xfrm>
          <a:prstGeom prst="rect">
            <a:avLst/>
          </a:prstGeom>
          <a:noFill/>
          <a:ln/>
        </p:spPr>
        <p:txBody>
          <a:bodyPr wrap="square" lIns="0" tIns="0" rIns="0" bIns="0" rtlCol="0" anchor="ctr"/>
          <a:lstStyle/>
          <a:p>
            <a:pPr algn="r" indent="0" marL="0">
              <a:buNone/>
            </a:pPr>
            <a:r>
              <a:rPr lang="en-US" sz="1000" dirty="0">
                <a:solidFill>
                  <a:srgbClr val="8B949E"/>
                </a:solidFill>
                <a:latin typeface="Calibri" pitchFamily="34" charset="0"/>
                <a:ea typeface="Calibri" pitchFamily="34" charset="-122"/>
                <a:cs typeface="Calibri" pitchFamily="34" charset="-120"/>
              </a:rPr>
              <a:t>21</a:t>
            </a:r>
            <a:endParaRPr lang="en-US" sz="1000" dirty="0"/>
          </a:p>
        </p:txBody>
      </p:sp>
      <p:sp>
        <p:nvSpPr>
          <p:cNvPr id="6" name="Shape 4"/>
          <p:cNvSpPr/>
          <p:nvPr/>
        </p:nvSpPr>
        <p:spPr>
          <a:xfrm>
            <a:off x="548640" y="1645920"/>
            <a:ext cx="3566160" cy="3291840"/>
          </a:xfrm>
          <a:prstGeom prst="roundRect">
            <a:avLst>
              <a:gd name="adj" fmla="val 2222"/>
            </a:avLst>
          </a:prstGeom>
          <a:solidFill>
            <a:srgbClr val="1C2230"/>
          </a:solidFill>
          <a:ln w="9525">
            <a:solidFill>
              <a:srgbClr val="30363D"/>
            </a:solidFill>
            <a:prstDash val="solid"/>
          </a:ln>
        </p:spPr>
      </p:sp>
      <p:sp>
        <p:nvSpPr>
          <p:cNvPr id="7" name="Shape 5"/>
          <p:cNvSpPr/>
          <p:nvPr/>
        </p:nvSpPr>
        <p:spPr>
          <a:xfrm>
            <a:off x="777240" y="1874520"/>
            <a:ext cx="457200" cy="457200"/>
          </a:xfrm>
          <a:prstGeom prst="ellipse">
            <a:avLst/>
          </a:prstGeom>
          <a:solidFill>
            <a:srgbClr val="F5A623"/>
          </a:solidFill>
          <a:ln/>
        </p:spPr>
      </p:sp>
      <p:sp>
        <p:nvSpPr>
          <p:cNvPr id="8" name="Text 6"/>
          <p:cNvSpPr txBox="1"/>
          <p:nvPr/>
        </p:nvSpPr>
        <p:spPr>
          <a:xfrm>
            <a:off x="77724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1</a:t>
            </a:r>
            <a:endParaRPr lang="en-US" sz="1600" dirty="0"/>
          </a:p>
        </p:txBody>
      </p:sp>
      <p:sp>
        <p:nvSpPr>
          <p:cNvPr id="9" name="Text 7"/>
          <p:cNvSpPr txBox="1"/>
          <p:nvPr/>
        </p:nvSpPr>
        <p:spPr>
          <a:xfrm>
            <a:off x="77724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Markov Chain</a:t>
            </a:r>
            <a:endParaRPr lang="en-US" sz="1800" dirty="0"/>
          </a:p>
        </p:txBody>
      </p:sp>
      <p:sp>
        <p:nvSpPr>
          <p:cNvPr id="10" name="Text 8"/>
          <p:cNvSpPr txBox="1"/>
          <p:nvPr/>
        </p:nvSpPr>
        <p:spPr>
          <a:xfrm>
            <a:off x="77724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Peluang dapat S dalam N pull bisa dihitung eksak dan dipakai di kalkulator.</a:t>
            </a:r>
            <a:endParaRPr lang="en-US" sz="1500" dirty="0"/>
          </a:p>
        </p:txBody>
      </p:sp>
      <p:sp>
        <p:nvSpPr>
          <p:cNvPr id="11" name="Shape 9"/>
          <p:cNvSpPr/>
          <p:nvPr/>
        </p:nvSpPr>
        <p:spPr>
          <a:xfrm>
            <a:off x="4297680" y="1645920"/>
            <a:ext cx="3566160" cy="3291840"/>
          </a:xfrm>
          <a:prstGeom prst="roundRect">
            <a:avLst>
              <a:gd name="adj" fmla="val 2222"/>
            </a:avLst>
          </a:prstGeom>
          <a:solidFill>
            <a:srgbClr val="1C2230"/>
          </a:solidFill>
          <a:ln w="9525">
            <a:solidFill>
              <a:srgbClr val="30363D"/>
            </a:solidFill>
            <a:prstDash val="solid"/>
          </a:ln>
        </p:spPr>
      </p:sp>
      <p:sp>
        <p:nvSpPr>
          <p:cNvPr id="12" name="Shape 10"/>
          <p:cNvSpPr/>
          <p:nvPr/>
        </p:nvSpPr>
        <p:spPr>
          <a:xfrm>
            <a:off x="4526280" y="1874520"/>
            <a:ext cx="457200" cy="457200"/>
          </a:xfrm>
          <a:prstGeom prst="ellipse">
            <a:avLst/>
          </a:prstGeom>
          <a:solidFill>
            <a:srgbClr val="58A6FF"/>
          </a:solidFill>
          <a:ln/>
        </p:spPr>
      </p:sp>
      <p:sp>
        <p:nvSpPr>
          <p:cNvPr id="13" name="Text 11"/>
          <p:cNvSpPr txBox="1"/>
          <p:nvPr/>
        </p:nvSpPr>
        <p:spPr>
          <a:xfrm>
            <a:off x="452628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452628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Algoritma terbaik</a:t>
            </a:r>
            <a:endParaRPr lang="en-US" sz="1800" dirty="0"/>
          </a:p>
        </p:txBody>
      </p:sp>
      <p:sp>
        <p:nvSpPr>
          <p:cNvPr id="15" name="Text 13"/>
          <p:cNvSpPr txBox="1"/>
          <p:nvPr/>
        </p:nvSpPr>
        <p:spPr>
          <a:xfrm>
            <a:off x="452628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Decision Tree, Random Forest, XGBoost konsisten terbaik: ±91% simulasi, ±93% data asli, juga saat dilatih di data asli saja.</a:t>
            </a:r>
            <a:endParaRPr lang="en-US" sz="1500" dirty="0"/>
          </a:p>
        </p:txBody>
      </p:sp>
      <p:sp>
        <p:nvSpPr>
          <p:cNvPr id="16" name="Shape 14"/>
          <p:cNvSpPr/>
          <p:nvPr/>
        </p:nvSpPr>
        <p:spPr>
          <a:xfrm>
            <a:off x="8046720" y="1645920"/>
            <a:ext cx="3566160" cy="3291840"/>
          </a:xfrm>
          <a:prstGeom prst="roundRect">
            <a:avLst>
              <a:gd name="adj" fmla="val 2222"/>
            </a:avLst>
          </a:prstGeom>
          <a:solidFill>
            <a:srgbClr val="1C2230"/>
          </a:solidFill>
          <a:ln w="9525">
            <a:solidFill>
              <a:srgbClr val="30363D"/>
            </a:solidFill>
            <a:prstDash val="solid"/>
          </a:ln>
        </p:spPr>
      </p:sp>
      <p:sp>
        <p:nvSpPr>
          <p:cNvPr id="17" name="Shape 15"/>
          <p:cNvSpPr/>
          <p:nvPr/>
        </p:nvSpPr>
        <p:spPr>
          <a:xfrm>
            <a:off x="8275320" y="1874520"/>
            <a:ext cx="457200" cy="457200"/>
          </a:xfrm>
          <a:prstGeom prst="ellipse">
            <a:avLst/>
          </a:prstGeom>
          <a:solidFill>
            <a:srgbClr val="3FB950"/>
          </a:solidFill>
          <a:ln/>
        </p:spPr>
      </p:sp>
      <p:sp>
        <p:nvSpPr>
          <p:cNvPr id="18" name="Text 16"/>
          <p:cNvSpPr txBox="1"/>
          <p:nvPr/>
        </p:nvSpPr>
        <p:spPr>
          <a:xfrm>
            <a:off x="8275320" y="1874520"/>
            <a:ext cx="457200" cy="457200"/>
          </a:xfrm>
          <a:prstGeom prst="rect">
            <a:avLst/>
          </a:prstGeom>
          <a:noFill/>
          <a:ln/>
        </p:spPr>
        <p:txBody>
          <a:bodyPr wrap="square" lIns="0" tIns="0" rIns="0" bIns="0" rtlCol="0" anchor="ctr"/>
          <a:lstStyle/>
          <a:p>
            <a:pPr algn="ctr" indent="0" marL="0">
              <a:buNone/>
            </a:pPr>
            <a:r>
              <a:rPr lang="en-US" sz="1600" b="1" dirty="0">
                <a:solidFill>
                  <a:srgbClr val="0E1117"/>
                </a:solidFill>
                <a:latin typeface="Calibri" pitchFamily="34" charset="0"/>
                <a:ea typeface="Calibri" pitchFamily="34" charset="-122"/>
                <a:cs typeface="Calibri" pitchFamily="34" charset="-120"/>
              </a:rPr>
              <a:t>3</a:t>
            </a:r>
            <a:endParaRPr lang="en-US" sz="1600" dirty="0"/>
          </a:p>
        </p:txBody>
      </p:sp>
      <p:sp>
        <p:nvSpPr>
          <p:cNvPr id="19" name="Text 17"/>
          <p:cNvSpPr txBox="1"/>
          <p:nvPr/>
        </p:nvSpPr>
        <p:spPr>
          <a:xfrm>
            <a:off x="8275320" y="2468880"/>
            <a:ext cx="3108960" cy="731520"/>
          </a:xfrm>
          <a:prstGeom prst="rect">
            <a:avLst/>
          </a:prstGeom>
          <a:noFill/>
          <a:ln/>
        </p:spPr>
        <p:txBody>
          <a:bodyPr wrap="square" lIns="0" tIns="0" rIns="0" bIns="0" rtlCol="0" anchor="t"/>
          <a:lstStyle/>
          <a:p>
            <a:pPr indent="0" marL="0">
              <a:buNone/>
            </a:pPr>
            <a:r>
              <a:rPr lang="en-US" sz="1800" b="1" dirty="0">
                <a:solidFill>
                  <a:srgbClr val="E6EDF3"/>
                </a:solidFill>
                <a:latin typeface="Cambria" pitchFamily="34" charset="0"/>
                <a:ea typeface="Cambria" pitchFamily="34" charset="-122"/>
                <a:cs typeface="Cambria" pitchFamily="34" charset="-120"/>
              </a:rPr>
              <a:t>Akurasi saja menipu</a:t>
            </a:r>
            <a:endParaRPr lang="en-US" sz="1800" dirty="0"/>
          </a:p>
        </p:txBody>
      </p:sp>
      <p:sp>
        <p:nvSpPr>
          <p:cNvPr id="20" name="Text 18"/>
          <p:cNvSpPr txBox="1"/>
          <p:nvPr/>
        </p:nvSpPr>
        <p:spPr>
          <a:xfrm>
            <a:off x="8275320" y="3246120"/>
            <a:ext cx="3108960" cy="1508760"/>
          </a:xfrm>
          <a:prstGeom prst="rect">
            <a:avLst/>
          </a:prstGeom>
          <a:noFill/>
          <a:ln/>
        </p:spPr>
        <p:txBody>
          <a:bodyPr wrap="square" lIns="0" tIns="0" rIns="0" bIns="0" rtlCol="0" anchor="t"/>
          <a:lstStyle/>
          <a:p>
            <a:pPr indent="0" marL="0">
              <a:spcAft>
                <a:spcPts val="400"/>
              </a:spcAft>
              <a:buNone/>
            </a:pPr>
            <a:r>
              <a:rPr lang="en-US" sz="1500" dirty="0">
                <a:solidFill>
                  <a:srgbClr val="A9B4C2"/>
                </a:solidFill>
                <a:latin typeface="Calibri" pitchFamily="34" charset="0"/>
                <a:ea typeface="Calibri" pitchFamily="34" charset="-122"/>
                <a:cs typeface="Calibri" pitchFamily="34" charset="-120"/>
              </a:rPr>
              <a:t>Data tidak seimbang butuh Balanced Acc., F1, ROC-AUC, Log Loss.</a:t>
            </a:r>
            <a:endParaRPr lang="en-US" sz="1500" dirty="0"/>
          </a:p>
        </p:txBody>
      </p:sp>
      <p:sp>
        <p:nvSpPr>
          <p:cNvPr id="21" name="Text 19"/>
          <p:cNvSpPr txBox="1"/>
          <p:nvPr/>
        </p:nvSpPr>
        <p:spPr>
          <a:xfrm>
            <a:off x="548640" y="5212080"/>
            <a:ext cx="10972800" cy="731520"/>
          </a:xfrm>
          <a:prstGeom prst="rect">
            <a:avLst/>
          </a:prstGeom>
          <a:noFill/>
          <a:ln/>
        </p:spPr>
        <p:txBody>
          <a:bodyPr wrap="square" lIns="0" tIns="0" rIns="0" bIns="0" rtlCol="0" anchor="t"/>
          <a:lstStyle/>
          <a:p>
            <a:pPr indent="0" marL="0">
              <a:buNone/>
            </a:pPr>
            <a:r>
              <a:rPr lang="en-US" sz="1500" dirty="0">
                <a:solidFill>
                  <a:srgbClr val="A9B4C2"/>
                </a:solidFill>
                <a:latin typeface="Calibri" pitchFamily="34" charset="0"/>
                <a:ea typeface="Calibri" pitchFamily="34" charset="-122"/>
                <a:cs typeface="Calibri" pitchFamily="34" charset="-120"/>
              </a:rPr>
              <a:t>Saran: tambah akun data asli, sesuaikan hyperparameter (k pada KNN) dengan grid search, estimasi soft pity dari data, perluas ke banner lain.</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E1117"/>
        </a:solidFill>
      </p:bgPr>
    </p:bg>
    <p:spTree>
      <p:nvGrpSpPr>
        <p:cNvPr id="1" name=""/>
        <p:cNvGrpSpPr/>
        <p:nvPr/>
      </p:nvGrpSpPr>
      <p:grpSpPr>
        <a:xfrm>
          <a:off x="0" y="0"/>
          <a:ext cx="0" cy="0"/>
          <a:chOff x="0" y="0"/>
          <a:chExt cx="0" cy="0"/>
        </a:xfrm>
      </p:grpSpPr>
      <p:sp>
        <p:nvSpPr>
          <p:cNvPr id="2" name="Text 0"/>
          <p:cNvSpPr txBox="1"/>
          <p:nvPr/>
        </p:nvSpPr>
        <p:spPr>
          <a:xfrm>
            <a:off x="548640" y="1463040"/>
            <a:ext cx="10972800" cy="1097280"/>
          </a:xfrm>
          <a:prstGeom prst="rect">
            <a:avLst/>
          </a:prstGeom>
          <a:noFill/>
          <a:ln/>
        </p:spPr>
        <p:txBody>
          <a:bodyPr wrap="square" lIns="0" tIns="0" rIns="0" bIns="0" rtlCol="0" anchor="ctr"/>
          <a:lstStyle/>
          <a:p>
            <a:pPr indent="0" marL="0">
              <a:buNone/>
            </a:pPr>
            <a:r>
              <a:rPr lang="en-US" sz="5400" b="1" dirty="0">
                <a:solidFill>
                  <a:srgbClr val="E6EDF3"/>
                </a:solidFill>
                <a:latin typeface="Cambria" pitchFamily="34" charset="0"/>
                <a:ea typeface="Cambria" pitchFamily="34" charset="-122"/>
                <a:cs typeface="Cambria" pitchFamily="34" charset="-120"/>
              </a:rPr>
              <a:t>Terima kasih</a:t>
            </a:r>
            <a:endParaRPr lang="en-US" sz="5400" dirty="0"/>
          </a:p>
        </p:txBody>
      </p:sp>
      <p:sp>
        <p:nvSpPr>
          <p:cNvPr id="3" name="Text 1"/>
          <p:cNvSpPr txBox="1"/>
          <p:nvPr/>
        </p:nvSpPr>
        <p:spPr>
          <a:xfrm>
            <a:off x="548640" y="2651760"/>
            <a:ext cx="10058400" cy="731520"/>
          </a:xfrm>
          <a:prstGeom prst="rect">
            <a:avLst/>
          </a:prstGeom>
          <a:noFill/>
          <a:ln/>
        </p:spPr>
        <p:txBody>
          <a:bodyPr wrap="square" lIns="0" tIns="0" rIns="0" bIns="0" rtlCol="0" anchor="ctr"/>
          <a:lstStyle/>
          <a:p>
            <a:pPr indent="0" marL="0">
              <a:buNone/>
            </a:pPr>
            <a:r>
              <a:rPr lang="en-US" sz="2000" dirty="0">
                <a:solidFill>
                  <a:srgbClr val="A9B4C2"/>
                </a:solidFill>
                <a:latin typeface="Calibri" pitchFamily="34" charset="0"/>
                <a:ea typeface="Calibri" pitchFamily="34" charset="-122"/>
                <a:cs typeface="Calibri" pitchFamily="34" charset="-120"/>
              </a:rPr>
              <a:t>Ada pertanyaan? Silakan coba aplikasinya langsung:</a:t>
            </a:r>
            <a:endParaRPr lang="en-US" sz="2000" dirty="0"/>
          </a:p>
        </p:txBody>
      </p:sp>
      <p:sp>
        <p:nvSpPr>
          <p:cNvPr id="4" name="Text 2"/>
          <p:cNvSpPr txBox="1"/>
          <p:nvPr/>
        </p:nvSpPr>
        <p:spPr>
          <a:xfrm>
            <a:off x="548640" y="3749040"/>
            <a:ext cx="10058400" cy="548640"/>
          </a:xfrm>
          <a:prstGeom prst="rect">
            <a:avLst/>
          </a:prstGeom>
          <a:noFill/>
          <a:ln/>
        </p:spPr>
        <p:txBody>
          <a:bodyPr wrap="square" lIns="0" tIns="0" rIns="0" bIns="0" rtlCol="0" anchor="ctr"/>
          <a:lstStyle/>
          <a:p>
            <a:pPr indent="0" marL="0">
              <a:buNone/>
            </a:pPr>
            <a:r>
              <a:rPr lang="en-US" sz="2600" b="1" dirty="0">
                <a:solidFill>
                  <a:srgbClr val="58A6FF"/>
                </a:solidFill>
                <a:latin typeface="Calibri" pitchFamily="34" charset="0"/>
                <a:ea typeface="Calibri" pitchFamily="34" charset="-122"/>
                <a:cs typeface="Calibri" pitchFamily="34" charset="-120"/>
              </a:rPr>
              <a:t>project-data-mining-zzz.streamlit.app</a:t>
            </a:r>
            <a:endParaRPr lang="en-US" sz="2600" dirty="0"/>
          </a:p>
        </p:txBody>
      </p:sp>
      <p:sp>
        <p:nvSpPr>
          <p:cNvPr id="5" name="Text 3"/>
          <p:cNvSpPr txBox="1"/>
          <p:nvPr/>
        </p:nvSpPr>
        <p:spPr>
          <a:xfrm>
            <a:off x="548640" y="4389120"/>
            <a:ext cx="10058400" cy="457200"/>
          </a:xfrm>
          <a:prstGeom prst="rect">
            <a:avLst/>
          </a:prstGeom>
          <a:noFill/>
          <a:ln/>
        </p:spPr>
        <p:txBody>
          <a:bodyPr wrap="square" lIns="0" tIns="0" rIns="0" bIns="0" rtlCol="0" anchor="ctr"/>
          <a:lstStyle/>
          <a:p>
            <a:pPr indent="0" marL="0">
              <a:buNone/>
            </a:pPr>
            <a:r>
              <a:rPr lang="en-US" sz="1600" dirty="0">
                <a:solidFill>
                  <a:srgbClr val="A9B4C2"/>
                </a:solidFill>
                <a:latin typeface="Calibri" pitchFamily="34" charset="0"/>
                <a:ea typeface="Calibri" pitchFamily="34" charset="-122"/>
                <a:cs typeface="Calibri" pitchFamily="34" charset="-120"/>
              </a:rPr>
              <a:t>github.com/tehgeii/project-data-mining</a:t>
            </a:r>
            <a:endParaRPr lang="en-US" sz="1600" dirty="0"/>
          </a:p>
        </p:txBody>
      </p:sp>
      <p:sp>
        <p:nvSpPr>
          <p:cNvPr id="6" name="Text 4"/>
          <p:cNvSpPr txBox="1"/>
          <p:nvPr/>
        </p:nvSpPr>
        <p:spPr>
          <a:xfrm>
            <a:off x="548640" y="5943600"/>
            <a:ext cx="1005840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Kelompok 6 · A11.4502 · Penambangan Data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ZZZ Gacha Predictor</dc:title>
  <dc:subject>PptxGenJS Presentation</dc:subject>
  <dc:creator>PptxGenJS</dc:creator>
  <cp:lastModifiedBy>PptxGenJS</cp:lastModifiedBy>
  <cp:revision>1</cp:revision>
  <dcterms:created xsi:type="dcterms:W3CDTF">2026-10-08T06:34:45Z</dcterms:created>
  <dcterms:modified xsi:type="dcterms:W3CDTF">2026-10-08T06:34:45Z</dcterms:modified>
</cp:coreProperties>
</file>