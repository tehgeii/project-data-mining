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1.192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86.4</c:v>
                </c:pt>
                <c:pt idx="1">
                  <c:v>93.6</c:v>
                </c:pt>
                <c:pt idx="2">
                  <c:v>88</c:v>
                </c:pt>
                <c:pt idx="3">
                  <c:v>87.4</c:v>
                </c:pt>
                <c:pt idx="4">
                  <c:v>91</c:v>
                </c:pt>
                <c:pt idx="5">
                  <c:v>93</c:v>
                </c:pt>
                <c:pt idx="6">
                  <c:v>92.9</c:v>
                </c:pt>
                <c:pt idx="7">
                  <c:v>92.6</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1.424 baris,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Angka pity yang dihitung aplikasi untuk akun asli sama persis dengan yang tampil di game. Selain itu 86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batas teori Markov. Logistic Regression 88,9 persen, Naive Bayes 85,7 persen, baseline 83,4 persen. Urutannya sama di simulasi dan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F1, ROC-AUC, dan log loss, walau selisihnya kecil dengan Random Forest, XGBoost, dan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1.192 baris dari 2 akun, sudah di atas syarat 500 sampai 1000 baris. Data dibagi per siklus pity menjadi 5 bagian. Hasilnya: Decision Tree 93,0 persen, Random Forest 92,9 persen, XGBoost 92,6 persen, urutannya sama seperti di simulasi dan hampir menyamai batas teori Markov 93,6 persen. Logistic Regression 91,0 persen dan Naive Bayes 88,0 persen. KNN turun ke 87,4 persen karena nilai k = 101 terlalu besar untuk data sekecil ini, jadi KNN hampir selalu menebak kelas mayoritas.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tiga kesimpulan dan saran pengembangan. Tekankan bahwa model pohon tetap terbaik walaupun dilatih hanya dengan data asli. Sebutkan keterbatasan: soft pity masih estimasi dan data asli baru dua akun.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sp>
        <p:nvSpPr>
          <p:cNvPr id="5" name="Text 3"/>
          <p:cNvSpPr txBox="1"/>
          <p:nvPr/>
        </p:nvSpPr>
        <p:spPr>
          <a:xfrm>
            <a:off x="548640" y="914400"/>
            <a:ext cx="731520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6"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7"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8"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9"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Dipakai untuk menguji model, dan dalam eksperimen kedua untuk melatih + menguji sendiri (1.192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86 / 86</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110642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0,8572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0,5855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0,3844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0,2866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konsisten</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93,0%, Random Forest 92,9%, XGBoost 92,6%: urutan sama seperti di simulasi.</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KNN turun</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k = 101 terlalu besar untuk ±950 baris latih → hampir selalu menebak mayoritas.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memisahkan data di pity_ratio ±0,72, sekitar 10 pull sebelum soft pity.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sp>
        <p:nvSpPr>
          <p:cNvPr id="6" name="Shape 4"/>
          <p:cNvSpPr/>
          <p:nvPr/>
        </p:nvSpPr>
        <p:spPr>
          <a:xfrm>
            <a:off x="548640" y="1645920"/>
            <a:ext cx="3566160" cy="3291840"/>
          </a:xfrm>
          <a:prstGeom prst="roundRect">
            <a:avLst>
              <a:gd name="adj" fmla="val 2222"/>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Markov Chain</a:t>
            </a:r>
            <a:endParaRPr lang="en-US" sz="1800" dirty="0"/>
          </a:p>
        </p:txBody>
      </p:sp>
      <p:sp>
        <p:nvSpPr>
          <p:cNvPr id="10" name="Text 8"/>
          <p:cNvSpPr txBox="1"/>
          <p:nvPr/>
        </p:nvSpPr>
        <p:spPr>
          <a:xfrm>
            <a:off x="77724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Peluang dapat S dalam N pull bisa dihitung eksak dan dipakai di kalkulator.</a:t>
            </a:r>
            <a:endParaRPr lang="en-US" sz="1500" dirty="0"/>
          </a:p>
        </p:txBody>
      </p:sp>
      <p:sp>
        <p:nvSpPr>
          <p:cNvPr id="11" name="Shape 9"/>
          <p:cNvSpPr/>
          <p:nvPr/>
        </p:nvSpPr>
        <p:spPr>
          <a:xfrm>
            <a:off x="4297680" y="1645920"/>
            <a:ext cx="3566160" cy="3291840"/>
          </a:xfrm>
          <a:prstGeom prst="roundRect">
            <a:avLst>
              <a:gd name="adj" fmla="val 2222"/>
            </a:avLst>
          </a:prstGeom>
          <a:solidFill>
            <a:srgbClr val="1C2230"/>
          </a:solidFill>
          <a:ln w="9525">
            <a:solidFill>
              <a:srgbClr val="30363D"/>
            </a:solidFill>
            <a:prstDash val="solid"/>
          </a:ln>
        </p:spPr>
      </p:sp>
      <p:sp>
        <p:nvSpPr>
          <p:cNvPr id="12" name="Shape 10"/>
          <p:cNvSpPr/>
          <p:nvPr/>
        </p:nvSpPr>
        <p:spPr>
          <a:xfrm>
            <a:off x="4526280" y="1874520"/>
            <a:ext cx="457200" cy="457200"/>
          </a:xfrm>
          <a:prstGeom prst="ellipse">
            <a:avLst/>
          </a:prstGeom>
          <a:solidFill>
            <a:srgbClr val="58A6FF"/>
          </a:solidFill>
          <a:ln/>
        </p:spPr>
      </p:sp>
      <p:sp>
        <p:nvSpPr>
          <p:cNvPr id="13" name="Text 11"/>
          <p:cNvSpPr txBox="1"/>
          <p:nvPr/>
        </p:nvSpPr>
        <p:spPr>
          <a:xfrm>
            <a:off x="452628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452628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452628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Random Forest, XGBoost konsisten terbaik: ±91% simulasi, ±93% data asli, juga saat dilatih di data asli saja.</a:t>
            </a:r>
            <a:endParaRPr lang="en-US" sz="1500" dirty="0"/>
          </a:p>
        </p:txBody>
      </p:sp>
      <p:sp>
        <p:nvSpPr>
          <p:cNvPr id="16" name="Shape 14"/>
          <p:cNvSpPr/>
          <p:nvPr/>
        </p:nvSpPr>
        <p:spPr>
          <a:xfrm>
            <a:off x="8046720" y="1645920"/>
            <a:ext cx="3566160" cy="3291840"/>
          </a:xfrm>
          <a:prstGeom prst="roundRect">
            <a:avLst>
              <a:gd name="adj" fmla="val 2222"/>
            </a:avLst>
          </a:prstGeom>
          <a:solidFill>
            <a:srgbClr val="1C2230"/>
          </a:solidFill>
          <a:ln w="9525">
            <a:solidFill>
              <a:srgbClr val="30363D"/>
            </a:solidFill>
            <a:prstDash val="solid"/>
          </a:ln>
        </p:spPr>
      </p:sp>
      <p:sp>
        <p:nvSpPr>
          <p:cNvPr id="17" name="Shape 15"/>
          <p:cNvSpPr/>
          <p:nvPr/>
        </p:nvSpPr>
        <p:spPr>
          <a:xfrm>
            <a:off x="8275320" y="1874520"/>
            <a:ext cx="457200" cy="457200"/>
          </a:xfrm>
          <a:prstGeom prst="ellipse">
            <a:avLst/>
          </a:prstGeom>
          <a:solidFill>
            <a:srgbClr val="3FB950"/>
          </a:solidFill>
          <a:ln/>
        </p:spPr>
      </p:sp>
      <p:sp>
        <p:nvSpPr>
          <p:cNvPr id="18" name="Text 16"/>
          <p:cNvSpPr txBox="1"/>
          <p:nvPr/>
        </p:nvSpPr>
        <p:spPr>
          <a:xfrm>
            <a:off x="827532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27532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Akurasi saja menipu</a:t>
            </a:r>
            <a:endParaRPr lang="en-US" sz="1800" dirty="0"/>
          </a:p>
        </p:txBody>
      </p:sp>
      <p:sp>
        <p:nvSpPr>
          <p:cNvPr id="20" name="Text 18"/>
          <p:cNvSpPr txBox="1"/>
          <p:nvPr/>
        </p:nvSpPr>
        <p:spPr>
          <a:xfrm>
            <a:off x="827532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500" dirty="0"/>
          </a:p>
        </p:txBody>
      </p:sp>
      <p:sp>
        <p:nvSpPr>
          <p:cNvPr id="21" name="Text 19"/>
          <p:cNvSpPr txBox="1"/>
          <p:nvPr/>
        </p:nvSpPr>
        <p:spPr>
          <a:xfrm>
            <a:off x="548640" y="5212080"/>
            <a:ext cx="1097280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sesuaikan hyperparameter (k pada KNN) dengan grid search, estimasi soft pity dari data, perluas ke banner lain.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2026-10-06T03:11:11Z</dcterms:created>
  <dcterms:modified xsi:type="dcterms:W3CDTF">2026-10-06T03:11:11Z</dcterms:modified>
</cp:coreProperties>
</file>