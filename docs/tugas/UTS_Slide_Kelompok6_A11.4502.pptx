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(3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92.6</c:v>
                </c:pt>
                <c:pt idx="2">
                  <c:v>90.7</c:v>
                </c:pt>
                <c:pt idx="3">
                  <c:v>92.3</c:v>
                </c:pt>
                <c:pt idx="4">
                  <c:v>90.3</c:v>
                </c:pt>
                <c:pt idx="5">
                  <c:v>92.4</c:v>
                </c:pt>
                <c:pt idx="6">
                  <c:v>92.4</c:v>
                </c:pt>
                <c:pt idx="7">
                  <c:v>92.5</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lima tujuan yang sejalan dengan lima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tiga akun, 1.751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Hyperparameter setiap algoritma dipilih dengan grid search memakai 100 akun simulasi tambahan yang tidak dipakai untuk evaluasi, jadi tidak ada kebocoran. Perbedaan antar-model diuji dengan uji t berpasangan terkoreksi, supaya kita tahu selisihnya nyata atau hanya kebetulan. Poin kelima adalah eksperimen kedua: semua algoritma dilatih dan diuji hanya dengan data asli, 1.425 baris, dibagi per siklus pity menjadi 5 bagian, dan grid search diulang di dalam setiap bagian.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92 persen di data asli, Logistic Regression dan Naive Bayes lebih rendah. Eksperimen latih dan uji dengan data asli saja, 1.425 baris, juga sudah dilakukan: Random Forest tertinggi sekitar 92 persen. Uji coba grid search membuat Naive Bayes membaik, dan uji signifikansi awal menunjukkan selisih antaralgoritma di data asli yang masih sedikit belum bermakna.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Menghitung peluang dengan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Menggali pola soft pity dari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(3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1.751 pull · 28 S-Rank · anonim. Dipakai untuk menguji model, memeriksa pola soft pity, dan melatih + menguji sendiri (1.425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737360"/>
            <a:ext cx="2103120" cy="310896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Split per akun</a:t>
            </a:r>
            <a:endParaRPr lang="en-US" sz="1700" dirty="0"/>
          </a:p>
        </p:txBody>
      </p:sp>
      <p:sp>
        <p:nvSpPr>
          <p:cNvPr id="10" name="Text 8"/>
          <p:cNvSpPr txBox="1"/>
          <p:nvPr/>
        </p:nvSpPr>
        <p:spPr>
          <a:xfrm>
            <a:off x="777240"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400" dirty="0"/>
          </a:p>
        </p:txBody>
      </p:sp>
      <p:sp>
        <p:nvSpPr>
          <p:cNvPr id="11" name="Shape 9"/>
          <p:cNvSpPr/>
          <p:nvPr/>
        </p:nvSpPr>
        <p:spPr>
          <a:xfrm>
            <a:off x="2798064" y="1737360"/>
            <a:ext cx="2103120" cy="310896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26664" y="1965960"/>
            <a:ext cx="457200" cy="457200"/>
          </a:xfrm>
          <a:prstGeom prst="ellipse">
            <a:avLst/>
          </a:prstGeom>
          <a:solidFill>
            <a:srgbClr val="FF7EB6"/>
          </a:solidFill>
          <a:ln/>
        </p:spPr>
      </p:sp>
      <p:sp>
        <p:nvSpPr>
          <p:cNvPr id="13" name="Text 11"/>
          <p:cNvSpPr txBox="1"/>
          <p:nvPr/>
        </p:nvSpPr>
        <p:spPr>
          <a:xfrm>
            <a:off x="30266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26664"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Grid search</a:t>
            </a:r>
            <a:endParaRPr lang="en-US" sz="1700" dirty="0"/>
          </a:p>
        </p:txBody>
      </p:sp>
      <p:sp>
        <p:nvSpPr>
          <p:cNvPr id="15" name="Text 13"/>
          <p:cNvSpPr txBox="1"/>
          <p:nvPr/>
        </p:nvSpPr>
        <p:spPr>
          <a:xfrm>
            <a:off x="3026664"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Hyperparameter dipilih di 100 akun simulasi terpisah (tidak dipakai evaluasi).</a:t>
            </a:r>
            <a:endParaRPr lang="en-US" sz="1400" dirty="0"/>
          </a:p>
        </p:txBody>
      </p:sp>
      <p:sp>
        <p:nvSpPr>
          <p:cNvPr id="16" name="Shape 14"/>
          <p:cNvSpPr/>
          <p:nvPr/>
        </p:nvSpPr>
        <p:spPr>
          <a:xfrm>
            <a:off x="5047488" y="1737360"/>
            <a:ext cx="2103120" cy="310896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76088" y="1965960"/>
            <a:ext cx="457200" cy="457200"/>
          </a:xfrm>
          <a:prstGeom prst="ellipse">
            <a:avLst/>
          </a:prstGeom>
          <a:solidFill>
            <a:srgbClr val="58A6FF"/>
          </a:solidFill>
          <a:ln/>
        </p:spPr>
      </p:sp>
      <p:sp>
        <p:nvSpPr>
          <p:cNvPr id="18" name="Text 16"/>
          <p:cNvSpPr txBox="1"/>
          <p:nvPr/>
        </p:nvSpPr>
        <p:spPr>
          <a:xfrm>
            <a:off x="527608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76088"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5-fold GroupKFold</a:t>
            </a:r>
            <a:endParaRPr lang="en-US" sz="1700" dirty="0"/>
          </a:p>
        </p:txBody>
      </p:sp>
      <p:sp>
        <p:nvSpPr>
          <p:cNvPr id="20" name="Text 18"/>
          <p:cNvSpPr txBox="1"/>
          <p:nvPr/>
        </p:nvSpPr>
        <p:spPr>
          <a:xfrm>
            <a:off x="5276088"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Rata-rata ± simpangan baku, lalu uji t berpasangan terkoreksi.</a:t>
            </a:r>
            <a:endParaRPr lang="en-US" sz="1400" dirty="0"/>
          </a:p>
        </p:txBody>
      </p:sp>
      <p:sp>
        <p:nvSpPr>
          <p:cNvPr id="21" name="Shape 19"/>
          <p:cNvSpPr/>
          <p:nvPr/>
        </p:nvSpPr>
        <p:spPr>
          <a:xfrm>
            <a:off x="7296912" y="1737360"/>
            <a:ext cx="2103120" cy="310896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525512" y="1965960"/>
            <a:ext cx="457200" cy="457200"/>
          </a:xfrm>
          <a:prstGeom prst="ellipse">
            <a:avLst/>
          </a:prstGeom>
          <a:solidFill>
            <a:srgbClr val="3FB950"/>
          </a:solidFill>
          <a:ln/>
        </p:spPr>
      </p:sp>
      <p:sp>
        <p:nvSpPr>
          <p:cNvPr id="23" name="Text 21"/>
          <p:cNvSpPr txBox="1"/>
          <p:nvPr/>
        </p:nvSpPr>
        <p:spPr>
          <a:xfrm>
            <a:off x="7525512"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525512"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Uji data asli</a:t>
            </a:r>
            <a:endParaRPr lang="en-US" sz="1700" dirty="0"/>
          </a:p>
        </p:txBody>
      </p:sp>
      <p:sp>
        <p:nvSpPr>
          <p:cNvPr id="25" name="Text 23"/>
          <p:cNvSpPr txBox="1"/>
          <p:nvPr/>
        </p:nvSpPr>
        <p:spPr>
          <a:xfrm>
            <a:off x="7525512"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Model diuji di 3 akun asli yang tidak pernah dilihat saat latih.</a:t>
            </a:r>
            <a:endParaRPr lang="en-US" sz="1400" dirty="0"/>
          </a:p>
        </p:txBody>
      </p:sp>
      <p:sp>
        <p:nvSpPr>
          <p:cNvPr id="26" name="Shape 24"/>
          <p:cNvSpPr/>
          <p:nvPr/>
        </p:nvSpPr>
        <p:spPr>
          <a:xfrm>
            <a:off x="9546336" y="1737360"/>
            <a:ext cx="2103120" cy="310896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74936" y="1965960"/>
            <a:ext cx="457200" cy="457200"/>
          </a:xfrm>
          <a:prstGeom prst="ellipse">
            <a:avLst/>
          </a:prstGeom>
          <a:solidFill>
            <a:srgbClr val="BC8CFF"/>
          </a:solidFill>
          <a:ln/>
        </p:spPr>
      </p:sp>
      <p:sp>
        <p:nvSpPr>
          <p:cNvPr id="28" name="Text 26"/>
          <p:cNvSpPr txBox="1"/>
          <p:nvPr/>
        </p:nvSpPr>
        <p:spPr>
          <a:xfrm>
            <a:off x="977493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74936"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Latih di data asli</a:t>
            </a:r>
            <a:endParaRPr lang="en-US" sz="1700" dirty="0"/>
          </a:p>
        </p:txBody>
      </p:sp>
      <p:sp>
        <p:nvSpPr>
          <p:cNvPr id="30" name="Text 28"/>
          <p:cNvSpPr txBox="1"/>
          <p:nvPr/>
        </p:nvSpPr>
        <p:spPr>
          <a:xfrm>
            <a:off x="9774936"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Latih + uji hanya data asli, 5-fold per siklus pity, nested grid search.</a:t>
            </a:r>
            <a:endParaRPr lang="en-US" sz="1400" dirty="0"/>
          </a:p>
        </p:txBody>
      </p:sp>
      <p:sp>
        <p:nvSpPr>
          <p:cNvPr id="31" name="Text 29"/>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±92% (data asli). Data asli juga memperlihatkan lonjakan S Agent mulai pull ke-74, sesuai estimasi soft pity.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2026-10-19T02:39:51Z</dcterms:created>
  <dcterms:modified xsi:type="dcterms:W3CDTF">2026-10-19T02:39:51Z</dcterms:modified>
</cp:coreProperties>
</file>