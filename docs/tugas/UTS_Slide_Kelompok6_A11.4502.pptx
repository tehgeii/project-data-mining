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91.1</c:v>
                </c:pt>
                <c:pt idx="3">
                  <c:v>93.1</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lima tujuan yang sejalan dengan lima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Hyperparameter setiap algoritma dipilih dengan grid search memakai 100 akun simulasi tambahan yang tidak dipakai untuk evaluasi, jadi tidak ada kebocoran. Perbedaan antar-model diuji dengan uji t berpasangan terkoreksi, supaya kita tahu selisihnya nyata atau hanya kebetulan. Poin kelima adalah eksperimen kedua: semua algoritma dilatih dan diuji hanya dengan data asli, 1.209 baris, dibagi per siklus pity menjadi 5 bagian, dan grid search diulang di dalam setiap bagian.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93 persen di data asli, Logistic Regression dan Naive Bayes lebih rendah. Eksperimen latih dan uji dengan data asli saja, 1.209 baris, juga sudah dilakukan: Decision Tree tetap tertinggi sekitar 93 persen. Uji coba grid search membuat Naive Bayes dan KNN membaik, dan uji signifikansi awal menunjukkan selisih antaralgoritma di data asli yang masih sedikit belum bermakna.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Menghitung peluang dengan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Menggali pola soft pity dari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737360"/>
            <a:ext cx="2103120" cy="310896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Split per akun</a:t>
            </a:r>
            <a:endParaRPr lang="en-US" sz="1700" dirty="0"/>
          </a:p>
        </p:txBody>
      </p:sp>
      <p:sp>
        <p:nvSpPr>
          <p:cNvPr id="10" name="Text 8"/>
          <p:cNvSpPr txBox="1"/>
          <p:nvPr/>
        </p:nvSpPr>
        <p:spPr>
          <a:xfrm>
            <a:off x="777240"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400" dirty="0"/>
          </a:p>
        </p:txBody>
      </p:sp>
      <p:sp>
        <p:nvSpPr>
          <p:cNvPr id="11" name="Shape 9"/>
          <p:cNvSpPr/>
          <p:nvPr/>
        </p:nvSpPr>
        <p:spPr>
          <a:xfrm>
            <a:off x="2798064" y="1737360"/>
            <a:ext cx="2103120" cy="310896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26664" y="1965960"/>
            <a:ext cx="457200" cy="457200"/>
          </a:xfrm>
          <a:prstGeom prst="ellipse">
            <a:avLst/>
          </a:prstGeom>
          <a:solidFill>
            <a:srgbClr val="FF7EB6"/>
          </a:solidFill>
          <a:ln/>
        </p:spPr>
      </p:sp>
      <p:sp>
        <p:nvSpPr>
          <p:cNvPr id="13" name="Text 11"/>
          <p:cNvSpPr txBox="1"/>
          <p:nvPr/>
        </p:nvSpPr>
        <p:spPr>
          <a:xfrm>
            <a:off x="30266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26664"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Grid search</a:t>
            </a:r>
            <a:endParaRPr lang="en-US" sz="1700" dirty="0"/>
          </a:p>
        </p:txBody>
      </p:sp>
      <p:sp>
        <p:nvSpPr>
          <p:cNvPr id="15" name="Text 13"/>
          <p:cNvSpPr txBox="1"/>
          <p:nvPr/>
        </p:nvSpPr>
        <p:spPr>
          <a:xfrm>
            <a:off x="3026664"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Hyperparameter dipilih di 100 akun simulasi terpisah (tidak dipakai evaluasi).</a:t>
            </a:r>
            <a:endParaRPr lang="en-US" sz="1400" dirty="0"/>
          </a:p>
        </p:txBody>
      </p:sp>
      <p:sp>
        <p:nvSpPr>
          <p:cNvPr id="16" name="Shape 14"/>
          <p:cNvSpPr/>
          <p:nvPr/>
        </p:nvSpPr>
        <p:spPr>
          <a:xfrm>
            <a:off x="5047488" y="1737360"/>
            <a:ext cx="2103120" cy="310896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76088" y="1965960"/>
            <a:ext cx="457200" cy="457200"/>
          </a:xfrm>
          <a:prstGeom prst="ellipse">
            <a:avLst/>
          </a:prstGeom>
          <a:solidFill>
            <a:srgbClr val="58A6FF"/>
          </a:solidFill>
          <a:ln/>
        </p:spPr>
      </p:sp>
      <p:sp>
        <p:nvSpPr>
          <p:cNvPr id="18" name="Text 16"/>
          <p:cNvSpPr txBox="1"/>
          <p:nvPr/>
        </p:nvSpPr>
        <p:spPr>
          <a:xfrm>
            <a:off x="527608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76088"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5-fold GroupKFold</a:t>
            </a:r>
            <a:endParaRPr lang="en-US" sz="1700" dirty="0"/>
          </a:p>
        </p:txBody>
      </p:sp>
      <p:sp>
        <p:nvSpPr>
          <p:cNvPr id="20" name="Text 18"/>
          <p:cNvSpPr txBox="1"/>
          <p:nvPr/>
        </p:nvSpPr>
        <p:spPr>
          <a:xfrm>
            <a:off x="5276088"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Rata-rata ± simpangan baku, lalu uji t berpasangan terkoreksi.</a:t>
            </a:r>
            <a:endParaRPr lang="en-US" sz="1400" dirty="0"/>
          </a:p>
        </p:txBody>
      </p:sp>
      <p:sp>
        <p:nvSpPr>
          <p:cNvPr id="21" name="Shape 19"/>
          <p:cNvSpPr/>
          <p:nvPr/>
        </p:nvSpPr>
        <p:spPr>
          <a:xfrm>
            <a:off x="7296912" y="1737360"/>
            <a:ext cx="2103120" cy="310896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525512" y="1965960"/>
            <a:ext cx="457200" cy="457200"/>
          </a:xfrm>
          <a:prstGeom prst="ellipse">
            <a:avLst/>
          </a:prstGeom>
          <a:solidFill>
            <a:srgbClr val="3FB950"/>
          </a:solidFill>
          <a:ln/>
        </p:spPr>
      </p:sp>
      <p:sp>
        <p:nvSpPr>
          <p:cNvPr id="23" name="Text 21"/>
          <p:cNvSpPr txBox="1"/>
          <p:nvPr/>
        </p:nvSpPr>
        <p:spPr>
          <a:xfrm>
            <a:off x="7525512"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525512"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Uji data asli</a:t>
            </a:r>
            <a:endParaRPr lang="en-US" sz="1700" dirty="0"/>
          </a:p>
        </p:txBody>
      </p:sp>
      <p:sp>
        <p:nvSpPr>
          <p:cNvPr id="25" name="Text 23"/>
          <p:cNvSpPr txBox="1"/>
          <p:nvPr/>
        </p:nvSpPr>
        <p:spPr>
          <a:xfrm>
            <a:off x="7525512"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400" dirty="0"/>
          </a:p>
        </p:txBody>
      </p:sp>
      <p:sp>
        <p:nvSpPr>
          <p:cNvPr id="26" name="Shape 24"/>
          <p:cNvSpPr/>
          <p:nvPr/>
        </p:nvSpPr>
        <p:spPr>
          <a:xfrm>
            <a:off x="9546336" y="1737360"/>
            <a:ext cx="2103120" cy="310896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74936" y="1965960"/>
            <a:ext cx="457200" cy="457200"/>
          </a:xfrm>
          <a:prstGeom prst="ellipse">
            <a:avLst/>
          </a:prstGeom>
          <a:solidFill>
            <a:srgbClr val="BC8CFF"/>
          </a:solidFill>
          <a:ln/>
        </p:spPr>
      </p:sp>
      <p:sp>
        <p:nvSpPr>
          <p:cNvPr id="28" name="Text 26"/>
          <p:cNvSpPr txBox="1"/>
          <p:nvPr/>
        </p:nvSpPr>
        <p:spPr>
          <a:xfrm>
            <a:off x="977493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74936"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Latih di data asli</a:t>
            </a:r>
            <a:endParaRPr lang="en-US" sz="1700" dirty="0"/>
          </a:p>
        </p:txBody>
      </p:sp>
      <p:sp>
        <p:nvSpPr>
          <p:cNvPr id="30" name="Text 28"/>
          <p:cNvSpPr txBox="1"/>
          <p:nvPr/>
        </p:nvSpPr>
        <p:spPr>
          <a:xfrm>
            <a:off x="9774936"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Latih + uji hanya data asli, 5-fold per siklus pity, nested grid search.</a:t>
            </a:r>
            <a:endParaRPr lang="en-US" sz="1400" dirty="0"/>
          </a:p>
        </p:txBody>
      </p:sp>
      <p:sp>
        <p:nvSpPr>
          <p:cNvPr id="31" name="Text 2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±93% (data asli). Data asli juga memperlihatkan lonjakan S Agent mulai pull ke-74, sesuai estimasi soft pity.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2026-10-18T07:37:53Z</dcterms:created>
  <dcterms:modified xsi:type="dcterms:W3CDTF">2026-10-18T07:37:53Z</dcterms:modified>
</cp:coreProperties>
</file>