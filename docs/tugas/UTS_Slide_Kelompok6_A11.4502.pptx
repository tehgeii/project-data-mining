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(3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92.6</c:v>
                </c:pt>
                <c:pt idx="2">
                  <c:v>90.7</c:v>
                </c:pt>
                <c:pt idx="3">
                  <c:v>92.3</c:v>
                </c:pt>
                <c:pt idx="4">
                  <c:v>90.3</c:v>
                </c:pt>
                <c:pt idx="5">
                  <c:v>92.4</c:v>
                </c:pt>
                <c:pt idx="6">
                  <c:v>92.4</c:v>
                </c:pt>
                <c:pt idx="7">
                  <c:v>92.5</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kebaruan (±1,5 menit). Bacakan batasan: hanya dua banner terbatas dan hanya S-Rank. Lalu empat kebaruan sesuai Subbab 1.4 proposal: soft pity digali dari data pemain asli; keenam algoritma dibandingkan dengan acuan teori Markov, bukan hanya antaralgoritma; evaluasinya dirancang supaya tidak bocor, yaitu dibagi per akun atau per siklus pity, hyperparameter dipilih tanpa data uji, dan selisih diuji dengan uji t terkoreksi; dan hasilnya langsung dipakai di aplikasi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Penelitian terdahulu (±1,5 menit). Kelompokkan jadi tiga. Pertama, penelitian gacha dan loot box: kebanyakan membahas perilaku pemain dan regulasi, misalnya kaitan loot box dengan judi dan peluang yang tidak ditampilkan jelas; yang memodelkan gacha secara matematis melihatnya dari sisi pendapatan pengembang. Kedua, penelitian perbandingan algoritma: hasilnya berbeda-beda, kadang XGBoost yang terbaik, kadang Random Forest, tetapi model berbasis pohon umumnya kuat di data tabel. Ketiga, celahnya: belum ada yang memperkirakan peluang dari data riwayat gacha pemain, dan karena hasil algoritma bergantung pada data, perbandingannya perlu diuji langsung di kasus gacha. Daftar lengkapnya ada di Tabel 2.1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tiga akun, 1.751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Hyperparameter setiap algoritma dipilih dengan grid search memakai 100 akun simulasi tambahan yang tidak dipakai untuk evaluasi, jadi tidak ada kebocoran. Perbedaan antar-model diuji dengan uji t berpasangan terkoreksi, supaya kita tahu selisihnya nyata atau hanya kebetulan. Poin kelima adalah eksperimen kedua: semua algoritma dilatih dan diuji hanya dengan data asli, 1.425 baris, dibagi per siklus pity menjadi 5 bagian, dan grid search diulang di dalam setiap bagian. Kami tidak memakai oversampling seperti SMOTE, karena yang dicari adalah angka peluang yang tepat; ketidakseimbangan ditangani lewat pilihan metrik.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saat dicek, pity akun asli 70 dari 90 dan 46 dari 80 sama persis dengan di game. Hasil awal tugas B: model pohon dan KNN sekitar 91 persen di simulasi dan 92 persen di data asli, Logistic Regression dan Naive Bayes lebih rendah. Eksperimen latih dan uji dengan data asli saja, 1.425 baris, juga sudah dilakukan: Random Forest tertinggi sekitar 92 persen. Uji coba grid search membuat Naive Bayes membaik, dan uji signifikansi awal menunjukkan selisih antaralgoritma di data asli yang masih sedikit belum bermakna. Analisis awal data asli memperlihatkan laju S Agent hampir nol sampai pull ke-73 lalu melonjak mulai pull ke-74, sesuai estimasi soft pity.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jalan (±1 menit). Penelitian dibagi tiga tahap selama 14 minggu. Minggu 1 sampai 3 penelitian rintisan: membentuk kelompok, memilih topik, studi literatur, dan mempelajari aturan banner. Minggu 4 sampai 7 penelitian fundamental: mengambil riwayat gacha asli, membuat simulasi, pra-pemrosesan, dan menyusun proposal ini. Minggu 8 sampai 14 penelitian terapan: grid search, pelatihan enam algoritma, evaluasi dan uji signifikansi, analisis soft pity, aplikasi, laporan akhir, dan presentasi. Sebutkan bahwa prototipe aplikasi sudah berjalan lebih awal, jadi sisa pekerjaannya penyempurnaan evaluasi dan laporan akhir. Jadwal per minggunya ada di akhir Bab II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kebaruan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estimasi komunitas, diperiksa dengan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Kebaruan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digali langsung dari data pemain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6 algoritma dibandingkan dengan acuan teori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anti-bocor: dibagi per akun/siklus, nested CV, uji t terkoreksi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Hasilnya langsung dipakai di aplikasi web</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TELAAH PUSTAKA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Penelitian terdahulu</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45920"/>
            <a:ext cx="3566160" cy="4297680"/>
          </a:xfrm>
          <a:prstGeom prst="roundRect">
            <a:avLst>
              <a:gd name="adj" fmla="val 2051"/>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Gacha &amp; loot box</a:t>
            </a:r>
            <a:endParaRPr lang="en-US" sz="1800" dirty="0"/>
          </a:p>
        </p:txBody>
      </p:sp>
      <p:sp>
        <p:nvSpPr>
          <p:cNvPr id="8" name="Text 6"/>
          <p:cNvSpPr txBox="1"/>
          <p:nvPr/>
        </p:nvSpPr>
        <p:spPr>
          <a:xfrm>
            <a:off x="77724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Zendle &amp; Cairns (2018): belanja loot box berkaitan dengan masalah judi.</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Xiao dkk. (2024): peluang loot box sering tidak tampil jelas.</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Chen &amp; Fang (2023): model matematis gacha dan pity dari sisi pengembang.</a:t>
            </a:r>
            <a:endParaRPr lang="en-US" sz="1600" dirty="0"/>
          </a:p>
        </p:txBody>
      </p:sp>
      <p:sp>
        <p:nvSpPr>
          <p:cNvPr id="9" name="Shape 7"/>
          <p:cNvSpPr/>
          <p:nvPr/>
        </p:nvSpPr>
        <p:spPr>
          <a:xfrm>
            <a:off x="4297680" y="1645920"/>
            <a:ext cx="3566160" cy="4297680"/>
          </a:xfrm>
          <a:prstGeom prst="roundRect">
            <a:avLst>
              <a:gd name="adj" fmla="val 2051"/>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Studi algoritma</a:t>
            </a:r>
            <a:endParaRPr lang="en-US" sz="1800" dirty="0"/>
          </a:p>
        </p:txBody>
      </p:sp>
      <p:sp>
        <p:nvSpPr>
          <p:cNvPr id="11" name="Text 9"/>
          <p:cNvSpPr txBox="1"/>
          <p:nvPr/>
        </p:nvSpPr>
        <p:spPr>
          <a:xfrm>
            <a:off x="452628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Maulidah (2023): XGBoost terbaik (92,36%) di data deposito bank.</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Rahmat dkk. (2023): Random Forest terbaik (95%) di data kepuasan penumpang.</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Grinsztajn dkk. (2022): model pohon unggul di data tabular.</a:t>
            </a:r>
            <a:endParaRPr lang="en-US" sz="1600" dirty="0"/>
          </a:p>
        </p:txBody>
      </p:sp>
      <p:sp>
        <p:nvSpPr>
          <p:cNvPr id="12" name="Shape 10"/>
          <p:cNvSpPr/>
          <p:nvPr/>
        </p:nvSpPr>
        <p:spPr>
          <a:xfrm>
            <a:off x="8046720" y="1645920"/>
            <a:ext cx="3566160" cy="4297680"/>
          </a:xfrm>
          <a:prstGeom prst="roundRect">
            <a:avLst>
              <a:gd name="adj" fmla="val 2051"/>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Celah yang diisi</a:t>
            </a:r>
            <a:endParaRPr lang="en-US" sz="1800" dirty="0"/>
          </a:p>
        </p:txBody>
      </p:sp>
      <p:sp>
        <p:nvSpPr>
          <p:cNvPr id="14" name="Text 12"/>
          <p:cNvSpPr txBox="1"/>
          <p:nvPr/>
        </p:nvSpPr>
        <p:spPr>
          <a:xfrm>
            <a:off x="827532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Belum ada yang memperkirakan peluang, khususnya soft pity, dari data riwayat gacha pemain. Hasil perbandingan algoritma juga berbeda-beda per data, jadi perlu diuji langsung di kasus gacha.</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(3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1.751 pull · 28 S-Rank · anonim. Dipakai untuk menguji model, memeriksa pola soft pity, dan melatih + menguji sendiri (1.425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Shape 4"/>
          <p:cNvSpPr/>
          <p:nvPr/>
        </p:nvSpPr>
        <p:spPr>
          <a:xfrm>
            <a:off x="548640" y="1737360"/>
            <a:ext cx="2103120" cy="310896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Split per akun</a:t>
            </a:r>
            <a:endParaRPr lang="en-US" sz="1700" dirty="0"/>
          </a:p>
        </p:txBody>
      </p:sp>
      <p:sp>
        <p:nvSpPr>
          <p:cNvPr id="10" name="Text 8"/>
          <p:cNvSpPr txBox="1"/>
          <p:nvPr/>
        </p:nvSpPr>
        <p:spPr>
          <a:xfrm>
            <a:off x="777240"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400" dirty="0"/>
          </a:p>
        </p:txBody>
      </p:sp>
      <p:sp>
        <p:nvSpPr>
          <p:cNvPr id="11" name="Shape 9"/>
          <p:cNvSpPr/>
          <p:nvPr/>
        </p:nvSpPr>
        <p:spPr>
          <a:xfrm>
            <a:off x="2798064" y="1737360"/>
            <a:ext cx="2103120" cy="310896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26664" y="1965960"/>
            <a:ext cx="457200" cy="457200"/>
          </a:xfrm>
          <a:prstGeom prst="ellipse">
            <a:avLst/>
          </a:prstGeom>
          <a:solidFill>
            <a:srgbClr val="FF7EB6"/>
          </a:solidFill>
          <a:ln/>
        </p:spPr>
      </p:sp>
      <p:sp>
        <p:nvSpPr>
          <p:cNvPr id="13" name="Text 11"/>
          <p:cNvSpPr txBox="1"/>
          <p:nvPr/>
        </p:nvSpPr>
        <p:spPr>
          <a:xfrm>
            <a:off x="30266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26664"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Grid search</a:t>
            </a:r>
            <a:endParaRPr lang="en-US" sz="1700" dirty="0"/>
          </a:p>
        </p:txBody>
      </p:sp>
      <p:sp>
        <p:nvSpPr>
          <p:cNvPr id="15" name="Text 13"/>
          <p:cNvSpPr txBox="1"/>
          <p:nvPr/>
        </p:nvSpPr>
        <p:spPr>
          <a:xfrm>
            <a:off x="3026664"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Hyperparameter dipilih di 100 akun simulasi terpisah (tidak dipakai evaluasi).</a:t>
            </a:r>
            <a:endParaRPr lang="en-US" sz="1400" dirty="0"/>
          </a:p>
        </p:txBody>
      </p:sp>
      <p:sp>
        <p:nvSpPr>
          <p:cNvPr id="16" name="Shape 14"/>
          <p:cNvSpPr/>
          <p:nvPr/>
        </p:nvSpPr>
        <p:spPr>
          <a:xfrm>
            <a:off x="5047488" y="1737360"/>
            <a:ext cx="2103120" cy="310896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76088" y="1965960"/>
            <a:ext cx="457200" cy="457200"/>
          </a:xfrm>
          <a:prstGeom prst="ellipse">
            <a:avLst/>
          </a:prstGeom>
          <a:solidFill>
            <a:srgbClr val="58A6FF"/>
          </a:solidFill>
          <a:ln/>
        </p:spPr>
      </p:sp>
      <p:sp>
        <p:nvSpPr>
          <p:cNvPr id="18" name="Text 16"/>
          <p:cNvSpPr txBox="1"/>
          <p:nvPr/>
        </p:nvSpPr>
        <p:spPr>
          <a:xfrm>
            <a:off x="527608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76088"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5-fold GroupKFold</a:t>
            </a:r>
            <a:endParaRPr lang="en-US" sz="1700" dirty="0"/>
          </a:p>
        </p:txBody>
      </p:sp>
      <p:sp>
        <p:nvSpPr>
          <p:cNvPr id="20" name="Text 18"/>
          <p:cNvSpPr txBox="1"/>
          <p:nvPr/>
        </p:nvSpPr>
        <p:spPr>
          <a:xfrm>
            <a:off x="5276088"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Rata-rata ± simpangan baku, lalu uji t berpasangan terkoreksi.</a:t>
            </a:r>
            <a:endParaRPr lang="en-US" sz="1400" dirty="0"/>
          </a:p>
        </p:txBody>
      </p:sp>
      <p:sp>
        <p:nvSpPr>
          <p:cNvPr id="21" name="Shape 19"/>
          <p:cNvSpPr/>
          <p:nvPr/>
        </p:nvSpPr>
        <p:spPr>
          <a:xfrm>
            <a:off x="7296912" y="1737360"/>
            <a:ext cx="2103120" cy="310896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525512" y="1965960"/>
            <a:ext cx="457200" cy="457200"/>
          </a:xfrm>
          <a:prstGeom prst="ellipse">
            <a:avLst/>
          </a:prstGeom>
          <a:solidFill>
            <a:srgbClr val="3FB950"/>
          </a:solidFill>
          <a:ln/>
        </p:spPr>
      </p:sp>
      <p:sp>
        <p:nvSpPr>
          <p:cNvPr id="23" name="Text 21"/>
          <p:cNvSpPr txBox="1"/>
          <p:nvPr/>
        </p:nvSpPr>
        <p:spPr>
          <a:xfrm>
            <a:off x="7525512"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525512"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Uji data asli</a:t>
            </a:r>
            <a:endParaRPr lang="en-US" sz="1700" dirty="0"/>
          </a:p>
        </p:txBody>
      </p:sp>
      <p:sp>
        <p:nvSpPr>
          <p:cNvPr id="25" name="Text 23"/>
          <p:cNvSpPr txBox="1"/>
          <p:nvPr/>
        </p:nvSpPr>
        <p:spPr>
          <a:xfrm>
            <a:off x="7525512"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Model diuji di 3 akun asli yang tidak pernah dilihat saat latih.</a:t>
            </a:r>
            <a:endParaRPr lang="en-US" sz="1400" dirty="0"/>
          </a:p>
        </p:txBody>
      </p:sp>
      <p:sp>
        <p:nvSpPr>
          <p:cNvPr id="26" name="Shape 24"/>
          <p:cNvSpPr/>
          <p:nvPr/>
        </p:nvSpPr>
        <p:spPr>
          <a:xfrm>
            <a:off x="9546336" y="1737360"/>
            <a:ext cx="2103120" cy="310896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74936" y="1965960"/>
            <a:ext cx="457200" cy="457200"/>
          </a:xfrm>
          <a:prstGeom prst="ellipse">
            <a:avLst/>
          </a:prstGeom>
          <a:solidFill>
            <a:srgbClr val="BC8CFF"/>
          </a:solidFill>
          <a:ln/>
        </p:spPr>
      </p:sp>
      <p:sp>
        <p:nvSpPr>
          <p:cNvPr id="28" name="Text 26"/>
          <p:cNvSpPr txBox="1"/>
          <p:nvPr/>
        </p:nvSpPr>
        <p:spPr>
          <a:xfrm>
            <a:off x="977493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74936"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Latih di data asli</a:t>
            </a:r>
            <a:endParaRPr lang="en-US" sz="1700" dirty="0"/>
          </a:p>
        </p:txBody>
      </p:sp>
      <p:sp>
        <p:nvSpPr>
          <p:cNvPr id="30" name="Text 28"/>
          <p:cNvSpPr txBox="1"/>
          <p:nvPr/>
        </p:nvSpPr>
        <p:spPr>
          <a:xfrm>
            <a:off x="9774936"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Latih + uji hanya data asli, 5-fold per siklus pity, nested grid search.</a:t>
            </a:r>
            <a:endParaRPr lang="en-US" sz="1400" dirty="0"/>
          </a:p>
        </p:txBody>
      </p:sp>
      <p:sp>
        <p:nvSpPr>
          <p:cNvPr id="31" name="Text 29"/>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(acuan teori).</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sama dengan di game. Model pohon &amp; KNN ±91% (simulasi) dan ±92% (data asli). Data asli juga memperlihatkan lonjakan S Agent mulai pull ke-74, sesuai estimasi soft pity.</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Peta jalan 14 minggu</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sp>
        <p:nvSpPr>
          <p:cNvPr id="6" name="Shape 4"/>
          <p:cNvSpPr/>
          <p:nvPr/>
        </p:nvSpPr>
        <p:spPr>
          <a:xfrm>
            <a:off x="590140" y="1444752"/>
            <a:ext cx="10981241" cy="4882896"/>
          </a:xfrm>
          <a:prstGeom prst="roundRect">
            <a:avLst>
              <a:gd name="adj" fmla="val 1124"/>
            </a:avLst>
          </a:prstGeom>
          <a:solidFill>
            <a:srgbClr val="FFFFFF"/>
          </a:solidFill>
          <a:ln w="12700">
            <a:solidFill>
              <a:srgbClr val="30363D"/>
            </a:solidFill>
            <a:prstDash val="solid"/>
          </a:ln>
        </p:spPr>
      </p:sp>
      <p:pic>
        <p:nvPicPr>
          <p:cNvPr id="7" name="Image 0" descr="fig_petajalan.png">    </p:cNvPr>
          <p:cNvPicPr>
            <a:picLocks noChangeAspect="1"/>
          </p:cNvPicPr>
          <p:nvPr/>
        </p:nvPicPr>
        <p:blipFill>
          <a:blip r:embed="rId1"/>
          <a:stretch>
            <a:fillRect/>
          </a:stretch>
        </p:blipFill>
        <p:spPr>
          <a:xfrm>
            <a:off x="699868" y="1554480"/>
            <a:ext cx="10761785"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2026-10-22T12:53:46Z</dcterms:created>
  <dcterms:modified xsi:type="dcterms:W3CDTF">2026-10-22T12:53:46Z</dcterms:modified>
</cp:coreProperties>
</file>