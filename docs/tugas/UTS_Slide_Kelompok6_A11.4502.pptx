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3"/>
                </a:solidFill>
                <a:latin typeface="Arial"/>
              </a:defRPr>
            </a:pPr>
            <a:r>
              <a:rPr sz="1400" b="0" i="0" u="none" strike="noStrike">
                <a:solidFill>
                  <a:srgbClr val="E6EDF3"/>
                </a:solidFill>
                <a:latin typeface="Arial"/>
              </a:rPr>
              <a:t>Accuracy (%)</a:t>
            </a:r>
          </a:p>
        </c:rich>
      </c:tx>
      <c:layout/>
      <c:overlay val="0"/>
    </c:title>
    <c:autoTitleDeleted val="0"/>
    <c:plotArea>
      <c:layout/>
      <c:barChart>
        <c:barDir val="col"/>
        <c:grouping val="clustered"/>
        <c:varyColors val="0"/>
        <c:ser>
          <c:idx val="0"/>
          <c:order val="0"/>
          <c:tx>
            <c:strRef>
              <c:f>Sheet1!$B$1</c:f>
              <c:strCache>
                <c:ptCount val="1"/>
                <c:pt idx="0">
                  <c:v>Simulasi (5-fold CV)</c:v>
                </c:pt>
              </c:strCache>
            </c:strRef>
          </c:tx>
          <c:spPr>
            <a:solidFill>
              <a:srgbClr val="58A6FF"/>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Sheet1!$B$2:$B$9</c:f>
              <c:numCache>
                <c:formatCode>General</c:formatCode>
                <c:ptCount val="8"/>
                <c:pt idx="0">
                  <c:v>83.4</c:v>
                </c:pt>
                <c:pt idx="1">
                  <c:v>91.1</c:v>
                </c:pt>
                <c:pt idx="2">
                  <c:v>89.2</c:v>
                </c:pt>
                <c:pt idx="3">
                  <c:v>91</c:v>
                </c:pt>
                <c:pt idx="4">
                  <c:v>88.9</c:v>
                </c:pt>
                <c:pt idx="5">
                  <c:v>91.1</c:v>
                </c:pt>
                <c:pt idx="6">
                  <c:v>91.1</c:v>
                </c:pt>
                <c:pt idx="7">
                  <c:v>91.1</c:v>
                </c:pt>
              </c:numCache>
            </c:numRef>
          </c:val>
        </c:ser>
        <c:ser>
          <c:idx val="1"/>
          <c:order val="1"/>
          <c:tx>
            <c:strRef>
              <c:f>Sheet1!$C$1</c:f>
              <c:strCache>
                <c:ptCount val="1"/>
                <c:pt idx="0">
                  <c:v>Data asli (3 akun)</c:v>
                </c:pt>
              </c:strCache>
            </c:strRef>
          </c:tx>
          <c:spPr>
            <a:solidFill>
              <a:srgbClr val="F5A623"/>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Sheet1!$C$2:$C$9</c:f>
              <c:numCache>
                <c:formatCode>General</c:formatCode>
                <c:ptCount val="8"/>
                <c:pt idx="0">
                  <c:v>86.5</c:v>
                </c:pt>
                <c:pt idx="1">
                  <c:v>92.6</c:v>
                </c:pt>
                <c:pt idx="2">
                  <c:v>90.7</c:v>
                </c:pt>
                <c:pt idx="3">
                  <c:v>92.3</c:v>
                </c:pt>
                <c:pt idx="4">
                  <c:v>90.3</c:v>
                </c:pt>
                <c:pt idx="5">
                  <c:v>92.4</c:v>
                </c:pt>
                <c:pt idx="6">
                  <c:v>92.4</c:v>
                </c:pt>
                <c:pt idx="7">
                  <c:v>92.5</c:v>
                </c:pt>
              </c:numCache>
            </c:numRef>
          </c:val>
        </c:ser>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2"/>
        <c:crosses val="autoZero"/>
        <c:auto val="1"/>
        <c:lblAlgn val="ctr"/>
        <c:noMultiLvlLbl val="1"/>
      </c:catAx>
      <c:valAx>
        <c:axId val="2094734552"/>
        <c:scaling>
          <c:orientation val="minMax"/>
          <c:max val="96"/>
          <c:min val="80"/>
        </c:scaling>
        <c:delete val="0"/>
        <c:axPos val="l"/>
        <c:majorGridlines>
          <c:spPr>
            <a:ln w="6350" cap="flat">
              <a:solidFill>
                <a:srgbClr val="30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4"/>
        <c:crosses val="autoZero"/>
        <c:crossBetween val="between"/>
      </c:valAx>
      <c:spPr>
        <a:solidFill>
          <a:srgbClr val="0E1117"/>
        </a:solidFill>
        <a:ln>
          <a:noFill/>
        </a:ln>
        <a:effectLst/>
      </c:spPr>
    </c:plotArea>
    <c:legend>
      <c:legendPos val="t"/>
      <c:overlay val="0"/>
      <c:txPr>
        <a:bodyPr/>
        <a:lstStyle/>
        <a:p>
          <a:pPr>
            <a:defRPr sz="1100">
              <a:solidFill>
                <a:srgbClr val="E6EDF3"/>
              </a:solidFill>
            </a:defRPr>
          </a:pPr>
          <a:endParaRPr lang="en-US"/>
        </a:p>
      </c:txPr>
    </c:legend>
    <c:plotVisOnly val="1"/>
    <c:dispBlanksAs val="span"/>
  </c:chart>
  <c:spPr>
    <a:solidFill>
      <a:srgbClr val="0E1117"/>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Pembukaan (±1 menit). Salam, perkenalkan Kelompok 6 kelas A11.4502, mata kuliah Penambangan Data dengan dosen Bapak Ardytha Luthfiarta. Sebutkan judul: ini adalah presentasi proposal proyek akhir tentang memprediksi peluang S-Rank di gacha Zenless Zone Zero. Sampaikan bahwa aplikasinya bisa dibuka di HP lewat link di layar.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Perkenalan anggota (±1 menit). Bacakan nama dan peran setiap anggota. Ketua: Syafiq Yahya. Pengembang aplikasi: Dafi. Slide: Gastiadirrijal. Proposal dan laporan: Zabrina dan Rayya.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Latar belakang (±1,5 menit). Jelaskan apa itu gacha dan pull. S-Rank sangat langka: 0,6 persen untuk Agent. Ada sistem pity: kalau lama tidak dapat, peluang naik, dan di pull ke-90 pasti dapat. Pemain bingung menghitung peluangnya sendiri. Riwayat gacha bisa diambil dari server, jadi bisa diolah dengan data mining. Tekankan angka 1,7 persen: datanya sangat tidak seimbang, ini akan penting nanti.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Alasan memakai data mining (±1,5 menit). Sebelum memilih algoritma, kami memeriksa dulu apakah kasus ini memang butuh machine learning. Machine learning tidak perlu kalau ada atribut yang langsung menentukan hasil, atau kalau rumusnya sudah pasti. Di gacha, pity hanya mengubah peluang, hasilnya tetap acak. Rumus resminya juga tidak lengkap: rate dasar dan hard pity diumumkan, tetapi soft pity tidak, dan perkiraan komunitas berbeda-beda. Karena itu pola soft pity harus digali dari data riwayat pemain. Masalah ini termasuk klasifikasi dan estimasi peluang, yaitu supervised learning dengan label dapat S atau tidak. Markov Chain kami pakai sebagai pembanding teori, sedangkan algoritma tidak diberi tahu soal soft pity.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Rumusan masalah (±1,5 menit). Bacakan lima rumusan masalah. Rumusan kedua menjawab alasan memakai data mining: soft pity tidak diumumkan, jadi harus dicari dari data. Rumusan ketiga adalah inti tugas: membandingkan enam algoritma. Naive Bayes, KNN, dan Decision Tree sesuai materi kuliah; Logistic Regression, Random Forest, dan XGBoost sebagai pembanding tambahan.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Batasan dan kebaruan (±1,5 menit). Bacakan batasan: hanya dua banner terbatas dan hanya S-Rank. Lalu empat kebaruan sesuai Subbab 1.4 proposal: soft pity digali dari data pemain asli; keenam algoritma dibandingkan dengan acuan teori Markov, bukan hanya antaralgoritma; evaluasinya dirancang supaya tidak bocor, yaitu dibagi per akun atau per siklus pity, hyperparameter dipilih tanpa data uji, dan selisih diuji dengan uji t terkoreksi; dan hasilnya langsung dipakai di aplikasi web.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Penelitian terdahulu (±1,5 menit). Kelompokkan jadi tiga. Pertama, penelitian gacha dan loot box: kebanyakan membahas perilaku pemain dan regulasi, misalnya kaitan loot box dengan judi dan peluang yang tidak ditampilkan jelas; yang memodelkan gacha secara matematis melihatnya dari sisi pendapatan pengembang. Kedua, penelitian perbandingan algoritma: hasilnya berbeda-beda, kadang XGBoost yang terbaik, kadang Random Forest, tetapi model berbasis pohon umumnya kuat di data tabel. Ketiga, celahnya: belum ada yang memperkirakan peluang dari data riwayat gacha pemain, dan karena hasil algoritma bergantung pada data, perbandingannya perlu diuji langsung di kasus gacha. Daftar lengkapnya ada di Tabel 2.1 proposal.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Aturan banner (±1 menit). Fokus hanya dua banner terbatas. Angka rate dan hard pity dari detail banner resmi di game. Titik soft pity tidak diumumkan resmi, jadi memakai estimasi komunitas. Jelaskan aturan guaranteed setelah kalah 50/50.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Markov Chain (±1,5 menit). State adalah pity saat ini. Setiap pull, dengan peluang h kita dapat S dan kembali ke pity 0; jika tidak, pity naik satu. Grafik bawah menunjukkan peluang per pull: datar 0,6 persen lalu melonjak setelah soft pity sampai 100 persen di hard pity. Kenaikan per pull dicari dengan metode biseksi agar rata-ratanya sama dengan rate gabungan resmi. Markov Chain ini dipakai di kalkulator dan sebagai acuan teori pembanding algoritma. Titik soft pity-nya masih estimasi, dan nanti kami periksa dengan data asli.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Algoritma (±2 menit). Jelaskan singkat keenam algoritma. Naive Bayes, KNN, dan Decision Tree adalah materi kuliah. Logistic Regression sebagai model linear sederhana. Random Forest dan XGBoost adalah ensemble pohon. Ditambah dua pembanding: baseline yang selalu menebak tidak dapat S, dan Markov Chain sebagai acuan teori. Tekankan bahwa pengaturan setiap algoritma, misalnya jumlah tetangga k pada KNN, tidak ditebak, tetapi dipilih dengan grid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Metrik evaluasi (±1,5 menit). Semua metrik dihitung dari confusion matrix: TP, TN, FP, FN. Dosen menilai akurasi, dan akurasi tetap kami laporkan sebagai metrik utama. Namun karena datanya tidak seimbang, kami tambah balanced accuracy, F1, ROC-AUC, dan log loss supaya penilaian adil.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 (±1,5 menit). Kami memakai CRISP-DM, enam tahap. Jelaskan singkat setiap tahap dan apa yang dilakukan kelompok di setiap tahap.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(±1,5 menit). Riwayat satu akun terlalu sedikit untuk melatih model, jadi data latih memakai simulasi Monte Carlo dari model Markov, 400 akun. Karena simulasi dibuat dari model kami sendiri, model yang dilatih di simulasi hanya mempelajari ulang asumsi itu; karena itu data asli sangat penting. Data asli tiga akun, 1.751 pull, sudah memenuhi syarat dataset tabel minimal 500 sampai 1000 baris. Data asli dipakai untuk menguji, dan di eksperimen kedua keenam algoritma juga dilatih dan diuji hanya dengan data asli. Jelaskan cara pengambilan data asli lewat script PowerShell yang hanya membaca cache game, dan bahwa authkey tidak disimpan.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Fitur dan target (±1,5 menit). Empat fitur sederhana. Dua tugas: tugas A memprediksi pull berikutnya, tugas B memprediksi dalam 10 pull. Tugas B dijadikan utama karena lebih relevan bagi pemain (satu kali ten-pull) dan kelasnya lebih seimbang.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Skenario evaluasi (±1 menit). Pembagian data per akun mencegah kebocoran, karena pull yang berurutan saling berkaitan. Cross-validation lima fold untuk hasil yang stabil, lalu uji akhir di data asli. Hyperparameter setiap algoritma dipilih dengan grid search memakai 100 akun simulasi tambahan yang tidak dipakai untuk evaluasi, jadi tidak ada kebocoran. Perbedaan antar-model diuji dengan uji t berpasangan terkoreksi, supaya kita tahu selisihnya nyata atau hanya kebetulan. Poin kelima adalah eksperimen kedua: semua algoritma dilatih dan diuji hanya dengan data asli, 1.425 baris, dibagi per siklus pity menjadi 5 bagian, dan grid search diulang di dalam setiap bagian. Kami tidak memakai oversampling seperti SMOTE, karena yang dicari adalah angka peluang yang tepat; ketidakseimbangan ditangani lewat pilihan metrik.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Rancangan aplikasi (±1,5 menit). Aplikasi dibangun dengan Streamlit, materi deployment di kuliah. Jelaskan enam halaman. Kalau memungkinkan, buka link aplikasinya dan tunjukkan halaman kalkulator secara langsung.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Hasil awal (±2 menit). Prototipe sudah berjalan dan bisa dibuka di HP. Validasi: saat dicek, pity akun asli 70 dari 90 dan 46 dari 80 sama persis dengan di game. Hasil awal tugas B: model pohon dan KNN sekitar 91 persen di simulasi dan 92 persen di data asli, Logistic Regression dan Naive Bayes lebih rendah. Eksperimen latih dan uji dengan data asli saja, 1.425 baris, juga sudah dilakukan: Random Forest tertinggi sekitar 92 persen. Uji coba grid search membuat Naive Bayes membaik, dan uji signifikansi awal menunjukkan selisih antaralgoritma di data asli yang masih sedikit belum bermakna. Analisis awal data asli memperlihatkan laju S Agent hampir nol sampai pull ke-73 lalu melonjak mulai pull ke-74, sesuai estimasi soft pity. Hasil lengkap akan dibahas di laporan akhir.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Peta jalan (±1 menit). Penelitian dibagi tiga tahap selama 14 minggu. Minggu 1 sampai 3 penelitian rintisan: membentuk kelompok, memilih topik, studi literatur, dan mempelajari aturan banner. Minggu 4 sampai 7 penelitian fundamental: mengambil riwayat gacha asli, membuat simulasi, pra-pemrosesan, dan menyusun proposal ini. Minggu 8 sampai 14 penelitian terapan: grid search, pelatihan enam algoritma, evaluasi dan uji signifikansi, analisis soft pity, aplikasi, laporan akhir, dan presentasi. Sebutkan bahwa prototipe aplikasi sudah berjalan lebih awal, jadi sisa pekerjaannya penyempurnaan evaluasi dan laporan akhir. Jadwal per minggunya ada di akhir Bab II proposal.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(±1 menit). Ucapkan terima kasih, ajak membuka aplikasi lewat link, lalu buka sesi tanya jawab.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7"/>
        </a:solidFill>
      </p:bgPr>
    </p:bg>
    <p:spTree>
      <p:nvGrpSpPr>
        <p:cNvPr id="1" name=""/>
        <p:cNvGrpSpPr/>
        <p:nvPr/>
      </p:nvGrpSpPr>
      <p:grpSpPr>
        <a:xfrm>
          <a:off x="0" y="0"/>
          <a:ext cx="0" cy="0"/>
          <a:chOff x="0" y="0"/>
          <a:chExt cx="0" cy="0"/>
        </a:xfrm>
      </p:grpSpPr>
      <p:sp>
        <p:nvSpPr>
          <p:cNvPr id="2" name="Shape 0"/>
          <p:cNvSpPr/>
          <p:nvPr/>
        </p:nvSpPr>
        <p:spPr>
          <a:xfrm>
            <a:off x="8503920" y="1097280"/>
            <a:ext cx="4754880" cy="4754880"/>
          </a:xfrm>
          <a:prstGeom prst="ellipse">
            <a:avLst/>
          </a:prstGeom>
          <a:solidFill>
            <a:srgbClr val="F5A623">
              <a:alpha val="12000"/>
            </a:srgbClr>
          </a:solidFill>
          <a:ln w="12700">
            <a:solidFill>
              <a:srgbClr val="F5A623">
                <a:alpha val="40000"/>
              </a:srgbClr>
            </a:solidFill>
            <a:prstDash val="solid"/>
          </a:ln>
        </p:spPr>
      </p:sp>
      <p:sp>
        <p:nvSpPr>
          <p:cNvPr id="3" name="Shape 1"/>
          <p:cNvSpPr/>
          <p:nvPr/>
        </p:nvSpPr>
        <p:spPr>
          <a:xfrm>
            <a:off x="9418320" y="2011680"/>
            <a:ext cx="2926080" cy="2926080"/>
          </a:xfrm>
          <a:prstGeom prst="ellipse">
            <a:avLst/>
          </a:prstGeom>
          <a:solidFill>
            <a:srgbClr val="58A6FF">
              <a:alpha val="15000"/>
            </a:srgbClr>
          </a:solidFill>
          <a:ln w="12700">
            <a:solidFill>
              <a:srgbClr val="58A6FF">
                <a:alpha val="40000"/>
              </a:srgbClr>
            </a:solidFill>
            <a:prstDash val="solid"/>
          </a:ln>
        </p:spPr>
      </p:sp>
      <p:sp>
        <p:nvSpPr>
          <p:cNvPr id="4" name="Text 2"/>
          <p:cNvSpPr txBox="1"/>
          <p:nvPr/>
        </p:nvSpPr>
        <p:spPr>
          <a:xfrm>
            <a:off x="9418320" y="2011680"/>
            <a:ext cx="2926080" cy="2926080"/>
          </a:xfrm>
          <a:prstGeom prst="rect">
            <a:avLst/>
          </a:prstGeom>
          <a:noFill/>
          <a:ln/>
        </p:spPr>
        <p:txBody>
          <a:bodyPr wrap="square" lIns="0" tIns="0" rIns="0" bIns="0" rtlCol="0" anchor="ctr"/>
          <a:lstStyle/>
          <a:p>
            <a:pPr algn="ctr" indent="0" marL="0">
              <a:buNone/>
            </a:pPr>
            <a:r>
              <a:rPr lang="en-US" sz="12000" b="1" dirty="0">
                <a:solidFill>
                  <a:srgbClr val="F5A623"/>
                </a:solidFill>
                <a:latin typeface="Cambria" pitchFamily="34" charset="0"/>
                <a:ea typeface="Cambria" pitchFamily="34" charset="-122"/>
                <a:cs typeface="Cambria" pitchFamily="34" charset="-120"/>
              </a:rPr>
              <a:t>S</a:t>
            </a:r>
            <a:endParaRPr lang="en-US" sz="12000" dirty="0"/>
          </a:p>
        </p:txBody>
      </p:sp>
      <p:pic>
        <p:nvPicPr>
          <p:cNvPr id="5" name="Image 0" descr="Logo Universitas Dian Nuswantoro">    </p:cNvPr>
          <p:cNvPicPr>
            <a:picLocks noChangeAspect="1"/>
          </p:cNvPicPr>
          <p:nvPr/>
        </p:nvPicPr>
        <p:blipFill>
          <a:blip r:embed="rId1"/>
          <a:stretch>
            <a:fillRect/>
          </a:stretch>
        </p:blipFill>
        <p:spPr>
          <a:xfrm>
            <a:off x="548640" y="365760"/>
            <a:ext cx="914400" cy="914400"/>
          </a:xfrm>
          <a:prstGeom prst="rect">
            <a:avLst/>
          </a:prstGeom>
        </p:spPr>
      </p:pic>
      <p:sp>
        <p:nvSpPr>
          <p:cNvPr id="6" name="Text 3"/>
          <p:cNvSpPr txBox="1"/>
          <p:nvPr/>
        </p:nvSpPr>
        <p:spPr>
          <a:xfrm>
            <a:off x="1645920" y="640080"/>
            <a:ext cx="6766560" cy="365760"/>
          </a:xfrm>
          <a:prstGeom prst="rect">
            <a:avLst/>
          </a:prstGeom>
          <a:noFill/>
          <a:ln/>
        </p:spPr>
        <p:txBody>
          <a:bodyPr wrap="square" lIns="0" tIns="0" rIns="0" bIns="0" rtlCol="0" anchor="ctr"/>
          <a:lstStyle/>
          <a:p>
            <a:pPr indent="0" marL="0">
              <a:buNone/>
            </a:pPr>
            <a:r>
              <a:rPr lang="en-US" sz="1400" b="1" spc="300" kern="0" dirty="0">
                <a:solidFill>
                  <a:srgbClr val="F5A623"/>
                </a:solidFill>
                <a:latin typeface="Calibri" pitchFamily="34" charset="0"/>
                <a:ea typeface="Calibri" pitchFamily="34" charset="-122"/>
                <a:cs typeface="Calibri" pitchFamily="34" charset="-120"/>
              </a:rPr>
              <a:t>PROPOSAL PROYEK AKHIR · UTS</a:t>
            </a:r>
            <a:endParaRPr lang="en-US" sz="1400" dirty="0"/>
          </a:p>
        </p:txBody>
      </p:sp>
      <p:sp>
        <p:nvSpPr>
          <p:cNvPr id="7" name="Text 4"/>
          <p:cNvSpPr txBox="1"/>
          <p:nvPr/>
        </p:nvSpPr>
        <p:spPr>
          <a:xfrm>
            <a:off x="548640" y="1371600"/>
            <a:ext cx="7863840" cy="1005840"/>
          </a:xfrm>
          <a:prstGeom prst="rect">
            <a:avLst/>
          </a:prstGeom>
          <a:noFill/>
          <a:ln/>
        </p:spPr>
        <p:txBody>
          <a:bodyPr wrap="square" lIns="0" tIns="0" rIns="0" bIns="0" rtlCol="0" anchor="ctr"/>
          <a:lstStyle/>
          <a:p>
            <a:pPr indent="0" marL="0">
              <a:buNone/>
            </a:pPr>
            <a:r>
              <a:rPr lang="en-US" sz="4800" b="1" dirty="0">
                <a:solidFill>
                  <a:srgbClr val="E6EDF3"/>
                </a:solidFill>
                <a:latin typeface="Cambria" pitchFamily="34" charset="0"/>
                <a:ea typeface="Cambria" pitchFamily="34" charset="-122"/>
                <a:cs typeface="Cambria" pitchFamily="34" charset="-120"/>
              </a:rPr>
              <a:t>ZZZ Gacha Predictor</a:t>
            </a:r>
            <a:endParaRPr lang="en-US" sz="4800" dirty="0"/>
          </a:p>
        </p:txBody>
      </p:sp>
      <p:sp>
        <p:nvSpPr>
          <p:cNvPr id="8" name="Text 5"/>
          <p:cNvSpPr txBox="1"/>
          <p:nvPr/>
        </p:nvSpPr>
        <p:spPr>
          <a:xfrm>
            <a:off x="548640" y="2468880"/>
            <a:ext cx="7680960" cy="1188720"/>
          </a:xfrm>
          <a:prstGeom prst="rect">
            <a:avLst/>
          </a:prstGeom>
          <a:noFill/>
          <a:ln/>
        </p:spPr>
        <p:txBody>
          <a:bodyPr wrap="square" lIns="0" tIns="0" rIns="0" bIns="0" rtlCol="0" anchor="t"/>
          <a:lstStyle/>
          <a:p>
            <a:pPr indent="0" marL="0">
              <a:buNone/>
            </a:pPr>
            <a:r>
              <a:rPr lang="en-US" sz="1800" dirty="0">
                <a:solidFill>
                  <a:srgbClr val="A9B4C2"/>
                </a:solidFill>
                <a:latin typeface="Calibri" pitchFamily="34" charset="0"/>
                <a:ea typeface="Calibri" pitchFamily="34" charset="-122"/>
                <a:cs typeface="Calibri" pitchFamily="34" charset="-120"/>
              </a:rPr>
              <a:t>Perbandingan Algoritma Klasifikasi untuk Memprediksi Peluang Mendapatkan S-Rank pada Sistem Gacha Zenless Zone Zero Berbasis Web</a:t>
            </a:r>
            <a:endParaRPr lang="en-US" sz="1800" dirty="0"/>
          </a:p>
        </p:txBody>
      </p:sp>
      <p:sp>
        <p:nvSpPr>
          <p:cNvPr id="9" name="Text 6"/>
          <p:cNvSpPr txBox="1"/>
          <p:nvPr/>
        </p:nvSpPr>
        <p:spPr>
          <a:xfrm>
            <a:off x="548640" y="4114800"/>
            <a:ext cx="7315200" cy="1280160"/>
          </a:xfrm>
          <a:prstGeom prst="rect">
            <a:avLst/>
          </a:prstGeom>
          <a:noFill/>
          <a:ln/>
        </p:spPr>
        <p:txBody>
          <a:bodyPr wrap="square" lIns="0" tIns="0" rIns="0" bIns="0" rtlCol="0" anchor="t"/>
          <a:lstStyle/>
          <a:p>
            <a:pPr indent="0" marL="0">
              <a:spcAft>
                <a:spcPts val="400"/>
              </a:spcAft>
              <a:buNone/>
            </a:pPr>
            <a:r>
              <a:rPr lang="en-US" sz="1500" b="1" dirty="0">
                <a:solidFill>
                  <a:srgbClr val="E6EDF3"/>
                </a:solidFill>
                <a:latin typeface="Calibri" pitchFamily="34" charset="0"/>
                <a:ea typeface="Calibri" pitchFamily="34" charset="-122"/>
                <a:cs typeface="Calibri" pitchFamily="34" charset="-120"/>
              </a:rPr>
              <a:t>Kelompok 6 · Kelas A11.4502</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Mata kuliah Penambangan Data</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Dosen: Ardytha Luthfiarta, M.Kom, MCS</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Universitas Dian Nuswantoro · 2026</a:t>
            </a:r>
            <a:endParaRPr lang="en-US" sz="1500" dirty="0"/>
          </a:p>
        </p:txBody>
      </p:sp>
      <p:sp>
        <p:nvSpPr>
          <p:cNvPr id="10" name="Text 7"/>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400" dirty="0">
                <a:solidFill>
                  <a:srgbClr val="58A6FF"/>
                </a:solidFill>
                <a:latin typeface="Calibri" pitchFamily="34" charset="0"/>
                <a:ea typeface="Calibri" pitchFamily="34" charset="-122"/>
                <a:cs typeface="Calibri" pitchFamily="34" charset="-120"/>
              </a:rPr>
              <a:t>project-data-mining-zzz.streamlit.app</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TIM</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Anggota Kelompok 6</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194560"/>
                <a:gridCol w="3108960"/>
                <a:gridCol w="5760720"/>
              </a:tblGrid>
              <a:tr h="566928">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NIM</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Nama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Peran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A11.2024.16004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Syafiq Yahya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Ketua kelompok, presentasi hasil</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A11.2024.15851</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Dafi Hauzan A.H</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Pengembang aplikasi, pengumpulan &amp; pengujian data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A11.2024.15842</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Gastiadirrijal Rafi M</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slide presentasi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A11.2024.15826</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Zabrina Miftah Z</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proposal &amp; laporan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A11.2024.15804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Rayya Hasya Tamimi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proposal &amp; laporan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LATAR BELAKANG</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“Pity-ku 70. Berapa peluang dapat S?”</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3</a:t>
            </a:r>
            <a:endParaRPr lang="en-US" sz="1000" dirty="0"/>
          </a:p>
        </p:txBody>
      </p:sp>
      <p:sp>
        <p:nvSpPr>
          <p:cNvPr id="6" name="Text 4"/>
          <p:cNvSpPr txBox="1"/>
          <p:nvPr/>
        </p:nvSpPr>
        <p:spPr>
          <a:xfrm>
            <a:off x="548640" y="1600200"/>
            <a:ext cx="10972800" cy="1005840"/>
          </a:xfrm>
          <a:prstGeom prst="rect">
            <a:avLst/>
          </a:prstGeom>
          <a:noFill/>
          <a:ln/>
        </p:spPr>
        <p:txBody>
          <a:bodyPr wrap="square" lIns="0" tIns="0" rIns="0" bIns="0" rtlCol="0" anchor="t"/>
          <a:lstStyle/>
          <a:p>
            <a:pPr indent="0" marL="0">
              <a:buNone/>
            </a:pPr>
            <a:r>
              <a:rPr lang="en-US" sz="1700" dirty="0">
                <a:solidFill>
                  <a:srgbClr val="A9B4C2"/>
                </a:solidFill>
                <a:latin typeface="Calibri" pitchFamily="34" charset="0"/>
                <a:ea typeface="Calibri" pitchFamily="34" charset="-122"/>
                <a:cs typeface="Calibri" pitchFamily="34" charset="-120"/>
              </a:rPr>
              <a:t>Gacha di Zenless Zone Zero memakai sistem pity: makin lama tidak dapat S-Rank, peluangnya makin besar sampai pasti dapat. Pemain sering hanya menebak-nebak. Riwayat gacha tersimpan di server, sehingga bisa diolah dengan penambangan data.</a:t>
            </a:r>
            <a:endParaRPr lang="en-US" sz="1700" dirty="0"/>
          </a:p>
        </p:txBody>
      </p:sp>
      <p:sp>
        <p:nvSpPr>
          <p:cNvPr id="7" name="Text 5"/>
          <p:cNvSpPr txBox="1"/>
          <p:nvPr/>
        </p:nvSpPr>
        <p:spPr>
          <a:xfrm>
            <a:off x="548640" y="3017520"/>
            <a:ext cx="3474720" cy="914400"/>
          </a:xfrm>
          <a:prstGeom prst="rect">
            <a:avLst/>
          </a:prstGeom>
          <a:noFill/>
          <a:ln/>
        </p:spPr>
        <p:txBody>
          <a:bodyPr wrap="square" lIns="0" tIns="0" rIns="0" bIns="0" rtlCol="0" anchor="ctr"/>
          <a:lstStyle/>
          <a:p>
            <a:pPr indent="0" marL="0">
              <a:buNone/>
            </a:pPr>
            <a:r>
              <a:rPr lang="en-US" sz="5400" b="1" dirty="0">
                <a:solidFill>
                  <a:srgbClr val="F5A623"/>
                </a:solidFill>
                <a:latin typeface="Cambria" pitchFamily="34" charset="0"/>
                <a:ea typeface="Cambria" pitchFamily="34" charset="-122"/>
                <a:cs typeface="Cambria" pitchFamily="34" charset="-120"/>
              </a:rPr>
              <a:t>0,6%</a:t>
            </a:r>
            <a:endParaRPr lang="en-US" sz="5400" dirty="0"/>
          </a:p>
        </p:txBody>
      </p:sp>
      <p:sp>
        <p:nvSpPr>
          <p:cNvPr id="8" name="Text 6"/>
          <p:cNvSpPr txBox="1"/>
          <p:nvPr/>
        </p:nvSpPr>
        <p:spPr>
          <a:xfrm>
            <a:off x="54864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peluang dasar S-Rank Agent per pull (W-Engine 1,0%)</a:t>
            </a:r>
            <a:endParaRPr lang="en-US" sz="1400" dirty="0"/>
          </a:p>
        </p:txBody>
      </p:sp>
      <p:sp>
        <p:nvSpPr>
          <p:cNvPr id="9" name="Text 7"/>
          <p:cNvSpPr txBox="1"/>
          <p:nvPr/>
        </p:nvSpPr>
        <p:spPr>
          <a:xfrm>
            <a:off x="4343400" y="3017520"/>
            <a:ext cx="3474720" cy="914400"/>
          </a:xfrm>
          <a:prstGeom prst="rect">
            <a:avLst/>
          </a:prstGeom>
          <a:noFill/>
          <a:ln/>
        </p:spPr>
        <p:txBody>
          <a:bodyPr wrap="square" lIns="0" tIns="0" rIns="0" bIns="0" rtlCol="0" anchor="ctr"/>
          <a:lstStyle/>
          <a:p>
            <a:pPr indent="0" marL="0">
              <a:buNone/>
            </a:pPr>
            <a:r>
              <a:rPr lang="en-US" sz="5400" b="1" dirty="0">
                <a:solidFill>
                  <a:srgbClr val="58A6FF"/>
                </a:solidFill>
                <a:latin typeface="Cambria" pitchFamily="34" charset="0"/>
                <a:ea typeface="Cambria" pitchFamily="34" charset="-122"/>
                <a:cs typeface="Cambria" pitchFamily="34" charset="-120"/>
              </a:rPr>
              <a:t>90</a:t>
            </a:r>
            <a:endParaRPr lang="en-US" sz="5400" dirty="0"/>
          </a:p>
        </p:txBody>
      </p:sp>
      <p:sp>
        <p:nvSpPr>
          <p:cNvPr id="10" name="Text 8"/>
          <p:cNvSpPr txBox="1"/>
          <p:nvPr/>
        </p:nvSpPr>
        <p:spPr>
          <a:xfrm>
            <a:off x="434340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hard pity Agent: S-Rank pasti didapat (W-Engine 80)</a:t>
            </a:r>
            <a:endParaRPr lang="en-US" sz="1400" dirty="0"/>
          </a:p>
        </p:txBody>
      </p:sp>
      <p:sp>
        <p:nvSpPr>
          <p:cNvPr id="11" name="Text 9"/>
          <p:cNvSpPr txBox="1"/>
          <p:nvPr/>
        </p:nvSpPr>
        <p:spPr>
          <a:xfrm>
            <a:off x="8138160" y="3017520"/>
            <a:ext cx="3474720" cy="914400"/>
          </a:xfrm>
          <a:prstGeom prst="rect">
            <a:avLst/>
          </a:prstGeom>
          <a:noFill/>
          <a:ln/>
        </p:spPr>
        <p:txBody>
          <a:bodyPr wrap="square" lIns="0" tIns="0" rIns="0" bIns="0" rtlCol="0" anchor="ctr"/>
          <a:lstStyle/>
          <a:p>
            <a:pPr indent="0" marL="0">
              <a:buNone/>
            </a:pPr>
            <a:r>
              <a:rPr lang="en-US" sz="5400" b="1" dirty="0">
                <a:solidFill>
                  <a:srgbClr val="3FB950"/>
                </a:solidFill>
                <a:latin typeface="Cambria" pitchFamily="34" charset="0"/>
                <a:ea typeface="Cambria" pitchFamily="34" charset="-122"/>
                <a:cs typeface="Cambria" pitchFamily="34" charset="-120"/>
              </a:rPr>
              <a:t>±1,7%</a:t>
            </a:r>
            <a:endParaRPr lang="en-US" sz="5400" dirty="0"/>
          </a:p>
        </p:txBody>
      </p:sp>
      <p:sp>
        <p:nvSpPr>
          <p:cNvPr id="12" name="Text 10"/>
          <p:cNvSpPr txBox="1"/>
          <p:nvPr/>
        </p:nvSpPr>
        <p:spPr>
          <a:xfrm>
            <a:off x="813816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pull yang benar-benar menghasilkan S-Rank → data sangat tidak seimbang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ALASAN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Kenapa perlu data mining, bukan rumus saja?</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4</a:t>
            </a:r>
            <a:endParaRPr lang="en-US" sz="1000" dirty="0"/>
          </a:p>
        </p:txBody>
      </p:sp>
      <p:sp>
        <p:nvSpPr>
          <p:cNvPr id="6" name="Text 4"/>
          <p:cNvSpPr txBox="1"/>
          <p:nvPr/>
        </p:nvSpPr>
        <p:spPr>
          <a:xfrm>
            <a:off x="548640" y="1508760"/>
            <a:ext cx="11064240" cy="685800"/>
          </a:xfrm>
          <a:prstGeom prst="rect">
            <a:avLst/>
          </a:prstGeom>
          <a:noFill/>
          <a:ln/>
        </p:spPr>
        <p:txBody>
          <a:bodyPr wrap="square" lIns="0" tIns="0" rIns="0" bIns="0" rtlCol="0" anchor="t"/>
          <a:lstStyle/>
          <a:p>
            <a:pPr indent="0" marL="0">
              <a:buNone/>
            </a:pPr>
            <a:r>
              <a:rPr lang="en-US" sz="1600" dirty="0">
                <a:solidFill>
                  <a:srgbClr val="A9B4C2"/>
                </a:solidFill>
                <a:latin typeface="Calibri" pitchFamily="34" charset="0"/>
                <a:ea typeface="Calibri" pitchFamily="34" charset="-122"/>
                <a:cs typeface="Calibri" pitchFamily="34" charset="-120"/>
              </a:rPr>
              <a:t>Machine learning tidak diperlukan jika ada atribut yang langsung menentukan hasil, atau sudah ada rumus yang pasti dan lengkap. Bagaimana dengan gacha ZZZ?</a:t>
            </a:r>
            <a:endParaRPr lang="en-US" sz="1600" dirty="0"/>
          </a:p>
        </p:txBody>
      </p:sp>
      <p:sp>
        <p:nvSpPr>
          <p:cNvPr id="7" name="Shape 5"/>
          <p:cNvSpPr/>
          <p:nvPr/>
        </p:nvSpPr>
        <p:spPr>
          <a:xfrm>
            <a:off x="548640" y="2331720"/>
            <a:ext cx="5440680" cy="1645920"/>
          </a:xfrm>
          <a:prstGeom prst="roundRect">
            <a:avLst>
              <a:gd name="adj" fmla="val 4444"/>
            </a:avLst>
          </a:prstGeom>
          <a:solidFill>
            <a:srgbClr val="1C2230"/>
          </a:solidFill>
          <a:ln w="9525">
            <a:solidFill>
              <a:srgbClr val="30363D"/>
            </a:solidFill>
            <a:prstDash val="solid"/>
          </a:ln>
        </p:spPr>
      </p:sp>
      <p:sp>
        <p:nvSpPr>
          <p:cNvPr id="8" name="Text 6"/>
          <p:cNvSpPr txBox="1"/>
          <p:nvPr/>
        </p:nvSpPr>
        <p:spPr>
          <a:xfrm>
            <a:off x="777240" y="2560320"/>
            <a:ext cx="4983480" cy="411480"/>
          </a:xfrm>
          <a:prstGeom prst="rect">
            <a:avLst/>
          </a:prstGeom>
          <a:noFill/>
          <a:ln/>
        </p:spPr>
        <p:txBody>
          <a:bodyPr wrap="square" lIns="0" tIns="0" rIns="0" bIns="0" rtlCol="0" anchor="t"/>
          <a:lstStyle/>
          <a:p>
            <a:pPr indent="0" marL="0">
              <a:buNone/>
            </a:pPr>
            <a:r>
              <a:rPr lang="en-US" sz="1800" b="1" dirty="0">
                <a:solidFill>
                  <a:srgbClr val="F85149"/>
                </a:solidFill>
                <a:latin typeface="Cambria" pitchFamily="34" charset="0"/>
                <a:ea typeface="Cambria" pitchFamily="34" charset="-122"/>
                <a:cs typeface="Cambria" pitchFamily="34" charset="-120"/>
              </a:rPr>
              <a:t>Ada atribut penentu hasil? Tidak</a:t>
            </a:r>
            <a:endParaRPr lang="en-US" sz="1800" dirty="0"/>
          </a:p>
        </p:txBody>
      </p:sp>
      <p:sp>
        <p:nvSpPr>
          <p:cNvPr id="9" name="Text 7"/>
          <p:cNvSpPr txBox="1"/>
          <p:nvPr/>
        </p:nvSpPr>
        <p:spPr>
          <a:xfrm>
            <a:off x="777240" y="3017520"/>
            <a:ext cx="4983480" cy="77724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Pity hanya mengubah peluang; hasil setiap pull tetap acak. Kepastian hanya terjadi di hard pity.</a:t>
            </a:r>
            <a:endParaRPr lang="en-US" sz="1500" dirty="0"/>
          </a:p>
        </p:txBody>
      </p:sp>
      <p:sp>
        <p:nvSpPr>
          <p:cNvPr id="10" name="Shape 8"/>
          <p:cNvSpPr/>
          <p:nvPr/>
        </p:nvSpPr>
        <p:spPr>
          <a:xfrm>
            <a:off x="6172200" y="2331720"/>
            <a:ext cx="5440680" cy="1645920"/>
          </a:xfrm>
          <a:prstGeom prst="roundRect">
            <a:avLst>
              <a:gd name="adj" fmla="val 4444"/>
            </a:avLst>
          </a:prstGeom>
          <a:solidFill>
            <a:srgbClr val="1C2230"/>
          </a:solidFill>
          <a:ln w="9525">
            <a:solidFill>
              <a:srgbClr val="30363D"/>
            </a:solidFill>
            <a:prstDash val="solid"/>
          </a:ln>
        </p:spPr>
      </p:sp>
      <p:sp>
        <p:nvSpPr>
          <p:cNvPr id="11" name="Text 9"/>
          <p:cNvSpPr txBox="1"/>
          <p:nvPr/>
        </p:nvSpPr>
        <p:spPr>
          <a:xfrm>
            <a:off x="6400800" y="2560320"/>
            <a:ext cx="4983480" cy="411480"/>
          </a:xfrm>
          <a:prstGeom prst="rect">
            <a:avLst/>
          </a:prstGeom>
          <a:noFill/>
          <a:ln/>
        </p:spPr>
        <p:txBody>
          <a:bodyPr wrap="square" lIns="0" tIns="0" rIns="0" bIns="0" rtlCol="0" anchor="t"/>
          <a:lstStyle/>
          <a:p>
            <a:pPr indent="0" marL="0">
              <a:buNone/>
            </a:pPr>
            <a:r>
              <a:rPr lang="en-US" sz="1800" b="1" dirty="0">
                <a:solidFill>
                  <a:srgbClr val="F85149"/>
                </a:solidFill>
                <a:latin typeface="Cambria" pitchFamily="34" charset="0"/>
                <a:ea typeface="Cambria" pitchFamily="34" charset="-122"/>
                <a:cs typeface="Cambria" pitchFamily="34" charset="-120"/>
              </a:rPr>
              <a:t>Ada rumus pasti &amp; lengkap? Tidak</a:t>
            </a:r>
            <a:endParaRPr lang="en-US" sz="1800" dirty="0"/>
          </a:p>
        </p:txBody>
      </p:sp>
      <p:sp>
        <p:nvSpPr>
          <p:cNvPr id="12" name="Text 10"/>
          <p:cNvSpPr txBox="1"/>
          <p:nvPr/>
        </p:nvSpPr>
        <p:spPr>
          <a:xfrm>
            <a:off x="6400800" y="3017520"/>
            <a:ext cx="4983480" cy="77724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Rate dasar &amp; hard pity resmi, tetapi soft pity (kapan &amp; seberapa cepat peluang naik) TIDAK diumumkan. Perkiraan komunitas pun berbeda-beda.</a:t>
            </a:r>
            <a:endParaRPr lang="en-US" sz="1500" dirty="0"/>
          </a:p>
        </p:txBody>
      </p:sp>
      <p:sp>
        <p:nvSpPr>
          <p:cNvPr id="13" name="Shape 11"/>
          <p:cNvSpPr/>
          <p:nvPr/>
        </p:nvSpPr>
        <p:spPr>
          <a:xfrm>
            <a:off x="548640" y="4206240"/>
            <a:ext cx="11064240" cy="1691640"/>
          </a:xfrm>
          <a:prstGeom prst="roundRect">
            <a:avLst>
              <a:gd name="adj" fmla="val 4324"/>
            </a:avLst>
          </a:prstGeom>
          <a:solidFill>
            <a:srgbClr val="1C2230"/>
          </a:solidFill>
          <a:ln w="9525">
            <a:solidFill>
              <a:srgbClr val="30363D"/>
            </a:solidFill>
            <a:prstDash val="solid"/>
          </a:ln>
        </p:spPr>
      </p:sp>
      <p:sp>
        <p:nvSpPr>
          <p:cNvPr id="14" name="Text 12"/>
          <p:cNvSpPr txBox="1"/>
          <p:nvPr/>
        </p:nvSpPr>
        <p:spPr>
          <a:xfrm>
            <a:off x="777240" y="4434840"/>
            <a:ext cx="1060704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 Pola soft pity harus digali dari data riwayat pemain</a:t>
            </a:r>
            <a:endParaRPr lang="en-US" sz="1800" dirty="0"/>
          </a:p>
        </p:txBody>
      </p:sp>
      <p:sp>
        <p:nvSpPr>
          <p:cNvPr id="15" name="Text 13"/>
          <p:cNvSpPr txBox="1"/>
          <p:nvPr/>
        </p:nvSpPr>
        <p:spPr>
          <a:xfrm>
            <a:off x="777240" y="4892040"/>
            <a:ext cx="10607040" cy="82296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Termasuk klasifikasi + estimasi peluang (supervised learning; label: dapat S-Rank atau tidak). Markov Chain menjadi pembanding teori, sedangkan algoritma tidak diberi tahu soft pity lalu diuji apakah bisa menemukannya sendiri.</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MASALAH</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Rumusan masalah</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5</a:t>
            </a:r>
            <a:endParaRPr lang="en-US" sz="1000" dirty="0"/>
          </a:p>
        </p:txBody>
      </p:sp>
      <p:sp>
        <p:nvSpPr>
          <p:cNvPr id="6" name="Shape 4"/>
          <p:cNvSpPr/>
          <p:nvPr/>
        </p:nvSpPr>
        <p:spPr>
          <a:xfrm>
            <a:off x="548640" y="1737360"/>
            <a:ext cx="2103120" cy="4206240"/>
          </a:xfrm>
          <a:prstGeom prst="roundRect">
            <a:avLst>
              <a:gd name="adj" fmla="val 3478"/>
            </a:avLst>
          </a:prstGeom>
          <a:solidFill>
            <a:srgbClr val="1C2230"/>
          </a:solidFill>
          <a:ln w="9525">
            <a:solidFill>
              <a:srgbClr val="30363D"/>
            </a:solidFill>
            <a:prstDash val="solid"/>
          </a:ln>
        </p:spPr>
      </p:sp>
      <p:sp>
        <p:nvSpPr>
          <p:cNvPr id="7" name="Shape 5"/>
          <p:cNvSpPr/>
          <p:nvPr/>
        </p:nvSpPr>
        <p:spPr>
          <a:xfrm>
            <a:off x="777240" y="1965960"/>
            <a:ext cx="457200" cy="457200"/>
          </a:xfrm>
          <a:prstGeom prst="ellipse">
            <a:avLst/>
          </a:prstGeom>
          <a:solidFill>
            <a:srgbClr val="F5A623"/>
          </a:solidFill>
          <a:ln/>
        </p:spPr>
      </p:sp>
      <p:sp>
        <p:nvSpPr>
          <p:cNvPr id="8" name="Text 6"/>
          <p:cNvSpPr txBox="1"/>
          <p:nvPr/>
        </p:nvSpPr>
        <p:spPr>
          <a:xfrm>
            <a:off x="77724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77724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Menghitung peluang</a:t>
            </a:r>
            <a:endParaRPr lang="en-US" sz="1700" dirty="0"/>
          </a:p>
        </p:txBody>
      </p:sp>
      <p:sp>
        <p:nvSpPr>
          <p:cNvPr id="10" name="Text 8"/>
          <p:cNvSpPr txBox="1"/>
          <p:nvPr/>
        </p:nvSpPr>
        <p:spPr>
          <a:xfrm>
            <a:off x="77724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Berapa peluang dapat S-Rank / S-Rank rate-up dalam N pull dari pity dan status guaranteed?</a:t>
            </a:r>
            <a:endParaRPr lang="en-US" sz="1400" dirty="0"/>
          </a:p>
        </p:txBody>
      </p:sp>
      <p:sp>
        <p:nvSpPr>
          <p:cNvPr id="11" name="Shape 9"/>
          <p:cNvSpPr/>
          <p:nvPr/>
        </p:nvSpPr>
        <p:spPr>
          <a:xfrm>
            <a:off x="2788920" y="1737360"/>
            <a:ext cx="2103120" cy="4206240"/>
          </a:xfrm>
          <a:prstGeom prst="roundRect">
            <a:avLst>
              <a:gd name="adj" fmla="val 3478"/>
            </a:avLst>
          </a:prstGeom>
          <a:solidFill>
            <a:srgbClr val="1C2230"/>
          </a:solidFill>
          <a:ln w="9525">
            <a:solidFill>
              <a:srgbClr val="30363D"/>
            </a:solidFill>
            <a:prstDash val="solid"/>
          </a:ln>
        </p:spPr>
      </p:sp>
      <p:sp>
        <p:nvSpPr>
          <p:cNvPr id="12" name="Shape 10"/>
          <p:cNvSpPr/>
          <p:nvPr/>
        </p:nvSpPr>
        <p:spPr>
          <a:xfrm>
            <a:off x="3017520" y="1965960"/>
            <a:ext cx="457200" cy="457200"/>
          </a:xfrm>
          <a:prstGeom prst="ellipse">
            <a:avLst/>
          </a:prstGeom>
          <a:solidFill>
            <a:srgbClr val="FF7EB6"/>
          </a:solidFill>
          <a:ln/>
        </p:spPr>
      </p:sp>
      <p:sp>
        <p:nvSpPr>
          <p:cNvPr id="13" name="Text 11"/>
          <p:cNvSpPr txBox="1"/>
          <p:nvPr/>
        </p:nvSpPr>
        <p:spPr>
          <a:xfrm>
            <a:off x="301752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301752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Pola soft pity</a:t>
            </a:r>
            <a:endParaRPr lang="en-US" sz="1700" dirty="0"/>
          </a:p>
        </p:txBody>
      </p:sp>
      <p:sp>
        <p:nvSpPr>
          <p:cNvPr id="15" name="Text 13"/>
          <p:cNvSpPr txBox="1"/>
          <p:nvPr/>
        </p:nvSpPr>
        <p:spPr>
          <a:xfrm>
            <a:off x="301752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Bisakah soft pity yang tidak diumumkan resmi ditemukan dari data riwayat pemain?</a:t>
            </a:r>
            <a:endParaRPr lang="en-US" sz="1400" dirty="0"/>
          </a:p>
        </p:txBody>
      </p:sp>
      <p:sp>
        <p:nvSpPr>
          <p:cNvPr id="16" name="Shape 14"/>
          <p:cNvSpPr/>
          <p:nvPr/>
        </p:nvSpPr>
        <p:spPr>
          <a:xfrm>
            <a:off x="5029200" y="1737360"/>
            <a:ext cx="2103120" cy="4206240"/>
          </a:xfrm>
          <a:prstGeom prst="roundRect">
            <a:avLst>
              <a:gd name="adj" fmla="val 3478"/>
            </a:avLst>
          </a:prstGeom>
          <a:solidFill>
            <a:srgbClr val="1C2230"/>
          </a:solidFill>
          <a:ln w="9525">
            <a:solidFill>
              <a:srgbClr val="30363D"/>
            </a:solidFill>
            <a:prstDash val="solid"/>
          </a:ln>
        </p:spPr>
      </p:sp>
      <p:sp>
        <p:nvSpPr>
          <p:cNvPr id="17" name="Shape 15"/>
          <p:cNvSpPr/>
          <p:nvPr/>
        </p:nvSpPr>
        <p:spPr>
          <a:xfrm>
            <a:off x="5257800" y="1965960"/>
            <a:ext cx="457200" cy="457200"/>
          </a:xfrm>
          <a:prstGeom prst="ellipse">
            <a:avLst/>
          </a:prstGeom>
          <a:solidFill>
            <a:srgbClr val="58A6FF"/>
          </a:solidFill>
          <a:ln/>
        </p:spPr>
      </p:sp>
      <p:sp>
        <p:nvSpPr>
          <p:cNvPr id="18" name="Text 16"/>
          <p:cNvSpPr txBox="1"/>
          <p:nvPr/>
        </p:nvSpPr>
        <p:spPr>
          <a:xfrm>
            <a:off x="525780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525780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Algoritma terbaik</a:t>
            </a:r>
            <a:endParaRPr lang="en-US" sz="1700" dirty="0"/>
          </a:p>
        </p:txBody>
      </p:sp>
      <p:sp>
        <p:nvSpPr>
          <p:cNvPr id="20" name="Text 18"/>
          <p:cNvSpPr txBox="1"/>
          <p:nvPr/>
        </p:nvSpPr>
        <p:spPr>
          <a:xfrm>
            <a:off x="525780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Dari Naive Bayes, KNN, Logistic Regression, Decision Tree, Random Forest, dan XGBoost, mana yang paling akurat?</a:t>
            </a:r>
            <a:endParaRPr lang="en-US" sz="1400" dirty="0"/>
          </a:p>
        </p:txBody>
      </p:sp>
      <p:sp>
        <p:nvSpPr>
          <p:cNvPr id="21" name="Shape 19"/>
          <p:cNvSpPr/>
          <p:nvPr/>
        </p:nvSpPr>
        <p:spPr>
          <a:xfrm>
            <a:off x="7269480" y="1737360"/>
            <a:ext cx="2103120" cy="4206240"/>
          </a:xfrm>
          <a:prstGeom prst="roundRect">
            <a:avLst>
              <a:gd name="adj" fmla="val 3478"/>
            </a:avLst>
          </a:prstGeom>
          <a:solidFill>
            <a:srgbClr val="1C2230"/>
          </a:solidFill>
          <a:ln w="9525">
            <a:solidFill>
              <a:srgbClr val="30363D"/>
            </a:solidFill>
            <a:prstDash val="solid"/>
          </a:ln>
        </p:spPr>
      </p:sp>
      <p:sp>
        <p:nvSpPr>
          <p:cNvPr id="22" name="Shape 20"/>
          <p:cNvSpPr/>
          <p:nvPr/>
        </p:nvSpPr>
        <p:spPr>
          <a:xfrm>
            <a:off x="7498080" y="1965960"/>
            <a:ext cx="457200" cy="457200"/>
          </a:xfrm>
          <a:prstGeom prst="ellipse">
            <a:avLst/>
          </a:prstGeom>
          <a:solidFill>
            <a:srgbClr val="3FB950"/>
          </a:solidFill>
          <a:ln/>
        </p:spPr>
      </p:sp>
      <p:sp>
        <p:nvSpPr>
          <p:cNvPr id="23" name="Text 21"/>
          <p:cNvSpPr txBox="1"/>
          <p:nvPr/>
        </p:nvSpPr>
        <p:spPr>
          <a:xfrm>
            <a:off x="749808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4</a:t>
            </a:r>
            <a:endParaRPr lang="en-US" sz="1600" dirty="0"/>
          </a:p>
        </p:txBody>
      </p:sp>
      <p:sp>
        <p:nvSpPr>
          <p:cNvPr id="24" name="Text 22"/>
          <p:cNvSpPr txBox="1"/>
          <p:nvPr/>
        </p:nvSpPr>
        <p:spPr>
          <a:xfrm>
            <a:off x="749808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Evaluasi yang tepat</a:t>
            </a:r>
            <a:endParaRPr lang="en-US" sz="1700" dirty="0"/>
          </a:p>
        </p:txBody>
      </p:sp>
      <p:sp>
        <p:nvSpPr>
          <p:cNvPr id="25" name="Text 23"/>
          <p:cNvSpPr txBox="1"/>
          <p:nvPr/>
        </p:nvSpPr>
        <p:spPr>
          <a:xfrm>
            <a:off x="749808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Bagaimana menilai model pada data yang sangat tidak seimbang?</a:t>
            </a:r>
            <a:endParaRPr lang="en-US" sz="1400" dirty="0"/>
          </a:p>
        </p:txBody>
      </p:sp>
      <p:sp>
        <p:nvSpPr>
          <p:cNvPr id="26" name="Shape 24"/>
          <p:cNvSpPr/>
          <p:nvPr/>
        </p:nvSpPr>
        <p:spPr>
          <a:xfrm>
            <a:off x="9509760" y="1737360"/>
            <a:ext cx="2103120" cy="4206240"/>
          </a:xfrm>
          <a:prstGeom prst="roundRect">
            <a:avLst>
              <a:gd name="adj" fmla="val 3478"/>
            </a:avLst>
          </a:prstGeom>
          <a:solidFill>
            <a:srgbClr val="1C2230"/>
          </a:solidFill>
          <a:ln w="9525">
            <a:solidFill>
              <a:srgbClr val="30363D"/>
            </a:solidFill>
            <a:prstDash val="solid"/>
          </a:ln>
        </p:spPr>
      </p:sp>
      <p:sp>
        <p:nvSpPr>
          <p:cNvPr id="27" name="Shape 25"/>
          <p:cNvSpPr/>
          <p:nvPr/>
        </p:nvSpPr>
        <p:spPr>
          <a:xfrm>
            <a:off x="9738360" y="1965960"/>
            <a:ext cx="457200" cy="457200"/>
          </a:xfrm>
          <a:prstGeom prst="ellipse">
            <a:avLst/>
          </a:prstGeom>
          <a:solidFill>
            <a:srgbClr val="BC8CFF"/>
          </a:solidFill>
          <a:ln/>
        </p:spPr>
      </p:sp>
      <p:sp>
        <p:nvSpPr>
          <p:cNvPr id="28" name="Text 26"/>
          <p:cNvSpPr txBox="1"/>
          <p:nvPr/>
        </p:nvSpPr>
        <p:spPr>
          <a:xfrm>
            <a:off x="973836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5</a:t>
            </a:r>
            <a:endParaRPr lang="en-US" sz="1600" dirty="0"/>
          </a:p>
        </p:txBody>
      </p:sp>
      <p:sp>
        <p:nvSpPr>
          <p:cNvPr id="29" name="Text 27"/>
          <p:cNvSpPr txBox="1"/>
          <p:nvPr/>
        </p:nvSpPr>
        <p:spPr>
          <a:xfrm>
            <a:off x="973836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Mudah diakses</a:t>
            </a:r>
            <a:endParaRPr lang="en-US" sz="1700" dirty="0"/>
          </a:p>
        </p:txBody>
      </p:sp>
      <p:sp>
        <p:nvSpPr>
          <p:cNvPr id="30" name="Text 28"/>
          <p:cNvSpPr txBox="1"/>
          <p:nvPr/>
        </p:nvSpPr>
        <p:spPr>
          <a:xfrm>
            <a:off x="973836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Bagaimana menyajikannya dalam web yang nyaman di HP dan PC?</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PENDAHULUAN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Batasan dan kebaruan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6</a:t>
            </a:r>
            <a:endParaRPr lang="en-US" sz="1000" dirty="0"/>
          </a:p>
        </p:txBody>
      </p:sp>
      <p:sp>
        <p:nvSpPr>
          <p:cNvPr id="6" name="Text 4"/>
          <p:cNvSpPr txBox="1"/>
          <p:nvPr/>
        </p:nvSpPr>
        <p:spPr>
          <a:xfrm>
            <a:off x="548640" y="1645920"/>
            <a:ext cx="5394960" cy="365760"/>
          </a:xfrm>
          <a:prstGeom prst="rect">
            <a:avLst/>
          </a:prstGeom>
          <a:noFill/>
          <a:ln/>
        </p:spPr>
        <p:txBody>
          <a:bodyPr wrap="square" lIns="0" tIns="0" rIns="0" bIns="0" rtlCol="0" anchor="ctr"/>
          <a:lstStyle/>
          <a:p>
            <a:pPr indent="0" marL="0">
              <a:buNone/>
            </a:pPr>
            <a:r>
              <a:rPr lang="en-US" sz="2000" b="1" dirty="0">
                <a:solidFill>
                  <a:srgbClr val="F5A623"/>
                </a:solidFill>
                <a:latin typeface="Cambria" pitchFamily="34" charset="0"/>
                <a:ea typeface="Cambria" pitchFamily="34" charset="-122"/>
                <a:cs typeface="Cambria" pitchFamily="34" charset="-120"/>
              </a:rPr>
              <a:t>Batasan</a:t>
            </a:r>
            <a:endParaRPr lang="en-US" sz="2000" dirty="0"/>
          </a:p>
        </p:txBody>
      </p:sp>
      <p:sp>
        <p:nvSpPr>
          <p:cNvPr id="7" name="Text 5"/>
          <p:cNvSpPr txBox="1"/>
          <p:nvPr/>
        </p:nvSpPr>
        <p:spPr>
          <a:xfrm>
            <a:off x="548640" y="2103120"/>
            <a:ext cx="5394960" cy="39319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Hanya banner Agent &amp; W-Engine terbatas</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Yang diprediksi hanya S-Rank</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Soft pity: estimasi komunitas, diperiksa dengan data asli</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Data asli: akun anggota &amp; teman (anonim)</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Ambil riwayat otomatis: PC Windows</a:t>
            </a:r>
            <a:endParaRPr lang="en-US" sz="1600" dirty="0"/>
          </a:p>
        </p:txBody>
      </p:sp>
      <p:sp>
        <p:nvSpPr>
          <p:cNvPr id="8" name="Text 6"/>
          <p:cNvSpPr txBox="1"/>
          <p:nvPr/>
        </p:nvSpPr>
        <p:spPr>
          <a:xfrm>
            <a:off x="6309360" y="1645920"/>
            <a:ext cx="5394960" cy="365760"/>
          </a:xfrm>
          <a:prstGeom prst="rect">
            <a:avLst/>
          </a:prstGeom>
          <a:noFill/>
          <a:ln/>
        </p:spPr>
        <p:txBody>
          <a:bodyPr wrap="square" lIns="0" tIns="0" rIns="0" bIns="0" rtlCol="0" anchor="ctr"/>
          <a:lstStyle/>
          <a:p>
            <a:pPr indent="0" marL="0">
              <a:buNone/>
            </a:pPr>
            <a:r>
              <a:rPr lang="en-US" sz="2000" b="1" dirty="0">
                <a:solidFill>
                  <a:srgbClr val="58A6FF"/>
                </a:solidFill>
                <a:latin typeface="Cambria" pitchFamily="34" charset="0"/>
                <a:ea typeface="Cambria" pitchFamily="34" charset="-122"/>
                <a:cs typeface="Cambria" pitchFamily="34" charset="-120"/>
              </a:rPr>
              <a:t>Kebaruan</a:t>
            </a:r>
            <a:endParaRPr lang="en-US" sz="2000" dirty="0"/>
          </a:p>
        </p:txBody>
      </p:sp>
      <p:sp>
        <p:nvSpPr>
          <p:cNvPr id="9" name="Text 7"/>
          <p:cNvSpPr txBox="1"/>
          <p:nvPr/>
        </p:nvSpPr>
        <p:spPr>
          <a:xfrm>
            <a:off x="6309360" y="2103120"/>
            <a:ext cx="5303520" cy="39319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Soft pity digali langsung dari data pemain asli</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6 algoritma dibandingkan dengan acuan teori Markov Chain</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Evaluasi anti-bocor: dibagi per akun/siklus, nested CV, uji t terkoreksi</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Hasilnya langsung dipakai di aplikasi web</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TELAAH PUSTAKA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Penelitian terdahulu</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7</a:t>
            </a:r>
            <a:endParaRPr lang="en-US" sz="1000" dirty="0"/>
          </a:p>
        </p:txBody>
      </p:sp>
      <p:sp>
        <p:nvSpPr>
          <p:cNvPr id="6" name="Shape 4"/>
          <p:cNvSpPr/>
          <p:nvPr/>
        </p:nvSpPr>
        <p:spPr>
          <a:xfrm>
            <a:off x="548640" y="1645920"/>
            <a:ext cx="3566160" cy="4297680"/>
          </a:xfrm>
          <a:prstGeom prst="roundRect">
            <a:avLst>
              <a:gd name="adj" fmla="val 2051"/>
            </a:avLst>
          </a:prstGeom>
          <a:solidFill>
            <a:srgbClr val="1C2230"/>
          </a:solidFill>
          <a:ln w="9525">
            <a:solidFill>
              <a:srgbClr val="30363D"/>
            </a:solidFill>
            <a:prstDash val="solid"/>
          </a:ln>
        </p:spPr>
      </p:sp>
      <p:sp>
        <p:nvSpPr>
          <p:cNvPr id="7" name="Text 5"/>
          <p:cNvSpPr txBox="1"/>
          <p:nvPr/>
        </p:nvSpPr>
        <p:spPr>
          <a:xfrm>
            <a:off x="777240" y="1874520"/>
            <a:ext cx="310896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Gacha &amp; loot box</a:t>
            </a:r>
            <a:endParaRPr lang="en-US" sz="1800" dirty="0"/>
          </a:p>
        </p:txBody>
      </p:sp>
      <p:sp>
        <p:nvSpPr>
          <p:cNvPr id="8" name="Text 6"/>
          <p:cNvSpPr txBox="1"/>
          <p:nvPr/>
        </p:nvSpPr>
        <p:spPr>
          <a:xfrm>
            <a:off x="777240" y="2331720"/>
            <a:ext cx="3108960" cy="342900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Zendle &amp; Cairns (2018): belanja loot box berkaitan dengan masalah judi.</a:t>
            </a:r>
            <a:endParaRPr lang="en-US" sz="1600" dirty="0"/>
          </a:p>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Xiao dkk. (2024): peluang loot box sering tidak tampil jelas.</a:t>
            </a:r>
            <a:endParaRPr lang="en-US" sz="1600" dirty="0"/>
          </a:p>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Chen &amp; Fang (2023): model matematis gacha dan pity dari sisi pengembang.</a:t>
            </a:r>
            <a:endParaRPr lang="en-US" sz="1600" dirty="0"/>
          </a:p>
        </p:txBody>
      </p:sp>
      <p:sp>
        <p:nvSpPr>
          <p:cNvPr id="9" name="Shape 7"/>
          <p:cNvSpPr/>
          <p:nvPr/>
        </p:nvSpPr>
        <p:spPr>
          <a:xfrm>
            <a:off x="4297680" y="1645920"/>
            <a:ext cx="3566160" cy="4297680"/>
          </a:xfrm>
          <a:prstGeom prst="roundRect">
            <a:avLst>
              <a:gd name="adj" fmla="val 2051"/>
            </a:avLst>
          </a:prstGeom>
          <a:solidFill>
            <a:srgbClr val="1C2230"/>
          </a:solidFill>
          <a:ln w="9525">
            <a:solidFill>
              <a:srgbClr val="30363D"/>
            </a:solidFill>
            <a:prstDash val="solid"/>
          </a:ln>
        </p:spPr>
      </p:sp>
      <p:sp>
        <p:nvSpPr>
          <p:cNvPr id="10" name="Text 8"/>
          <p:cNvSpPr txBox="1"/>
          <p:nvPr/>
        </p:nvSpPr>
        <p:spPr>
          <a:xfrm>
            <a:off x="4526280" y="1874520"/>
            <a:ext cx="310896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Studi algoritma</a:t>
            </a:r>
            <a:endParaRPr lang="en-US" sz="1800" dirty="0"/>
          </a:p>
        </p:txBody>
      </p:sp>
      <p:sp>
        <p:nvSpPr>
          <p:cNvPr id="11" name="Text 9"/>
          <p:cNvSpPr txBox="1"/>
          <p:nvPr/>
        </p:nvSpPr>
        <p:spPr>
          <a:xfrm>
            <a:off x="4526280" y="2331720"/>
            <a:ext cx="3108960" cy="342900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Maulidah (2023): XGBoost terbaik (92,36%) di data deposito bank.</a:t>
            </a:r>
            <a:endParaRPr lang="en-US" sz="1600" dirty="0"/>
          </a:p>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Rahmat dkk. (2023): Random Forest terbaik (95%) di data kepuasan penumpang.</a:t>
            </a:r>
            <a:endParaRPr lang="en-US" sz="1600" dirty="0"/>
          </a:p>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Grinsztajn dkk. (2022): model pohon unggul di data tabular.</a:t>
            </a:r>
            <a:endParaRPr lang="en-US" sz="1600" dirty="0"/>
          </a:p>
        </p:txBody>
      </p:sp>
      <p:sp>
        <p:nvSpPr>
          <p:cNvPr id="12" name="Shape 10"/>
          <p:cNvSpPr/>
          <p:nvPr/>
        </p:nvSpPr>
        <p:spPr>
          <a:xfrm>
            <a:off x="8046720" y="1645920"/>
            <a:ext cx="3566160" cy="4297680"/>
          </a:xfrm>
          <a:prstGeom prst="roundRect">
            <a:avLst>
              <a:gd name="adj" fmla="val 2051"/>
            </a:avLst>
          </a:prstGeom>
          <a:solidFill>
            <a:srgbClr val="1C2230"/>
          </a:solidFill>
          <a:ln w="9525">
            <a:solidFill>
              <a:srgbClr val="30363D"/>
            </a:solidFill>
            <a:prstDash val="solid"/>
          </a:ln>
        </p:spPr>
      </p:sp>
      <p:sp>
        <p:nvSpPr>
          <p:cNvPr id="13" name="Text 11"/>
          <p:cNvSpPr txBox="1"/>
          <p:nvPr/>
        </p:nvSpPr>
        <p:spPr>
          <a:xfrm>
            <a:off x="8275320" y="1874520"/>
            <a:ext cx="31089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Celah yang diisi</a:t>
            </a:r>
            <a:endParaRPr lang="en-US" sz="1800" dirty="0"/>
          </a:p>
        </p:txBody>
      </p:sp>
      <p:sp>
        <p:nvSpPr>
          <p:cNvPr id="14" name="Text 12"/>
          <p:cNvSpPr txBox="1"/>
          <p:nvPr/>
        </p:nvSpPr>
        <p:spPr>
          <a:xfrm>
            <a:off x="8275320" y="2331720"/>
            <a:ext cx="3108960" cy="342900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Belum ada yang memperkirakan peluang, khususnya soft pity, dari data riwayat gacha pemain. Hasil perbandingan algoritma juga berbeda-beda per data, jadi perlu diuji langsung di kasus gacha.</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OBJEK PENELITIAN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Aturan dua banner terbatas</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8</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766560" cy="914400"/>
        </p:xfrm>
        <a:graphic>
          <a:graphicData uri="http://schemas.openxmlformats.org/drawingml/2006/table">
            <a:tbl>
              <a:tblPr/>
              <a:tblGrid>
                <a:gridCol w="2194560"/>
                <a:gridCol w="1645920"/>
                <a:gridCol w="1737360"/>
                <a:gridCol w="1188720"/>
              </a:tblGrid>
              <a:tr h="457200">
                <a:tc>
                  <a:txBody>
                    <a:bodyPr/>
                    <a:lstStyle/>
                    <a:p>
                      <a:pPr algn="l" indent="0" marL="0">
                        <a:buNone/>
                      </a:pPr>
                      <a:r>
                        <a:rPr lang="en-US" sz="1300" b="1" dirty="0">
                          <a:solidFill>
                            <a:srgbClr val="F5A623"/>
                          </a:solidFill>
                          <a:latin typeface="Calibri" pitchFamily="34" charset="0"/>
                          <a:ea typeface="Calibri" pitchFamily="34" charset="-122"/>
                          <a:cs typeface="Calibri" pitchFamily="34" charset="-120"/>
                        </a:rPr>
                        <a:t>Parameter</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Agent Terbatas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W-Engine Terbatas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Sumber</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Rate dasar S-Rank</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Rate gabungan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Hard pity</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90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80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Peluang rate-up</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50% (50/50)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75% (75/25)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Soft pity mulai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 pull 74</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 pull 65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Estimasi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
        <p:nvSpPr>
          <p:cNvPr id="7" name="Shape 4"/>
          <p:cNvSpPr/>
          <p:nvPr/>
        </p:nvSpPr>
        <p:spPr>
          <a:xfrm>
            <a:off x="7680960" y="1645920"/>
            <a:ext cx="3931920" cy="2743200"/>
          </a:xfrm>
          <a:prstGeom prst="roundRect">
            <a:avLst>
              <a:gd name="adj" fmla="val 2667"/>
            </a:avLst>
          </a:prstGeom>
          <a:solidFill>
            <a:srgbClr val="1C2230"/>
          </a:solidFill>
          <a:ln w="9525">
            <a:solidFill>
              <a:srgbClr val="30363D"/>
            </a:solidFill>
            <a:prstDash val="solid"/>
          </a:ln>
        </p:spPr>
      </p:sp>
      <p:sp>
        <p:nvSpPr>
          <p:cNvPr id="8" name="Text 5"/>
          <p:cNvSpPr txBox="1"/>
          <p:nvPr/>
        </p:nvSpPr>
        <p:spPr>
          <a:xfrm>
            <a:off x="7909560" y="1874520"/>
            <a:ext cx="347472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Guaranteed</a:t>
            </a:r>
            <a:endParaRPr lang="en-US" sz="1800" dirty="0"/>
          </a:p>
        </p:txBody>
      </p:sp>
      <p:sp>
        <p:nvSpPr>
          <p:cNvPr id="9" name="Text 6"/>
          <p:cNvSpPr txBox="1"/>
          <p:nvPr/>
        </p:nvSpPr>
        <p:spPr>
          <a:xfrm>
            <a:off x="7909560" y="2331720"/>
            <a:ext cx="3474720" cy="18745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Kalah 50/50 (dapat S standar) → S-Rank berikutnya pasti rate-up.</a:t>
            </a:r>
            <a:endParaRPr lang="en-US" sz="1500" dirty="0"/>
          </a:p>
        </p:txBody>
      </p:sp>
      <p:sp>
        <p:nvSpPr>
          <p:cNvPr id="10" name="Shape 7"/>
          <p:cNvSpPr/>
          <p:nvPr/>
        </p:nvSpPr>
        <p:spPr>
          <a:xfrm>
            <a:off x="7680960" y="4572000"/>
            <a:ext cx="3931920" cy="1463040"/>
          </a:xfrm>
          <a:prstGeom prst="roundRect">
            <a:avLst>
              <a:gd name="adj" fmla="val 5000"/>
            </a:avLst>
          </a:prstGeom>
          <a:solidFill>
            <a:srgbClr val="1C2230"/>
          </a:solidFill>
          <a:ln w="9525">
            <a:solidFill>
              <a:srgbClr val="30363D"/>
            </a:solidFill>
            <a:prstDash val="solid"/>
          </a:ln>
        </p:spPr>
      </p:sp>
      <p:sp>
        <p:nvSpPr>
          <p:cNvPr id="11" name="Text 8"/>
          <p:cNvSpPr txBox="1"/>
          <p:nvPr/>
        </p:nvSpPr>
        <p:spPr>
          <a:xfrm>
            <a:off x="7909560" y="4800600"/>
            <a:ext cx="3474720" cy="411480"/>
          </a:xfrm>
          <a:prstGeom prst="rect">
            <a:avLst/>
          </a:prstGeom>
          <a:noFill/>
          <a:ln/>
        </p:spPr>
        <p:txBody>
          <a:bodyPr wrap="square" lIns="0" tIns="0" rIns="0" bIns="0" rtlCol="0" anchor="t"/>
          <a:lstStyle/>
          <a:p>
            <a:pPr indent="0" marL="0">
              <a:buNone/>
            </a:pPr>
            <a:r>
              <a:rPr lang="en-US" sz="1800" b="1" dirty="0">
                <a:solidFill>
                  <a:srgbClr val="8B949E"/>
                </a:solidFill>
                <a:latin typeface="Cambria" pitchFamily="34" charset="0"/>
                <a:ea typeface="Cambria" pitchFamily="34" charset="-122"/>
                <a:cs typeface="Cambria" pitchFamily="34" charset="-120"/>
              </a:rPr>
              <a:t>Batasan</a:t>
            </a:r>
            <a:endParaRPr lang="en-US" sz="1800" dirty="0"/>
          </a:p>
        </p:txBody>
      </p:sp>
      <p:sp>
        <p:nvSpPr>
          <p:cNvPr id="12" name="Text 9"/>
          <p:cNvSpPr txBox="1"/>
          <p:nvPr/>
        </p:nvSpPr>
        <p:spPr>
          <a:xfrm>
            <a:off x="7909560" y="5257800"/>
            <a:ext cx="3474720" cy="5943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Banner standar &amp; Bangboo tidak dibahas.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Markov Chain: peluang dari aturan banner</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9</a:t>
            </a:r>
            <a:endParaRPr lang="en-US" sz="1000" dirty="0"/>
          </a:p>
        </p:txBody>
      </p:sp>
      <p:sp>
        <p:nvSpPr>
          <p:cNvPr id="6" name="Shape 4"/>
          <p:cNvSpPr/>
          <p:nvPr/>
        </p:nvSpPr>
        <p:spPr>
          <a:xfrm>
            <a:off x="438912" y="1554480"/>
            <a:ext cx="5705856" cy="2194560"/>
          </a:xfrm>
          <a:prstGeom prst="roundRect">
            <a:avLst>
              <a:gd name="adj" fmla="val 2500"/>
            </a:avLst>
          </a:prstGeom>
          <a:solidFill>
            <a:srgbClr val="FFFFFF"/>
          </a:solidFill>
          <a:ln w="12700">
            <a:solidFill>
              <a:srgbClr val="30363D"/>
            </a:solidFill>
            <a:prstDash val="solid"/>
          </a:ln>
        </p:spPr>
      </p:sp>
      <p:pic>
        <p:nvPicPr>
          <p:cNvPr id="7" name="Image 0" descr="fig_markov.png">    </p:cNvPr>
          <p:cNvPicPr>
            <a:picLocks noChangeAspect="1"/>
          </p:cNvPicPr>
          <p:nvPr/>
        </p:nvPicPr>
        <p:blipFill>
          <a:blip r:embed="rId1"/>
          <a:stretch>
            <a:fillRect/>
          </a:stretch>
        </p:blipFill>
        <p:spPr>
          <a:xfrm>
            <a:off x="548640" y="1664208"/>
            <a:ext cx="5486400" cy="1975104"/>
          </a:xfrm>
          <a:prstGeom prst="rect">
            <a:avLst/>
          </a:prstGeom>
        </p:spPr>
      </p:pic>
      <p:sp>
        <p:nvSpPr>
          <p:cNvPr id="8" name="Shape 5"/>
          <p:cNvSpPr/>
          <p:nvPr/>
        </p:nvSpPr>
        <p:spPr>
          <a:xfrm>
            <a:off x="775796" y="3822192"/>
            <a:ext cx="5032088" cy="2505456"/>
          </a:xfrm>
          <a:prstGeom prst="roundRect">
            <a:avLst>
              <a:gd name="adj" fmla="val 2190"/>
            </a:avLst>
          </a:prstGeom>
          <a:solidFill>
            <a:srgbClr val="FFFFFF"/>
          </a:solidFill>
          <a:ln w="12700">
            <a:solidFill>
              <a:srgbClr val="30363D"/>
            </a:solidFill>
            <a:prstDash val="solid"/>
          </a:ln>
        </p:spPr>
      </p:sp>
      <p:pic>
        <p:nvPicPr>
          <p:cNvPr id="9" name="Image 1" descr="fig_hazard.png">    </p:cNvPr>
          <p:cNvPicPr>
            <a:picLocks noChangeAspect="1"/>
          </p:cNvPicPr>
          <p:nvPr/>
        </p:nvPicPr>
        <p:blipFill>
          <a:blip r:embed="rId2"/>
          <a:stretch>
            <a:fillRect/>
          </a:stretch>
        </p:blipFill>
        <p:spPr>
          <a:xfrm>
            <a:off x="885524" y="3931920"/>
            <a:ext cx="4812632" cy="2286000"/>
          </a:xfrm>
          <a:prstGeom prst="rect">
            <a:avLst/>
          </a:prstGeom>
        </p:spPr>
      </p:pic>
      <p:sp>
        <p:nvSpPr>
          <p:cNvPr id="10" name="Text 6"/>
          <p:cNvSpPr txBox="1"/>
          <p:nvPr/>
        </p:nvSpPr>
        <p:spPr>
          <a:xfrm>
            <a:off x="6492240" y="1737360"/>
            <a:ext cx="5120640" cy="438912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Peluang S di pull ke-n hanya bergantung pada pity → cocok dimodelkan Markov Chain.</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h(n) = rate dasar, lalu naik k per pull setelah soft pity, dan = 1 di hard pity.</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k dicari dengan metode biseksi supaya rata-rata = rate gabungan resmi (k ≈ 5,3% Agent, 5,5% W-Engine).</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Hasil: peluang dapat S / S rate-up dalam N pull dihitung langsung, tanpa simulasi.</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Catatan: titik soft pity bukan angka resmi → diperiksa dengan data asli.</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Enam algoritma klasifikasi yang dibandingkan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10</a:t>
            </a:r>
            <a:endParaRPr lang="en-US" sz="1000" dirty="0"/>
          </a:p>
        </p:txBody>
      </p:sp>
      <p:sp>
        <p:nvSpPr>
          <p:cNvPr id="6" name="Shape 4"/>
          <p:cNvSpPr/>
          <p:nvPr/>
        </p:nvSpPr>
        <p:spPr>
          <a:xfrm>
            <a:off x="548640" y="1554480"/>
            <a:ext cx="3566160" cy="1828800"/>
          </a:xfrm>
          <a:prstGeom prst="roundRect">
            <a:avLst>
              <a:gd name="adj" fmla="val 4000"/>
            </a:avLst>
          </a:prstGeom>
          <a:solidFill>
            <a:srgbClr val="1C2230"/>
          </a:solidFill>
          <a:ln w="9525">
            <a:solidFill>
              <a:srgbClr val="30363D"/>
            </a:solidFill>
            <a:prstDash val="solid"/>
          </a:ln>
        </p:spPr>
      </p:sp>
      <p:sp>
        <p:nvSpPr>
          <p:cNvPr id="7" name="Text 5"/>
          <p:cNvSpPr txBox="1"/>
          <p:nvPr/>
        </p:nvSpPr>
        <p:spPr>
          <a:xfrm>
            <a:off x="777240" y="1783080"/>
            <a:ext cx="3108960" cy="411480"/>
          </a:xfrm>
          <a:prstGeom prst="rect">
            <a:avLst/>
          </a:prstGeom>
          <a:noFill/>
          <a:ln/>
        </p:spPr>
        <p:txBody>
          <a:bodyPr wrap="square" lIns="0" tIns="0" rIns="0" bIns="0" rtlCol="0" anchor="t"/>
          <a:lstStyle/>
          <a:p>
            <a:pPr indent="0" marL="0">
              <a:buNone/>
            </a:pPr>
            <a:r>
              <a:rPr lang="en-US" sz="2000" b="1" dirty="0">
                <a:solidFill>
                  <a:srgbClr val="BC8CFF"/>
                </a:solidFill>
                <a:latin typeface="Cambria" pitchFamily="34" charset="0"/>
                <a:ea typeface="Cambria" pitchFamily="34" charset="-122"/>
                <a:cs typeface="Cambria" pitchFamily="34" charset="-120"/>
              </a:rPr>
              <a:t>Naive Bayes</a:t>
            </a:r>
            <a:endParaRPr lang="en-US" sz="2000" dirty="0"/>
          </a:p>
        </p:txBody>
      </p:sp>
      <p:sp>
        <p:nvSpPr>
          <p:cNvPr id="8" name="Text 6"/>
          <p:cNvSpPr txBox="1"/>
          <p:nvPr/>
        </p:nvSpPr>
        <p:spPr>
          <a:xfrm>
            <a:off x="777240" y="224028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Probabilistik, asumsi fitur saling bebas &amp; berdistribusi normal.</a:t>
            </a:r>
            <a:endParaRPr lang="en-US" sz="1500" dirty="0"/>
          </a:p>
        </p:txBody>
      </p:sp>
      <p:sp>
        <p:nvSpPr>
          <p:cNvPr id="9" name="Shape 7"/>
          <p:cNvSpPr/>
          <p:nvPr/>
        </p:nvSpPr>
        <p:spPr>
          <a:xfrm>
            <a:off x="4297680" y="1554480"/>
            <a:ext cx="3566160" cy="1828800"/>
          </a:xfrm>
          <a:prstGeom prst="roundRect">
            <a:avLst>
              <a:gd name="adj" fmla="val 4000"/>
            </a:avLst>
          </a:prstGeom>
          <a:solidFill>
            <a:srgbClr val="1C2230"/>
          </a:solidFill>
          <a:ln w="9525">
            <a:solidFill>
              <a:srgbClr val="30363D"/>
            </a:solidFill>
            <a:prstDash val="solid"/>
          </a:ln>
        </p:spPr>
      </p:sp>
      <p:sp>
        <p:nvSpPr>
          <p:cNvPr id="10" name="Text 8"/>
          <p:cNvSpPr txBox="1"/>
          <p:nvPr/>
        </p:nvSpPr>
        <p:spPr>
          <a:xfrm>
            <a:off x="4526280" y="1783080"/>
            <a:ext cx="3108960" cy="411480"/>
          </a:xfrm>
          <a:prstGeom prst="rect">
            <a:avLst/>
          </a:prstGeom>
          <a:noFill/>
          <a:ln/>
        </p:spPr>
        <p:txBody>
          <a:bodyPr wrap="square" lIns="0" tIns="0" rIns="0" bIns="0" rtlCol="0" anchor="t"/>
          <a:lstStyle/>
          <a:p>
            <a:pPr indent="0" marL="0">
              <a:buNone/>
            </a:pPr>
            <a:r>
              <a:rPr lang="en-US" sz="2000" b="1" dirty="0">
                <a:solidFill>
                  <a:srgbClr val="FF7EB6"/>
                </a:solidFill>
                <a:latin typeface="Cambria" pitchFamily="34" charset="0"/>
                <a:ea typeface="Cambria" pitchFamily="34" charset="-122"/>
                <a:cs typeface="Cambria" pitchFamily="34" charset="-120"/>
              </a:rPr>
              <a:t>KNN</a:t>
            </a:r>
            <a:endParaRPr lang="en-US" sz="2000" dirty="0"/>
          </a:p>
        </p:txBody>
      </p:sp>
      <p:sp>
        <p:nvSpPr>
          <p:cNvPr id="11" name="Text 9"/>
          <p:cNvSpPr txBox="1"/>
          <p:nvPr/>
        </p:nvSpPr>
        <p:spPr>
          <a:xfrm>
            <a:off x="4526280" y="224028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Menebak dari k data latih terdekat (fitur dinormalisasi).</a:t>
            </a:r>
            <a:endParaRPr lang="en-US" sz="1500" dirty="0"/>
          </a:p>
        </p:txBody>
      </p:sp>
      <p:sp>
        <p:nvSpPr>
          <p:cNvPr id="12" name="Shape 10"/>
          <p:cNvSpPr/>
          <p:nvPr/>
        </p:nvSpPr>
        <p:spPr>
          <a:xfrm>
            <a:off x="8046720" y="1554480"/>
            <a:ext cx="3566160" cy="1828800"/>
          </a:xfrm>
          <a:prstGeom prst="roundRect">
            <a:avLst>
              <a:gd name="adj" fmla="val 4000"/>
            </a:avLst>
          </a:prstGeom>
          <a:solidFill>
            <a:srgbClr val="1C2230"/>
          </a:solidFill>
          <a:ln w="9525">
            <a:solidFill>
              <a:srgbClr val="30363D"/>
            </a:solidFill>
            <a:prstDash val="solid"/>
          </a:ln>
        </p:spPr>
      </p:sp>
      <p:sp>
        <p:nvSpPr>
          <p:cNvPr id="13" name="Text 11"/>
          <p:cNvSpPr txBox="1"/>
          <p:nvPr/>
        </p:nvSpPr>
        <p:spPr>
          <a:xfrm>
            <a:off x="8275320" y="1783080"/>
            <a:ext cx="3108960" cy="411480"/>
          </a:xfrm>
          <a:prstGeom prst="rect">
            <a:avLst/>
          </a:prstGeom>
          <a:noFill/>
          <a:ln/>
        </p:spPr>
        <p:txBody>
          <a:bodyPr wrap="square" lIns="0" tIns="0" rIns="0" bIns="0" rtlCol="0" anchor="t"/>
          <a:lstStyle/>
          <a:p>
            <a:pPr indent="0" marL="0">
              <a:buNone/>
            </a:pPr>
            <a:r>
              <a:rPr lang="en-US" sz="2000" b="1" dirty="0">
                <a:solidFill>
                  <a:srgbClr val="58A6FF"/>
                </a:solidFill>
                <a:latin typeface="Cambria" pitchFamily="34" charset="0"/>
                <a:ea typeface="Cambria" pitchFamily="34" charset="-122"/>
                <a:cs typeface="Cambria" pitchFamily="34" charset="-120"/>
              </a:rPr>
              <a:t>Logistic Regression</a:t>
            </a:r>
            <a:endParaRPr lang="en-US" sz="2000" dirty="0"/>
          </a:p>
        </p:txBody>
      </p:sp>
      <p:sp>
        <p:nvSpPr>
          <p:cNvPr id="14" name="Text 12"/>
          <p:cNvSpPr txBox="1"/>
          <p:nvPr/>
        </p:nvSpPr>
        <p:spPr>
          <a:xfrm>
            <a:off x="8275320" y="224028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Kurva sigmoid dari kombinasi linear fitur.</a:t>
            </a:r>
            <a:endParaRPr lang="en-US" sz="1500" dirty="0"/>
          </a:p>
        </p:txBody>
      </p:sp>
      <p:sp>
        <p:nvSpPr>
          <p:cNvPr id="15" name="Shape 13"/>
          <p:cNvSpPr/>
          <p:nvPr/>
        </p:nvSpPr>
        <p:spPr>
          <a:xfrm>
            <a:off x="548640" y="3566160"/>
            <a:ext cx="3566160" cy="1828800"/>
          </a:xfrm>
          <a:prstGeom prst="roundRect">
            <a:avLst>
              <a:gd name="adj" fmla="val 4000"/>
            </a:avLst>
          </a:prstGeom>
          <a:solidFill>
            <a:srgbClr val="1C2230"/>
          </a:solidFill>
          <a:ln w="9525">
            <a:solidFill>
              <a:srgbClr val="30363D"/>
            </a:solidFill>
            <a:prstDash val="solid"/>
          </a:ln>
        </p:spPr>
      </p:sp>
      <p:sp>
        <p:nvSpPr>
          <p:cNvPr id="16" name="Text 14"/>
          <p:cNvSpPr txBox="1"/>
          <p:nvPr/>
        </p:nvSpPr>
        <p:spPr>
          <a:xfrm>
            <a:off x="777240" y="3794760"/>
            <a:ext cx="3108960" cy="411480"/>
          </a:xfrm>
          <a:prstGeom prst="rect">
            <a:avLst/>
          </a:prstGeom>
          <a:noFill/>
          <a:ln/>
        </p:spPr>
        <p:txBody>
          <a:bodyPr wrap="square" lIns="0" tIns="0" rIns="0" bIns="0" rtlCol="0" anchor="t"/>
          <a:lstStyle/>
          <a:p>
            <a:pPr indent="0" marL="0">
              <a:buNone/>
            </a:pPr>
            <a:r>
              <a:rPr lang="en-US" sz="2000" b="1" dirty="0">
                <a:solidFill>
                  <a:srgbClr val="F5A623"/>
                </a:solidFill>
                <a:latin typeface="Cambria" pitchFamily="34" charset="0"/>
                <a:ea typeface="Cambria" pitchFamily="34" charset="-122"/>
                <a:cs typeface="Cambria" pitchFamily="34" charset="-120"/>
              </a:rPr>
              <a:t>Decision Tree</a:t>
            </a:r>
            <a:endParaRPr lang="en-US" sz="2000" dirty="0"/>
          </a:p>
        </p:txBody>
      </p:sp>
      <p:sp>
        <p:nvSpPr>
          <p:cNvPr id="17" name="Text 15"/>
          <p:cNvSpPr txBox="1"/>
          <p:nvPr/>
        </p:nvSpPr>
        <p:spPr>
          <a:xfrm>
            <a:off x="777240" y="425196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Aturan jika–maka yang mudah dibaca manusia.</a:t>
            </a:r>
            <a:endParaRPr lang="en-US" sz="1500" dirty="0"/>
          </a:p>
        </p:txBody>
      </p:sp>
      <p:sp>
        <p:nvSpPr>
          <p:cNvPr id="18" name="Shape 16"/>
          <p:cNvSpPr/>
          <p:nvPr/>
        </p:nvSpPr>
        <p:spPr>
          <a:xfrm>
            <a:off x="4297680" y="3566160"/>
            <a:ext cx="3566160" cy="1828800"/>
          </a:xfrm>
          <a:prstGeom prst="roundRect">
            <a:avLst>
              <a:gd name="adj" fmla="val 4000"/>
            </a:avLst>
          </a:prstGeom>
          <a:solidFill>
            <a:srgbClr val="1C2230"/>
          </a:solidFill>
          <a:ln w="9525">
            <a:solidFill>
              <a:srgbClr val="30363D"/>
            </a:solidFill>
            <a:prstDash val="solid"/>
          </a:ln>
        </p:spPr>
      </p:sp>
      <p:sp>
        <p:nvSpPr>
          <p:cNvPr id="19" name="Text 17"/>
          <p:cNvSpPr txBox="1"/>
          <p:nvPr/>
        </p:nvSpPr>
        <p:spPr>
          <a:xfrm>
            <a:off x="4526280" y="3794760"/>
            <a:ext cx="3108960" cy="411480"/>
          </a:xfrm>
          <a:prstGeom prst="rect">
            <a:avLst/>
          </a:prstGeom>
          <a:noFill/>
          <a:ln/>
        </p:spPr>
        <p:txBody>
          <a:bodyPr wrap="square" lIns="0" tIns="0" rIns="0" bIns="0" rtlCol="0" anchor="t"/>
          <a:lstStyle/>
          <a:p>
            <a:pPr indent="0" marL="0">
              <a:buNone/>
            </a:pPr>
            <a:r>
              <a:rPr lang="en-US" sz="2000" b="1" dirty="0">
                <a:solidFill>
                  <a:srgbClr val="F85149"/>
                </a:solidFill>
                <a:latin typeface="Cambria" pitchFamily="34" charset="0"/>
                <a:ea typeface="Cambria" pitchFamily="34" charset="-122"/>
                <a:cs typeface="Cambria" pitchFamily="34" charset="-120"/>
              </a:rPr>
              <a:t>Random Forest</a:t>
            </a:r>
            <a:endParaRPr lang="en-US" sz="2000" dirty="0"/>
          </a:p>
        </p:txBody>
      </p:sp>
      <p:sp>
        <p:nvSpPr>
          <p:cNvPr id="20" name="Text 18"/>
          <p:cNvSpPr txBox="1"/>
          <p:nvPr/>
        </p:nvSpPr>
        <p:spPr>
          <a:xfrm>
            <a:off x="4526280" y="425196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150 pohon acak, hasil dirata-rata (bagging).</a:t>
            </a:r>
            <a:endParaRPr lang="en-US" sz="1500" dirty="0"/>
          </a:p>
        </p:txBody>
      </p:sp>
      <p:sp>
        <p:nvSpPr>
          <p:cNvPr id="21" name="Shape 19"/>
          <p:cNvSpPr/>
          <p:nvPr/>
        </p:nvSpPr>
        <p:spPr>
          <a:xfrm>
            <a:off x="8046720" y="3566160"/>
            <a:ext cx="3566160" cy="1828800"/>
          </a:xfrm>
          <a:prstGeom prst="roundRect">
            <a:avLst>
              <a:gd name="adj" fmla="val 4000"/>
            </a:avLst>
          </a:prstGeom>
          <a:solidFill>
            <a:srgbClr val="1C2230"/>
          </a:solidFill>
          <a:ln w="9525">
            <a:solidFill>
              <a:srgbClr val="30363D"/>
            </a:solidFill>
            <a:prstDash val="solid"/>
          </a:ln>
        </p:spPr>
      </p:sp>
      <p:sp>
        <p:nvSpPr>
          <p:cNvPr id="22" name="Text 20"/>
          <p:cNvSpPr txBox="1"/>
          <p:nvPr/>
        </p:nvSpPr>
        <p:spPr>
          <a:xfrm>
            <a:off x="8275320" y="3794760"/>
            <a:ext cx="3108960" cy="411480"/>
          </a:xfrm>
          <a:prstGeom prst="rect">
            <a:avLst/>
          </a:prstGeom>
          <a:noFill/>
          <a:ln/>
        </p:spPr>
        <p:txBody>
          <a:bodyPr wrap="square" lIns="0" tIns="0" rIns="0" bIns="0" rtlCol="0" anchor="t"/>
          <a:lstStyle/>
          <a:p>
            <a:pPr indent="0" marL="0">
              <a:buNone/>
            </a:pPr>
            <a:r>
              <a:rPr lang="en-US" sz="2000" b="1" dirty="0">
                <a:solidFill>
                  <a:srgbClr val="3FB950"/>
                </a:solidFill>
                <a:latin typeface="Cambria" pitchFamily="34" charset="0"/>
                <a:ea typeface="Cambria" pitchFamily="34" charset="-122"/>
                <a:cs typeface="Cambria" pitchFamily="34" charset="-120"/>
              </a:rPr>
              <a:t>XGBoost</a:t>
            </a:r>
            <a:endParaRPr lang="en-US" sz="2000" dirty="0"/>
          </a:p>
        </p:txBody>
      </p:sp>
      <p:sp>
        <p:nvSpPr>
          <p:cNvPr id="23" name="Text 21"/>
          <p:cNvSpPr txBox="1"/>
          <p:nvPr/>
        </p:nvSpPr>
        <p:spPr>
          <a:xfrm>
            <a:off x="8275320" y="425196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300 pohon berurutan memperbaiki kesalahan (boosting).</a:t>
            </a:r>
            <a:endParaRPr lang="en-US" sz="1500" dirty="0"/>
          </a:p>
        </p:txBody>
      </p:sp>
      <p:sp>
        <p:nvSpPr>
          <p:cNvPr id="24" name="Text 22"/>
          <p:cNvSpPr txBox="1"/>
          <p:nvPr/>
        </p:nvSpPr>
        <p:spPr>
          <a:xfrm>
            <a:off x="548640" y="5669280"/>
            <a:ext cx="11064240" cy="457200"/>
          </a:xfrm>
          <a:prstGeom prst="rect">
            <a:avLst/>
          </a:prstGeom>
          <a:noFill/>
          <a:ln/>
        </p:spPr>
        <p:txBody>
          <a:bodyPr wrap="square" lIns="0" tIns="0" rIns="0" bIns="0" rtlCol="0" anchor="ctr"/>
          <a:lstStyle/>
          <a:p>
            <a:pPr indent="0" marL="0">
              <a:buNone/>
            </a:pPr>
            <a:r>
              <a:rPr lang="en-US" sz="1500" dirty="0">
                <a:solidFill>
                  <a:srgbClr val="A9B4C2"/>
                </a:solidFill>
                <a:latin typeface="Calibri" pitchFamily="34" charset="0"/>
                <a:ea typeface="Calibri" pitchFamily="34" charset="-122"/>
                <a:cs typeface="Calibri" pitchFamily="34" charset="-120"/>
              </a:rPr>
              <a:t>Hyperparameter (k, var_smoothing, C, kedalaman pohon, learning rate) dipilih dengan grid search, bukan ditebak.</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Evaluasi: akurasi saja tidak cukup</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11</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400800" cy="914400"/>
        </p:xfrm>
        <a:graphic>
          <a:graphicData uri="http://schemas.openxmlformats.org/drawingml/2006/table">
            <a:tbl>
              <a:tblPr/>
              <a:tblGrid>
                <a:gridCol w="2194560"/>
                <a:gridCol w="4206240"/>
              </a:tblGrid>
              <a:tr h="502920">
                <a:tc>
                  <a:txBody>
                    <a:bodyPr/>
                    <a:lstStyle/>
                    <a:p>
                      <a:pPr algn="l" indent="0" marL="0">
                        <a:buNone/>
                      </a:pPr>
                      <a:r>
                        <a:rPr lang="en-US" sz="1400" b="1" dirty="0">
                          <a:solidFill>
                            <a:srgbClr val="F5A623"/>
                          </a:solidFill>
                          <a:latin typeface="Calibri" pitchFamily="34" charset="0"/>
                          <a:ea typeface="Calibri" pitchFamily="34" charset="-122"/>
                          <a:cs typeface="Calibri" pitchFamily="34" charset="-120"/>
                        </a:rPr>
                        <a:t>Metrik</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Arti</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(TP + TN) / semua data</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Precision / Recall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kualitas tebakan pada kelas "dapat 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F1-score</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rata-rata harmonik precision &amp; recall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Balanced 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rata-rata recall dua kelas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ROC-AUC</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kemampuan membedakan kelas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Log Loss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ketepatan angka peluang (kecil = baik)</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7315200" y="1645920"/>
            <a:ext cx="4297680" cy="4114800"/>
          </a:xfrm>
          <a:prstGeom prst="roundRect">
            <a:avLst>
              <a:gd name="adj" fmla="val 1778"/>
            </a:avLst>
          </a:prstGeom>
          <a:solidFill>
            <a:srgbClr val="1C2230"/>
          </a:solidFill>
          <a:ln w="9525">
            <a:solidFill>
              <a:srgbClr val="30363D"/>
            </a:solidFill>
            <a:prstDash val="solid"/>
          </a:ln>
        </p:spPr>
      </p:sp>
      <p:sp>
        <p:nvSpPr>
          <p:cNvPr id="8" name="Text 5"/>
          <p:cNvSpPr txBox="1"/>
          <p:nvPr/>
        </p:nvSpPr>
        <p:spPr>
          <a:xfrm>
            <a:off x="7543800" y="1874520"/>
            <a:ext cx="384048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Kenapa?</a:t>
            </a:r>
            <a:endParaRPr lang="en-US" sz="1800" dirty="0"/>
          </a:p>
        </p:txBody>
      </p:sp>
      <p:sp>
        <p:nvSpPr>
          <p:cNvPr id="9" name="Text 6"/>
          <p:cNvSpPr txBox="1"/>
          <p:nvPr/>
        </p:nvSpPr>
        <p:spPr>
          <a:xfrm>
            <a:off x="7543800" y="2331720"/>
            <a:ext cx="3840480" cy="324612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Kalau S-Rank hanya ±1,7%, model yang SELALU menebak "tidak dapat S" sudah benar 98% dari waktu. Akurasinya tinggi, tetapi tidak berguna. Karena itu metrik lain wajib ditampilkan, dan semuanya dihitung dari confusion matrix.</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METODE</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Metodologi: CRISP-DM</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12</a:t>
            </a:r>
            <a:endParaRPr lang="en-US" sz="1000" dirty="0"/>
          </a:p>
        </p:txBody>
      </p:sp>
      <p:sp>
        <p:nvSpPr>
          <p:cNvPr id="6" name="Shape 4"/>
          <p:cNvSpPr/>
          <p:nvPr/>
        </p:nvSpPr>
        <p:spPr>
          <a:xfrm>
            <a:off x="548640" y="2103120"/>
            <a:ext cx="1645920" cy="1463040"/>
          </a:xfrm>
          <a:prstGeom prst="roundRect">
            <a:avLst>
              <a:gd name="adj" fmla="val 5000"/>
            </a:avLst>
          </a:prstGeom>
          <a:solidFill>
            <a:srgbClr val="1C2230"/>
          </a:solidFill>
          <a:ln w="12700">
            <a:solidFill>
              <a:srgbClr val="30363D"/>
            </a:solidFill>
            <a:prstDash val="solid"/>
          </a:ln>
        </p:spPr>
      </p:sp>
      <p:sp>
        <p:nvSpPr>
          <p:cNvPr id="7" name="Text 5"/>
          <p:cNvSpPr txBox="1"/>
          <p:nvPr/>
        </p:nvSpPr>
        <p:spPr>
          <a:xfrm>
            <a:off x="59436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Business</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Understanding</a:t>
            </a:r>
            <a:endParaRPr lang="en-US" sz="1200" dirty="0"/>
          </a:p>
        </p:txBody>
      </p:sp>
      <p:sp>
        <p:nvSpPr>
          <p:cNvPr id="8" name="Text 6"/>
          <p:cNvSpPr txBox="1"/>
          <p:nvPr/>
        </p:nvSpPr>
        <p:spPr>
          <a:xfrm>
            <a:off x="64008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54864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Kebutuhan pemain</a:t>
            </a:r>
            <a:endParaRPr lang="en-US" sz="1300" dirty="0"/>
          </a:p>
        </p:txBody>
      </p:sp>
      <p:sp>
        <p:nvSpPr>
          <p:cNvPr id="10" name="Shape 8"/>
          <p:cNvSpPr/>
          <p:nvPr/>
        </p:nvSpPr>
        <p:spPr>
          <a:xfrm>
            <a:off x="2221992" y="2715768"/>
            <a:ext cx="182880" cy="237744"/>
          </a:xfrm>
          <a:prstGeom prst="rightArrow">
            <a:avLst/>
          </a:prstGeom>
          <a:solidFill>
            <a:srgbClr val="F5A623"/>
          </a:solidFill>
          <a:ln w="12700">
            <a:solidFill>
              <a:srgbClr val="F5A623"/>
            </a:solidFill>
            <a:prstDash val="solid"/>
          </a:ln>
        </p:spPr>
      </p:sp>
      <p:sp>
        <p:nvSpPr>
          <p:cNvPr id="11" name="Shape 9"/>
          <p:cNvSpPr/>
          <p:nvPr/>
        </p:nvSpPr>
        <p:spPr>
          <a:xfrm>
            <a:off x="2423160" y="2103120"/>
            <a:ext cx="1645920" cy="1463040"/>
          </a:xfrm>
          <a:prstGeom prst="roundRect">
            <a:avLst>
              <a:gd name="adj" fmla="val 5000"/>
            </a:avLst>
          </a:prstGeom>
          <a:solidFill>
            <a:srgbClr val="1C2230"/>
          </a:solidFill>
          <a:ln w="12700">
            <a:solidFill>
              <a:srgbClr val="30363D"/>
            </a:solidFill>
            <a:prstDash val="solid"/>
          </a:ln>
        </p:spPr>
      </p:sp>
      <p:sp>
        <p:nvSpPr>
          <p:cNvPr id="12" name="Text 10"/>
          <p:cNvSpPr txBox="1"/>
          <p:nvPr/>
        </p:nvSpPr>
        <p:spPr>
          <a:xfrm>
            <a:off x="246888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Data</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Understanding</a:t>
            </a:r>
            <a:endParaRPr lang="en-US" sz="1200" dirty="0"/>
          </a:p>
        </p:txBody>
      </p:sp>
      <p:sp>
        <p:nvSpPr>
          <p:cNvPr id="13" name="Text 11"/>
          <p:cNvSpPr txBox="1"/>
          <p:nvPr/>
        </p:nvSpPr>
        <p:spPr>
          <a:xfrm>
            <a:off x="251460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42316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Struktur riwayat gacha</a:t>
            </a:r>
            <a:endParaRPr lang="en-US" sz="1300" dirty="0"/>
          </a:p>
        </p:txBody>
      </p:sp>
      <p:sp>
        <p:nvSpPr>
          <p:cNvPr id="15" name="Shape 13"/>
          <p:cNvSpPr/>
          <p:nvPr/>
        </p:nvSpPr>
        <p:spPr>
          <a:xfrm>
            <a:off x="4096512" y="2715768"/>
            <a:ext cx="182880" cy="237744"/>
          </a:xfrm>
          <a:prstGeom prst="rightArrow">
            <a:avLst/>
          </a:prstGeom>
          <a:solidFill>
            <a:srgbClr val="F5A623"/>
          </a:solidFill>
          <a:ln w="12700">
            <a:solidFill>
              <a:srgbClr val="F5A623"/>
            </a:solidFill>
            <a:prstDash val="solid"/>
          </a:ln>
        </p:spPr>
      </p:sp>
      <p:sp>
        <p:nvSpPr>
          <p:cNvPr id="16" name="Shape 14"/>
          <p:cNvSpPr/>
          <p:nvPr/>
        </p:nvSpPr>
        <p:spPr>
          <a:xfrm>
            <a:off x="4297680" y="2103120"/>
            <a:ext cx="1645920" cy="1463040"/>
          </a:xfrm>
          <a:prstGeom prst="roundRect">
            <a:avLst>
              <a:gd name="adj" fmla="val 5000"/>
            </a:avLst>
          </a:prstGeom>
          <a:solidFill>
            <a:srgbClr val="1C2230"/>
          </a:solidFill>
          <a:ln w="12700">
            <a:solidFill>
              <a:srgbClr val="30363D"/>
            </a:solidFill>
            <a:prstDash val="solid"/>
          </a:ln>
        </p:spPr>
      </p:sp>
      <p:sp>
        <p:nvSpPr>
          <p:cNvPr id="17" name="Text 15"/>
          <p:cNvSpPr txBox="1"/>
          <p:nvPr/>
        </p:nvSpPr>
        <p:spPr>
          <a:xfrm>
            <a:off x="434340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Data</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Preparation</a:t>
            </a:r>
            <a:endParaRPr lang="en-US" sz="1200" dirty="0"/>
          </a:p>
        </p:txBody>
      </p:sp>
      <p:sp>
        <p:nvSpPr>
          <p:cNvPr id="18" name="Text 16"/>
          <p:cNvSpPr txBox="1"/>
          <p:nvPr/>
        </p:nvSpPr>
        <p:spPr>
          <a:xfrm>
            <a:off x="438912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429768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Pity, guaranteed, fitur</a:t>
            </a:r>
            <a:endParaRPr lang="en-US" sz="1300" dirty="0"/>
          </a:p>
        </p:txBody>
      </p:sp>
      <p:sp>
        <p:nvSpPr>
          <p:cNvPr id="20" name="Shape 18"/>
          <p:cNvSpPr/>
          <p:nvPr/>
        </p:nvSpPr>
        <p:spPr>
          <a:xfrm>
            <a:off x="5971032" y="2715768"/>
            <a:ext cx="182880" cy="237744"/>
          </a:xfrm>
          <a:prstGeom prst="rightArrow">
            <a:avLst/>
          </a:prstGeom>
          <a:solidFill>
            <a:srgbClr val="F5A623"/>
          </a:solidFill>
          <a:ln w="12700">
            <a:solidFill>
              <a:srgbClr val="F5A623"/>
            </a:solidFill>
            <a:prstDash val="solid"/>
          </a:ln>
        </p:spPr>
      </p:sp>
      <p:sp>
        <p:nvSpPr>
          <p:cNvPr id="21" name="Shape 19"/>
          <p:cNvSpPr/>
          <p:nvPr/>
        </p:nvSpPr>
        <p:spPr>
          <a:xfrm>
            <a:off x="6172200" y="2103120"/>
            <a:ext cx="1645920" cy="1463040"/>
          </a:xfrm>
          <a:prstGeom prst="roundRect">
            <a:avLst>
              <a:gd name="adj" fmla="val 5000"/>
            </a:avLst>
          </a:prstGeom>
          <a:solidFill>
            <a:srgbClr val="1C2230"/>
          </a:solidFill>
          <a:ln w="12700">
            <a:solidFill>
              <a:srgbClr val="F5A623"/>
            </a:solidFill>
            <a:prstDash val="solid"/>
          </a:ln>
        </p:spPr>
      </p:sp>
      <p:sp>
        <p:nvSpPr>
          <p:cNvPr id="22" name="Text 20"/>
          <p:cNvSpPr txBox="1"/>
          <p:nvPr/>
        </p:nvSpPr>
        <p:spPr>
          <a:xfrm>
            <a:off x="621792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Modeling</a:t>
            </a:r>
            <a:endParaRPr lang="en-US" sz="1200" dirty="0"/>
          </a:p>
        </p:txBody>
      </p:sp>
      <p:sp>
        <p:nvSpPr>
          <p:cNvPr id="23" name="Text 21"/>
          <p:cNvSpPr txBox="1"/>
          <p:nvPr/>
        </p:nvSpPr>
        <p:spPr>
          <a:xfrm>
            <a:off x="626364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4</a:t>
            </a:r>
            <a:endParaRPr lang="en-US" sz="1200" dirty="0"/>
          </a:p>
        </p:txBody>
      </p:sp>
      <p:sp>
        <p:nvSpPr>
          <p:cNvPr id="24" name="Text 22"/>
          <p:cNvSpPr txBox="1"/>
          <p:nvPr/>
        </p:nvSpPr>
        <p:spPr>
          <a:xfrm>
            <a:off x="617220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6 algoritma + Markov</a:t>
            </a:r>
            <a:endParaRPr lang="en-US" sz="1300" dirty="0"/>
          </a:p>
        </p:txBody>
      </p:sp>
      <p:sp>
        <p:nvSpPr>
          <p:cNvPr id="25" name="Shape 23"/>
          <p:cNvSpPr/>
          <p:nvPr/>
        </p:nvSpPr>
        <p:spPr>
          <a:xfrm>
            <a:off x="7845552" y="2715768"/>
            <a:ext cx="182880" cy="237744"/>
          </a:xfrm>
          <a:prstGeom prst="rightArrow">
            <a:avLst/>
          </a:prstGeom>
          <a:solidFill>
            <a:srgbClr val="F5A623"/>
          </a:solidFill>
          <a:ln w="12700">
            <a:solidFill>
              <a:srgbClr val="F5A623"/>
            </a:solidFill>
            <a:prstDash val="solid"/>
          </a:ln>
        </p:spPr>
      </p:sp>
      <p:sp>
        <p:nvSpPr>
          <p:cNvPr id="26" name="Shape 24"/>
          <p:cNvSpPr/>
          <p:nvPr/>
        </p:nvSpPr>
        <p:spPr>
          <a:xfrm>
            <a:off x="8046720" y="2103120"/>
            <a:ext cx="1645920" cy="1463040"/>
          </a:xfrm>
          <a:prstGeom prst="roundRect">
            <a:avLst>
              <a:gd name="adj" fmla="val 5000"/>
            </a:avLst>
          </a:prstGeom>
          <a:solidFill>
            <a:srgbClr val="1C2230"/>
          </a:solidFill>
          <a:ln w="12700">
            <a:solidFill>
              <a:srgbClr val="30363D"/>
            </a:solidFill>
            <a:prstDash val="solid"/>
          </a:ln>
        </p:spPr>
      </p:sp>
      <p:sp>
        <p:nvSpPr>
          <p:cNvPr id="27" name="Text 25"/>
          <p:cNvSpPr txBox="1"/>
          <p:nvPr/>
        </p:nvSpPr>
        <p:spPr>
          <a:xfrm>
            <a:off x="809244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Evaluation</a:t>
            </a:r>
            <a:endParaRPr lang="en-US" sz="1200" dirty="0"/>
          </a:p>
        </p:txBody>
      </p:sp>
      <p:sp>
        <p:nvSpPr>
          <p:cNvPr id="28" name="Text 26"/>
          <p:cNvSpPr txBox="1"/>
          <p:nvPr/>
        </p:nvSpPr>
        <p:spPr>
          <a:xfrm>
            <a:off x="813816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5</a:t>
            </a:r>
            <a:endParaRPr lang="en-US" sz="1200" dirty="0"/>
          </a:p>
        </p:txBody>
      </p:sp>
      <p:sp>
        <p:nvSpPr>
          <p:cNvPr id="29" name="Text 27"/>
          <p:cNvSpPr txBox="1"/>
          <p:nvPr/>
        </p:nvSpPr>
        <p:spPr>
          <a:xfrm>
            <a:off x="804672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5-fold CV + data asli</a:t>
            </a:r>
            <a:endParaRPr lang="en-US" sz="1300" dirty="0"/>
          </a:p>
        </p:txBody>
      </p:sp>
      <p:sp>
        <p:nvSpPr>
          <p:cNvPr id="30" name="Shape 28"/>
          <p:cNvSpPr/>
          <p:nvPr/>
        </p:nvSpPr>
        <p:spPr>
          <a:xfrm>
            <a:off x="9720072" y="2715768"/>
            <a:ext cx="182880" cy="237744"/>
          </a:xfrm>
          <a:prstGeom prst="rightArrow">
            <a:avLst/>
          </a:prstGeom>
          <a:solidFill>
            <a:srgbClr val="F5A623"/>
          </a:solidFill>
          <a:ln w="12700">
            <a:solidFill>
              <a:srgbClr val="F5A623"/>
            </a:solidFill>
            <a:prstDash val="solid"/>
          </a:ln>
        </p:spPr>
      </p:sp>
      <p:sp>
        <p:nvSpPr>
          <p:cNvPr id="31" name="Shape 29"/>
          <p:cNvSpPr/>
          <p:nvPr/>
        </p:nvSpPr>
        <p:spPr>
          <a:xfrm>
            <a:off x="9921240" y="2103120"/>
            <a:ext cx="1645920" cy="1463040"/>
          </a:xfrm>
          <a:prstGeom prst="roundRect">
            <a:avLst>
              <a:gd name="adj" fmla="val 5000"/>
            </a:avLst>
          </a:prstGeom>
          <a:solidFill>
            <a:srgbClr val="1C2230"/>
          </a:solidFill>
          <a:ln w="12700">
            <a:solidFill>
              <a:srgbClr val="30363D"/>
            </a:solidFill>
            <a:prstDash val="solid"/>
          </a:ln>
        </p:spPr>
      </p:sp>
      <p:sp>
        <p:nvSpPr>
          <p:cNvPr id="32" name="Text 30"/>
          <p:cNvSpPr txBox="1"/>
          <p:nvPr/>
        </p:nvSpPr>
        <p:spPr>
          <a:xfrm>
            <a:off x="996696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Deployment</a:t>
            </a:r>
            <a:endParaRPr lang="en-US" sz="1200" dirty="0"/>
          </a:p>
        </p:txBody>
      </p:sp>
      <p:sp>
        <p:nvSpPr>
          <p:cNvPr id="33" name="Text 31"/>
          <p:cNvSpPr txBox="1"/>
          <p:nvPr/>
        </p:nvSpPr>
        <p:spPr>
          <a:xfrm>
            <a:off x="1001268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6</a:t>
            </a:r>
            <a:endParaRPr lang="en-US" sz="1200" dirty="0"/>
          </a:p>
        </p:txBody>
      </p:sp>
      <p:sp>
        <p:nvSpPr>
          <p:cNvPr id="34" name="Text 32"/>
          <p:cNvSpPr txBox="1"/>
          <p:nvPr/>
        </p:nvSpPr>
        <p:spPr>
          <a:xfrm>
            <a:off x="992124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Web Streamlit</a:t>
            </a:r>
            <a:endParaRPr lang="en-US" sz="1300" dirty="0"/>
          </a:p>
        </p:txBody>
      </p:sp>
      <p:sp>
        <p:nvSpPr>
          <p:cNvPr id="35" name="Text 33"/>
          <p:cNvSpPr txBox="1"/>
          <p:nvPr/>
        </p:nvSpPr>
        <p:spPr>
          <a:xfrm>
            <a:off x="548640" y="5029200"/>
            <a:ext cx="10972800" cy="548640"/>
          </a:xfrm>
          <a:prstGeom prst="rect">
            <a:avLst/>
          </a:prstGeom>
          <a:noFill/>
          <a:ln/>
        </p:spPr>
        <p:txBody>
          <a:bodyPr wrap="square" lIns="0" tIns="0" rIns="0" bIns="0" rtlCol="0" anchor="ctr"/>
          <a:lstStyle/>
          <a:p>
            <a:pPr indent="0" marL="0">
              <a:buNone/>
            </a:pPr>
            <a:r>
              <a:rPr lang="en-US" sz="1500" dirty="0">
                <a:solidFill>
                  <a:srgbClr val="A9B4C2"/>
                </a:solidFill>
                <a:latin typeface="Calibri" pitchFamily="34" charset="0"/>
                <a:ea typeface="Calibri" pitchFamily="34" charset="-122"/>
                <a:cs typeface="Calibri" pitchFamily="34" charset="-120"/>
              </a:rPr>
              <a:t>Kerangka standar proses data mining (Chapman et al., 2000), diterapkan dari pemahaman masalah sampai aplikasi web.</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DATA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Data: simulasi + data asli pemain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13</a:t>
            </a:r>
            <a:endParaRPr lang="en-US" sz="1000" dirty="0"/>
          </a:p>
        </p:txBody>
      </p:sp>
      <p:sp>
        <p:nvSpPr>
          <p:cNvPr id="6" name="Shape 4"/>
          <p:cNvSpPr/>
          <p:nvPr/>
        </p:nvSpPr>
        <p:spPr>
          <a:xfrm>
            <a:off x="548640" y="1645920"/>
            <a:ext cx="5394960" cy="2194560"/>
          </a:xfrm>
          <a:prstGeom prst="roundRect">
            <a:avLst>
              <a:gd name="adj" fmla="val 3333"/>
            </a:avLst>
          </a:prstGeom>
          <a:solidFill>
            <a:srgbClr val="1C2230"/>
          </a:solidFill>
          <a:ln w="9525">
            <a:solidFill>
              <a:srgbClr val="30363D"/>
            </a:solidFill>
            <a:prstDash val="solid"/>
          </a:ln>
        </p:spPr>
      </p:sp>
      <p:sp>
        <p:nvSpPr>
          <p:cNvPr id="7" name="Text 5"/>
          <p:cNvSpPr txBox="1"/>
          <p:nvPr/>
        </p:nvSpPr>
        <p:spPr>
          <a:xfrm>
            <a:off x="777240" y="1874520"/>
            <a:ext cx="493776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Simulasi Monte Carlo</a:t>
            </a:r>
            <a:endParaRPr lang="en-US" sz="1800" dirty="0"/>
          </a:p>
        </p:txBody>
      </p:sp>
      <p:sp>
        <p:nvSpPr>
          <p:cNvPr id="8" name="Text 6"/>
          <p:cNvSpPr txBox="1"/>
          <p:nvPr/>
        </p:nvSpPr>
        <p:spPr>
          <a:xfrm>
            <a:off x="777240" y="2331720"/>
            <a:ext cx="4937760" cy="132588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400 akun virtual · ±314 ribu pull · dibangkitkan dari model Markov (seed 42), jadi memuat asumsi soft pity. Dipakai untuk melatih dan menguji.</a:t>
            </a:r>
            <a:endParaRPr lang="en-US" sz="1600" dirty="0"/>
          </a:p>
        </p:txBody>
      </p:sp>
      <p:sp>
        <p:nvSpPr>
          <p:cNvPr id="9" name="Shape 7"/>
          <p:cNvSpPr/>
          <p:nvPr/>
        </p:nvSpPr>
        <p:spPr>
          <a:xfrm>
            <a:off x="6217920" y="1645920"/>
            <a:ext cx="5394960" cy="2194560"/>
          </a:xfrm>
          <a:prstGeom prst="roundRect">
            <a:avLst>
              <a:gd name="adj" fmla="val 3333"/>
            </a:avLst>
          </a:prstGeom>
          <a:solidFill>
            <a:srgbClr val="1C2230"/>
          </a:solidFill>
          <a:ln w="9525">
            <a:solidFill>
              <a:srgbClr val="30363D"/>
            </a:solidFill>
            <a:prstDash val="solid"/>
          </a:ln>
        </p:spPr>
      </p:sp>
      <p:sp>
        <p:nvSpPr>
          <p:cNvPr id="10" name="Text 8"/>
          <p:cNvSpPr txBox="1"/>
          <p:nvPr/>
        </p:nvSpPr>
        <p:spPr>
          <a:xfrm>
            <a:off x="6446520" y="1874520"/>
            <a:ext cx="4937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Data asli (3 akun)</a:t>
            </a:r>
            <a:endParaRPr lang="en-US" sz="1800" dirty="0"/>
          </a:p>
        </p:txBody>
      </p:sp>
      <p:sp>
        <p:nvSpPr>
          <p:cNvPr id="11" name="Text 9"/>
          <p:cNvSpPr txBox="1"/>
          <p:nvPr/>
        </p:nvSpPr>
        <p:spPr>
          <a:xfrm>
            <a:off x="6446520" y="2331720"/>
            <a:ext cx="4937760" cy="132588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1.751 pull · 28 S-Rank · anonim. Dipakai untuk menguji model, memeriksa pola soft pity, dan melatih + menguji sendiri (1.425 baris).</a:t>
            </a:r>
            <a:endParaRPr lang="en-US" sz="1600" dirty="0"/>
          </a:p>
        </p:txBody>
      </p:sp>
      <p:sp>
        <p:nvSpPr>
          <p:cNvPr id="12" name="Text 10"/>
          <p:cNvSpPr txBox="1"/>
          <p:nvPr/>
        </p:nvSpPr>
        <p:spPr>
          <a:xfrm>
            <a:off x="548640" y="4160520"/>
            <a:ext cx="10972800" cy="365760"/>
          </a:xfrm>
          <a:prstGeom prst="rect">
            <a:avLst/>
          </a:prstGeom>
          <a:noFill/>
          <a:ln/>
        </p:spPr>
        <p:txBody>
          <a:bodyPr wrap="square" lIns="0" tIns="0" rIns="0" bIns="0" rtlCol="0" anchor="ctr"/>
          <a:lstStyle/>
          <a:p>
            <a:pPr indent="0" marL="0">
              <a:buNone/>
            </a:pPr>
            <a:r>
              <a:rPr lang="en-US" sz="1600" b="1" dirty="0">
                <a:solidFill>
                  <a:srgbClr val="E6EDF3"/>
                </a:solidFill>
                <a:latin typeface="Calibri" pitchFamily="34" charset="0"/>
                <a:ea typeface="Calibri" pitchFamily="34" charset="-122"/>
                <a:cs typeface="Calibri" pitchFamily="34" charset="-120"/>
              </a:rPr>
              <a:t>Cara ambil data asli:</a:t>
            </a:r>
            <a:endParaRPr lang="en-US" sz="1600" dirty="0"/>
          </a:p>
        </p:txBody>
      </p:sp>
      <p:sp>
        <p:nvSpPr>
          <p:cNvPr id="13" name="Text 11"/>
          <p:cNvSpPr txBox="1"/>
          <p:nvPr/>
        </p:nvSpPr>
        <p:spPr>
          <a:xfrm>
            <a:off x="548640" y="4572000"/>
            <a:ext cx="10972800" cy="16459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Script PowerShell membaca URL riwayat dari cache game di PC (Steam/HoYoPlay) → server HoYoverse</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Upload file UIGF v4 (cocok untuk HP) atau input manual pity</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Pra-pemrosesan: buang duplikat, urutkan per akun, hitung pity &amp; guaranteed, buang segmen pertama yang tidak lengkap</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DATA PREPARATION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Fitur dan target</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14</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035040" cy="914400"/>
        </p:xfrm>
        <a:graphic>
          <a:graphicData uri="http://schemas.openxmlformats.org/drawingml/2006/table">
            <a:tbl>
              <a:tblPr/>
              <a:tblGrid>
                <a:gridCol w="1828800"/>
                <a:gridCol w="4206240"/>
              </a:tblGrid>
              <a:tr h="548640">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Fitur</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Keterangan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pity</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pull sejak S-Rank terakhir (0 – 89)</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pity_ratio</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pity ÷ hard pity</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guaranteed</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1 jika S berikutnya pasti rate-up</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is_wengine</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1 = W-Engine, 0 = Agent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6949440" y="1645920"/>
            <a:ext cx="4663440" cy="1920240"/>
          </a:xfrm>
          <a:prstGeom prst="roundRect">
            <a:avLst>
              <a:gd name="adj" fmla="val 3810"/>
            </a:avLst>
          </a:prstGeom>
          <a:solidFill>
            <a:srgbClr val="1C2230"/>
          </a:solidFill>
          <a:ln w="9525">
            <a:solidFill>
              <a:srgbClr val="30363D"/>
            </a:solidFill>
            <a:prstDash val="solid"/>
          </a:ln>
        </p:spPr>
      </p:sp>
      <p:sp>
        <p:nvSpPr>
          <p:cNvPr id="8" name="Text 5"/>
          <p:cNvSpPr txBox="1"/>
          <p:nvPr/>
        </p:nvSpPr>
        <p:spPr>
          <a:xfrm>
            <a:off x="7178040" y="1874520"/>
            <a:ext cx="4206240" cy="411480"/>
          </a:xfrm>
          <a:prstGeom prst="rect">
            <a:avLst/>
          </a:prstGeom>
          <a:noFill/>
          <a:ln/>
        </p:spPr>
        <p:txBody>
          <a:bodyPr wrap="square" lIns="0" tIns="0" rIns="0" bIns="0" rtlCol="0" anchor="t"/>
          <a:lstStyle/>
          <a:p>
            <a:pPr indent="0" marL="0">
              <a:buNone/>
            </a:pPr>
            <a:r>
              <a:rPr lang="en-US" sz="1800" b="1" dirty="0">
                <a:solidFill>
                  <a:srgbClr val="8B949E"/>
                </a:solidFill>
                <a:latin typeface="Cambria" pitchFamily="34" charset="0"/>
                <a:ea typeface="Cambria" pitchFamily="34" charset="-122"/>
                <a:cs typeface="Cambria" pitchFamily="34" charset="-120"/>
              </a:rPr>
              <a:t>Tugas A</a:t>
            </a:r>
            <a:endParaRPr lang="en-US" sz="1800" dirty="0"/>
          </a:p>
        </p:txBody>
      </p:sp>
      <p:sp>
        <p:nvSpPr>
          <p:cNvPr id="9" name="Text 6"/>
          <p:cNvSpPr txBox="1"/>
          <p:nvPr/>
        </p:nvSpPr>
        <p:spPr>
          <a:xfrm>
            <a:off x="7178040" y="2331720"/>
            <a:ext cx="4206240" cy="105156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Dapat S-Rank di pull berikutnya? Kelas positif ±1,7%.</a:t>
            </a:r>
            <a:endParaRPr lang="en-US" sz="1600" dirty="0"/>
          </a:p>
        </p:txBody>
      </p:sp>
      <p:sp>
        <p:nvSpPr>
          <p:cNvPr id="10" name="Shape 7"/>
          <p:cNvSpPr/>
          <p:nvPr/>
        </p:nvSpPr>
        <p:spPr>
          <a:xfrm>
            <a:off x="6949440" y="3794760"/>
            <a:ext cx="4663440" cy="1920240"/>
          </a:xfrm>
          <a:prstGeom prst="roundRect">
            <a:avLst>
              <a:gd name="adj" fmla="val 3810"/>
            </a:avLst>
          </a:prstGeom>
          <a:solidFill>
            <a:srgbClr val="1C2230"/>
          </a:solidFill>
          <a:ln w="9525">
            <a:solidFill>
              <a:srgbClr val="30363D"/>
            </a:solidFill>
            <a:prstDash val="solid"/>
          </a:ln>
        </p:spPr>
      </p:sp>
      <p:sp>
        <p:nvSpPr>
          <p:cNvPr id="11" name="Text 8"/>
          <p:cNvSpPr txBox="1"/>
          <p:nvPr/>
        </p:nvSpPr>
        <p:spPr>
          <a:xfrm>
            <a:off x="7178040" y="4023360"/>
            <a:ext cx="420624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Tugas B (utama)</a:t>
            </a:r>
            <a:endParaRPr lang="en-US" sz="1800" dirty="0"/>
          </a:p>
        </p:txBody>
      </p:sp>
      <p:sp>
        <p:nvSpPr>
          <p:cNvPr id="12" name="Text 9"/>
          <p:cNvSpPr txBox="1"/>
          <p:nvPr/>
        </p:nvSpPr>
        <p:spPr>
          <a:xfrm>
            <a:off x="7178040" y="4480560"/>
            <a:ext cx="4206240" cy="105156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Dapat S-Rank dalam 10 pull berikutnya (1x ten-pull)? Kelas positif ±16,6%.</a:t>
            </a:r>
            <a:endParaRPr lang="en-US" sz="1600" dirty="0"/>
          </a:p>
        </p:txBody>
      </p:sp>
      <p:sp>
        <p:nvSpPr>
          <p:cNvPr id="13" name="Text 10"/>
          <p:cNvSpPr txBox="1"/>
          <p:nvPr/>
        </p:nvSpPr>
        <p:spPr>
          <a:xfrm>
            <a:off x="548640" y="4754880"/>
            <a:ext cx="6035040" cy="822960"/>
          </a:xfrm>
          <a:prstGeom prst="rect">
            <a:avLst/>
          </a:prstGeom>
          <a:noFill/>
          <a:ln/>
        </p:spPr>
        <p:txBody>
          <a:bodyPr wrap="square" lIns="0" tIns="0" rIns="0" bIns="0" rtlCol="0" anchor="t"/>
          <a:lstStyle/>
          <a:p>
            <a:pPr indent="0" marL="0">
              <a:buNone/>
            </a:pPr>
            <a:r>
              <a:rPr lang="en-US" sz="1500" dirty="0">
                <a:solidFill>
                  <a:srgbClr val="A9B4C2"/>
                </a:solidFill>
                <a:latin typeface="Calibri" pitchFamily="34" charset="0"/>
                <a:ea typeface="Calibri" pitchFamily="34" charset="-122"/>
                <a:cs typeface="Calibri" pitchFamily="34" charset="-120"/>
              </a:rPr>
              <a:t>Semua fitur diketahui SEBELUM pull dilakukan → tidak ada kebocoran data.</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METODE</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Skenario evaluasi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15</a:t>
            </a:r>
            <a:endParaRPr lang="en-US" sz="1000" dirty="0"/>
          </a:p>
        </p:txBody>
      </p:sp>
      <p:sp>
        <p:nvSpPr>
          <p:cNvPr id="6" name="Shape 4"/>
          <p:cNvSpPr/>
          <p:nvPr/>
        </p:nvSpPr>
        <p:spPr>
          <a:xfrm>
            <a:off x="548640" y="1737360"/>
            <a:ext cx="2103120" cy="3108960"/>
          </a:xfrm>
          <a:prstGeom prst="roundRect">
            <a:avLst>
              <a:gd name="adj" fmla="val 3478"/>
            </a:avLst>
          </a:prstGeom>
          <a:solidFill>
            <a:srgbClr val="1C2230"/>
          </a:solidFill>
          <a:ln w="9525">
            <a:solidFill>
              <a:srgbClr val="30363D"/>
            </a:solidFill>
            <a:prstDash val="solid"/>
          </a:ln>
        </p:spPr>
      </p:sp>
      <p:sp>
        <p:nvSpPr>
          <p:cNvPr id="7" name="Shape 5"/>
          <p:cNvSpPr/>
          <p:nvPr/>
        </p:nvSpPr>
        <p:spPr>
          <a:xfrm>
            <a:off x="777240" y="1965960"/>
            <a:ext cx="457200" cy="457200"/>
          </a:xfrm>
          <a:prstGeom prst="ellipse">
            <a:avLst/>
          </a:prstGeom>
          <a:solidFill>
            <a:srgbClr val="F5A623"/>
          </a:solidFill>
          <a:ln/>
        </p:spPr>
      </p:sp>
      <p:sp>
        <p:nvSpPr>
          <p:cNvPr id="8" name="Text 6"/>
          <p:cNvSpPr txBox="1"/>
          <p:nvPr/>
        </p:nvSpPr>
        <p:spPr>
          <a:xfrm>
            <a:off x="77724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77724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Split per akun</a:t>
            </a:r>
            <a:endParaRPr lang="en-US" sz="1700" dirty="0"/>
          </a:p>
        </p:txBody>
      </p:sp>
      <p:sp>
        <p:nvSpPr>
          <p:cNvPr id="10" name="Text 8"/>
          <p:cNvSpPr txBox="1"/>
          <p:nvPr/>
        </p:nvSpPr>
        <p:spPr>
          <a:xfrm>
            <a:off x="777240" y="3337560"/>
            <a:ext cx="1645920" cy="13258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Pull dari satu akun tidak boleh ada di data latih dan uji sekaligus.</a:t>
            </a:r>
            <a:endParaRPr lang="en-US" sz="1400" dirty="0"/>
          </a:p>
        </p:txBody>
      </p:sp>
      <p:sp>
        <p:nvSpPr>
          <p:cNvPr id="11" name="Shape 9"/>
          <p:cNvSpPr/>
          <p:nvPr/>
        </p:nvSpPr>
        <p:spPr>
          <a:xfrm>
            <a:off x="2798064" y="1737360"/>
            <a:ext cx="2103120" cy="3108960"/>
          </a:xfrm>
          <a:prstGeom prst="roundRect">
            <a:avLst>
              <a:gd name="adj" fmla="val 3478"/>
            </a:avLst>
          </a:prstGeom>
          <a:solidFill>
            <a:srgbClr val="1C2230"/>
          </a:solidFill>
          <a:ln w="9525">
            <a:solidFill>
              <a:srgbClr val="30363D"/>
            </a:solidFill>
            <a:prstDash val="solid"/>
          </a:ln>
        </p:spPr>
      </p:sp>
      <p:sp>
        <p:nvSpPr>
          <p:cNvPr id="12" name="Shape 10"/>
          <p:cNvSpPr/>
          <p:nvPr/>
        </p:nvSpPr>
        <p:spPr>
          <a:xfrm>
            <a:off x="3026664" y="1965960"/>
            <a:ext cx="457200" cy="457200"/>
          </a:xfrm>
          <a:prstGeom prst="ellipse">
            <a:avLst/>
          </a:prstGeom>
          <a:solidFill>
            <a:srgbClr val="FF7EB6"/>
          </a:solidFill>
          <a:ln/>
        </p:spPr>
      </p:sp>
      <p:sp>
        <p:nvSpPr>
          <p:cNvPr id="13" name="Text 11"/>
          <p:cNvSpPr txBox="1"/>
          <p:nvPr/>
        </p:nvSpPr>
        <p:spPr>
          <a:xfrm>
            <a:off x="3026664"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3026664"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Grid search</a:t>
            </a:r>
            <a:endParaRPr lang="en-US" sz="1700" dirty="0"/>
          </a:p>
        </p:txBody>
      </p:sp>
      <p:sp>
        <p:nvSpPr>
          <p:cNvPr id="15" name="Text 13"/>
          <p:cNvSpPr txBox="1"/>
          <p:nvPr/>
        </p:nvSpPr>
        <p:spPr>
          <a:xfrm>
            <a:off x="3026664" y="3337560"/>
            <a:ext cx="1645920" cy="13258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Hyperparameter dipilih di 100 akun simulasi terpisah (tidak dipakai evaluasi).</a:t>
            </a:r>
            <a:endParaRPr lang="en-US" sz="1400" dirty="0"/>
          </a:p>
        </p:txBody>
      </p:sp>
      <p:sp>
        <p:nvSpPr>
          <p:cNvPr id="16" name="Shape 14"/>
          <p:cNvSpPr/>
          <p:nvPr/>
        </p:nvSpPr>
        <p:spPr>
          <a:xfrm>
            <a:off x="5047488" y="1737360"/>
            <a:ext cx="2103120" cy="3108960"/>
          </a:xfrm>
          <a:prstGeom prst="roundRect">
            <a:avLst>
              <a:gd name="adj" fmla="val 3478"/>
            </a:avLst>
          </a:prstGeom>
          <a:solidFill>
            <a:srgbClr val="1C2230"/>
          </a:solidFill>
          <a:ln w="9525">
            <a:solidFill>
              <a:srgbClr val="30363D"/>
            </a:solidFill>
            <a:prstDash val="solid"/>
          </a:ln>
        </p:spPr>
      </p:sp>
      <p:sp>
        <p:nvSpPr>
          <p:cNvPr id="17" name="Shape 15"/>
          <p:cNvSpPr/>
          <p:nvPr/>
        </p:nvSpPr>
        <p:spPr>
          <a:xfrm>
            <a:off x="5276088" y="1965960"/>
            <a:ext cx="457200" cy="457200"/>
          </a:xfrm>
          <a:prstGeom prst="ellipse">
            <a:avLst/>
          </a:prstGeom>
          <a:solidFill>
            <a:srgbClr val="58A6FF"/>
          </a:solidFill>
          <a:ln/>
        </p:spPr>
      </p:sp>
      <p:sp>
        <p:nvSpPr>
          <p:cNvPr id="18" name="Text 16"/>
          <p:cNvSpPr txBox="1"/>
          <p:nvPr/>
        </p:nvSpPr>
        <p:spPr>
          <a:xfrm>
            <a:off x="5276088"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5276088"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5-fold GroupKFold</a:t>
            </a:r>
            <a:endParaRPr lang="en-US" sz="1700" dirty="0"/>
          </a:p>
        </p:txBody>
      </p:sp>
      <p:sp>
        <p:nvSpPr>
          <p:cNvPr id="20" name="Text 18"/>
          <p:cNvSpPr txBox="1"/>
          <p:nvPr/>
        </p:nvSpPr>
        <p:spPr>
          <a:xfrm>
            <a:off x="5276088" y="3337560"/>
            <a:ext cx="1645920" cy="13258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Rata-rata ± simpangan baku, lalu uji t berpasangan terkoreksi.</a:t>
            </a:r>
            <a:endParaRPr lang="en-US" sz="1400" dirty="0"/>
          </a:p>
        </p:txBody>
      </p:sp>
      <p:sp>
        <p:nvSpPr>
          <p:cNvPr id="21" name="Shape 19"/>
          <p:cNvSpPr/>
          <p:nvPr/>
        </p:nvSpPr>
        <p:spPr>
          <a:xfrm>
            <a:off x="7296912" y="1737360"/>
            <a:ext cx="2103120" cy="3108960"/>
          </a:xfrm>
          <a:prstGeom prst="roundRect">
            <a:avLst>
              <a:gd name="adj" fmla="val 3478"/>
            </a:avLst>
          </a:prstGeom>
          <a:solidFill>
            <a:srgbClr val="1C2230"/>
          </a:solidFill>
          <a:ln w="9525">
            <a:solidFill>
              <a:srgbClr val="30363D"/>
            </a:solidFill>
            <a:prstDash val="solid"/>
          </a:ln>
        </p:spPr>
      </p:sp>
      <p:sp>
        <p:nvSpPr>
          <p:cNvPr id="22" name="Shape 20"/>
          <p:cNvSpPr/>
          <p:nvPr/>
        </p:nvSpPr>
        <p:spPr>
          <a:xfrm>
            <a:off x="7525512" y="1965960"/>
            <a:ext cx="457200" cy="457200"/>
          </a:xfrm>
          <a:prstGeom prst="ellipse">
            <a:avLst/>
          </a:prstGeom>
          <a:solidFill>
            <a:srgbClr val="3FB950"/>
          </a:solidFill>
          <a:ln/>
        </p:spPr>
      </p:sp>
      <p:sp>
        <p:nvSpPr>
          <p:cNvPr id="23" name="Text 21"/>
          <p:cNvSpPr txBox="1"/>
          <p:nvPr/>
        </p:nvSpPr>
        <p:spPr>
          <a:xfrm>
            <a:off x="7525512"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4</a:t>
            </a:r>
            <a:endParaRPr lang="en-US" sz="1600" dirty="0"/>
          </a:p>
        </p:txBody>
      </p:sp>
      <p:sp>
        <p:nvSpPr>
          <p:cNvPr id="24" name="Text 22"/>
          <p:cNvSpPr txBox="1"/>
          <p:nvPr/>
        </p:nvSpPr>
        <p:spPr>
          <a:xfrm>
            <a:off x="7525512"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Uji data asli</a:t>
            </a:r>
            <a:endParaRPr lang="en-US" sz="1700" dirty="0"/>
          </a:p>
        </p:txBody>
      </p:sp>
      <p:sp>
        <p:nvSpPr>
          <p:cNvPr id="25" name="Text 23"/>
          <p:cNvSpPr txBox="1"/>
          <p:nvPr/>
        </p:nvSpPr>
        <p:spPr>
          <a:xfrm>
            <a:off x="7525512" y="3337560"/>
            <a:ext cx="1645920" cy="13258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Model diuji di 3 akun asli yang tidak pernah dilihat saat latih.</a:t>
            </a:r>
            <a:endParaRPr lang="en-US" sz="1400" dirty="0"/>
          </a:p>
        </p:txBody>
      </p:sp>
      <p:sp>
        <p:nvSpPr>
          <p:cNvPr id="26" name="Shape 24"/>
          <p:cNvSpPr/>
          <p:nvPr/>
        </p:nvSpPr>
        <p:spPr>
          <a:xfrm>
            <a:off x="9546336" y="1737360"/>
            <a:ext cx="2103120" cy="3108960"/>
          </a:xfrm>
          <a:prstGeom prst="roundRect">
            <a:avLst>
              <a:gd name="adj" fmla="val 3478"/>
            </a:avLst>
          </a:prstGeom>
          <a:solidFill>
            <a:srgbClr val="1C2230"/>
          </a:solidFill>
          <a:ln w="9525">
            <a:solidFill>
              <a:srgbClr val="30363D"/>
            </a:solidFill>
            <a:prstDash val="solid"/>
          </a:ln>
        </p:spPr>
      </p:sp>
      <p:sp>
        <p:nvSpPr>
          <p:cNvPr id="27" name="Shape 25"/>
          <p:cNvSpPr/>
          <p:nvPr/>
        </p:nvSpPr>
        <p:spPr>
          <a:xfrm>
            <a:off x="9774936" y="1965960"/>
            <a:ext cx="457200" cy="457200"/>
          </a:xfrm>
          <a:prstGeom prst="ellipse">
            <a:avLst/>
          </a:prstGeom>
          <a:solidFill>
            <a:srgbClr val="BC8CFF"/>
          </a:solidFill>
          <a:ln/>
        </p:spPr>
      </p:sp>
      <p:sp>
        <p:nvSpPr>
          <p:cNvPr id="28" name="Text 26"/>
          <p:cNvSpPr txBox="1"/>
          <p:nvPr/>
        </p:nvSpPr>
        <p:spPr>
          <a:xfrm>
            <a:off x="9774936"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5</a:t>
            </a:r>
            <a:endParaRPr lang="en-US" sz="1600" dirty="0"/>
          </a:p>
        </p:txBody>
      </p:sp>
      <p:sp>
        <p:nvSpPr>
          <p:cNvPr id="29" name="Text 27"/>
          <p:cNvSpPr txBox="1"/>
          <p:nvPr/>
        </p:nvSpPr>
        <p:spPr>
          <a:xfrm>
            <a:off x="9774936"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Latih di data asli</a:t>
            </a:r>
            <a:endParaRPr lang="en-US" sz="1700" dirty="0"/>
          </a:p>
        </p:txBody>
      </p:sp>
      <p:sp>
        <p:nvSpPr>
          <p:cNvPr id="30" name="Text 28"/>
          <p:cNvSpPr txBox="1"/>
          <p:nvPr/>
        </p:nvSpPr>
        <p:spPr>
          <a:xfrm>
            <a:off x="9774936" y="3337560"/>
            <a:ext cx="1645920" cy="13258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Latih + uji hanya data asli, 5-fold per siklus pity, nested grid search.</a:t>
            </a:r>
            <a:endParaRPr lang="en-US" sz="1400" dirty="0"/>
          </a:p>
        </p:txBody>
      </p:sp>
      <p:sp>
        <p:nvSpPr>
          <p:cNvPr id="31" name="Text 29"/>
          <p:cNvSpPr txBox="1"/>
          <p:nvPr/>
        </p:nvSpPr>
        <p:spPr>
          <a:xfrm>
            <a:off x="548640" y="5029200"/>
            <a:ext cx="10972800" cy="457200"/>
          </a:xfrm>
          <a:prstGeom prst="rect">
            <a:avLst/>
          </a:prstGeom>
          <a:noFill/>
          <a:ln/>
        </p:spPr>
        <p:txBody>
          <a:bodyPr wrap="square" lIns="0" tIns="0" rIns="0" bIns="0" rtlCol="0" anchor="ctr"/>
          <a:lstStyle/>
          <a:p>
            <a:pPr indent="0" marL="0">
              <a:buNone/>
            </a:pPr>
            <a:r>
              <a:rPr lang="en-US" sz="1600" dirty="0">
                <a:solidFill>
                  <a:srgbClr val="A9B4C2"/>
                </a:solidFill>
                <a:latin typeface="Calibri" pitchFamily="34" charset="0"/>
                <a:ea typeface="Calibri" pitchFamily="34" charset="-122"/>
                <a:cs typeface="Calibri" pitchFamily="34" charset="-120"/>
              </a:rPr>
              <a:t>Pembanding: Baseline (selalu "tidak S") dan Markov Chain (acuan teori).</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RANCANGAN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Rancangan aplikasi web</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16</a:t>
            </a:r>
            <a:endParaRPr lang="en-US" sz="1000" dirty="0"/>
          </a:p>
        </p:txBody>
      </p:sp>
      <p:pic>
        <p:nvPicPr>
          <p:cNvPr id="6" name="Image 0" descr="app_kalkulator_top.png">    </p:cNvPr>
          <p:cNvPicPr>
            <a:picLocks noChangeAspect="1"/>
          </p:cNvPicPr>
          <p:nvPr/>
        </p:nvPicPr>
        <p:blipFill>
          <a:blip r:embed="rId1"/>
          <a:stretch>
            <a:fillRect/>
          </a:stretch>
        </p:blipFill>
        <p:spPr>
          <a:xfrm>
            <a:off x="1734503" y="1463040"/>
            <a:ext cx="3480435" cy="4800600"/>
          </a:xfrm>
          <a:prstGeom prst="rect">
            <a:avLst/>
          </a:prstGeom>
        </p:spPr>
      </p:pic>
      <p:sp>
        <p:nvSpPr>
          <p:cNvPr id="7" name="Text 4"/>
          <p:cNvSpPr txBox="1"/>
          <p:nvPr/>
        </p:nvSpPr>
        <p:spPr>
          <a:xfrm>
            <a:off x="6675120" y="1737360"/>
            <a:ext cx="4937760" cy="43891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Beranda: penjelasan &amp; aturan banner</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Import Data: PowerShell, upload UIGF, input manual, data contoh</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Kalkulator Peluang: Markov Chain + prediksi 6 algoritma</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Statistik Riwayat: pity tiap S, menang 50/50</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Perbandingan Algoritma: metrik, kurva, confusion matrix</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Tema gelap, nyaman di HP</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PROGRES</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Hasil awal prototipe (tugas B)</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17</a:t>
            </a:r>
            <a:endParaRPr lang="en-US" sz="1000" dirty="0"/>
          </a:p>
        </p:txBody>
      </p:sp>
      <p:graphicFrame>
        <p:nvGraphicFramePr>
          <p:cNvPr id="6" name="Chart 0" descr=""/>
          <p:cNvGraphicFramePr/>
          <p:nvPr/>
        </p:nvGraphicFramePr>
        <p:xfrm>
          <a:off x="548640" y="1554480"/>
          <a:ext cx="7680960" cy="46634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8503920" y="1645920"/>
            <a:ext cx="3108960" cy="4389120"/>
          </a:xfrm>
          <a:prstGeom prst="roundRect">
            <a:avLst>
              <a:gd name="adj" fmla="val 2353"/>
            </a:avLst>
          </a:prstGeom>
          <a:solidFill>
            <a:srgbClr val="1C2230"/>
          </a:solidFill>
          <a:ln w="9525">
            <a:solidFill>
              <a:srgbClr val="30363D"/>
            </a:solidFill>
            <a:prstDash val="solid"/>
          </a:ln>
        </p:spPr>
      </p:sp>
      <p:sp>
        <p:nvSpPr>
          <p:cNvPr id="8" name="Text 5"/>
          <p:cNvSpPr txBox="1"/>
          <p:nvPr/>
        </p:nvSpPr>
        <p:spPr>
          <a:xfrm>
            <a:off x="8732520" y="1874520"/>
            <a:ext cx="2651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Temuan awal</a:t>
            </a:r>
            <a:endParaRPr lang="en-US" sz="1800" dirty="0"/>
          </a:p>
        </p:txBody>
      </p:sp>
      <p:sp>
        <p:nvSpPr>
          <p:cNvPr id="9" name="Text 6"/>
          <p:cNvSpPr txBox="1"/>
          <p:nvPr/>
        </p:nvSpPr>
        <p:spPr>
          <a:xfrm>
            <a:off x="8732520" y="2331720"/>
            <a:ext cx="2651760" cy="352044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Prototipe sudah jalan; pity akun asli sama dengan di game. Model pohon &amp; KNN ±91% (simulasi) dan ±92% (data asli). Data asli juga memperlihatkan lonjakan S Agent mulai pull ke-74, sesuai estimasi soft pity.</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RENCANA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Peta jalan 14 minggu</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18</a:t>
            </a:r>
            <a:endParaRPr lang="en-US" sz="1000" dirty="0"/>
          </a:p>
        </p:txBody>
      </p:sp>
      <p:sp>
        <p:nvSpPr>
          <p:cNvPr id="6" name="Shape 4"/>
          <p:cNvSpPr/>
          <p:nvPr/>
        </p:nvSpPr>
        <p:spPr>
          <a:xfrm>
            <a:off x="1773936" y="1444752"/>
            <a:ext cx="8613648" cy="4882896"/>
          </a:xfrm>
          <a:prstGeom prst="roundRect">
            <a:avLst>
              <a:gd name="adj" fmla="val 1124"/>
            </a:avLst>
          </a:prstGeom>
          <a:solidFill>
            <a:srgbClr val="FFFFFF"/>
          </a:solidFill>
          <a:ln w="12700">
            <a:solidFill>
              <a:srgbClr val="30363D"/>
            </a:solidFill>
            <a:prstDash val="solid"/>
          </a:ln>
        </p:spPr>
      </p:sp>
      <p:pic>
        <p:nvPicPr>
          <p:cNvPr id="7" name="Image 0" descr="fig_petajalan.png">    </p:cNvPr>
          <p:cNvPicPr>
            <a:picLocks noChangeAspect="1"/>
          </p:cNvPicPr>
          <p:nvPr/>
        </p:nvPicPr>
        <p:blipFill>
          <a:blip r:embed="rId1"/>
          <a:stretch>
            <a:fillRect/>
          </a:stretch>
        </p:blipFill>
        <p:spPr>
          <a:xfrm>
            <a:off x="1883664" y="1554480"/>
            <a:ext cx="8394192" cy="466344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1463040"/>
            <a:ext cx="10972800" cy="1097280"/>
          </a:xfrm>
          <a:prstGeom prst="rect">
            <a:avLst/>
          </a:prstGeom>
          <a:noFill/>
          <a:ln/>
        </p:spPr>
        <p:txBody>
          <a:bodyPr wrap="square" lIns="0" tIns="0" rIns="0" bIns="0" rtlCol="0" anchor="ctr"/>
          <a:lstStyle/>
          <a:p>
            <a:pPr indent="0" marL="0">
              <a:buNone/>
            </a:pPr>
            <a:r>
              <a:rPr lang="en-US" sz="5400" b="1" dirty="0">
                <a:solidFill>
                  <a:srgbClr val="E6EDF3"/>
                </a:solidFill>
                <a:latin typeface="Cambria" pitchFamily="34" charset="0"/>
                <a:ea typeface="Cambria" pitchFamily="34" charset="-122"/>
                <a:cs typeface="Cambria" pitchFamily="34" charset="-120"/>
              </a:rPr>
              <a:t>Terima kasih</a:t>
            </a:r>
            <a:endParaRPr lang="en-US" sz="5400" dirty="0"/>
          </a:p>
        </p:txBody>
      </p:sp>
      <p:sp>
        <p:nvSpPr>
          <p:cNvPr id="3" name="Text 1"/>
          <p:cNvSpPr txBox="1"/>
          <p:nvPr/>
        </p:nvSpPr>
        <p:spPr>
          <a:xfrm>
            <a:off x="548640" y="2651760"/>
            <a:ext cx="10058400" cy="731520"/>
          </a:xfrm>
          <a:prstGeom prst="rect">
            <a:avLst/>
          </a:prstGeom>
          <a:noFill/>
          <a:ln/>
        </p:spPr>
        <p:txBody>
          <a:bodyPr wrap="square" lIns="0" tIns="0" rIns="0" bIns="0" rtlCol="0" anchor="ctr"/>
          <a:lstStyle/>
          <a:p>
            <a:pPr indent="0" marL="0">
              <a:buNone/>
            </a:pPr>
            <a:r>
              <a:rPr lang="en-US" sz="2000" dirty="0">
                <a:solidFill>
                  <a:srgbClr val="A9B4C2"/>
                </a:solidFill>
                <a:latin typeface="Calibri" pitchFamily="34" charset="0"/>
                <a:ea typeface="Calibri" pitchFamily="34" charset="-122"/>
                <a:cs typeface="Calibri" pitchFamily="34" charset="-120"/>
              </a:rPr>
              <a:t>Ada pertanyaan? Silakan coba aplikasinya langsung:</a:t>
            </a:r>
            <a:endParaRPr lang="en-US" sz="2000" dirty="0"/>
          </a:p>
        </p:txBody>
      </p:sp>
      <p:sp>
        <p:nvSpPr>
          <p:cNvPr id="4" name="Text 2"/>
          <p:cNvSpPr txBox="1"/>
          <p:nvPr/>
        </p:nvSpPr>
        <p:spPr>
          <a:xfrm>
            <a:off x="548640" y="3749040"/>
            <a:ext cx="10058400" cy="548640"/>
          </a:xfrm>
          <a:prstGeom prst="rect">
            <a:avLst/>
          </a:prstGeom>
          <a:noFill/>
          <a:ln/>
        </p:spPr>
        <p:txBody>
          <a:bodyPr wrap="square" lIns="0" tIns="0" rIns="0" bIns="0" rtlCol="0" anchor="ctr"/>
          <a:lstStyle/>
          <a:p>
            <a:pPr indent="0" marL="0">
              <a:buNone/>
            </a:pPr>
            <a:r>
              <a:rPr lang="en-US" sz="2600" b="1" dirty="0">
                <a:solidFill>
                  <a:srgbClr val="58A6FF"/>
                </a:solidFill>
                <a:latin typeface="Calibri" pitchFamily="34" charset="0"/>
                <a:ea typeface="Calibri" pitchFamily="34" charset="-122"/>
                <a:cs typeface="Calibri" pitchFamily="34" charset="-120"/>
              </a:rPr>
              <a:t>project-data-mining-zzz.streamlit.app</a:t>
            </a:r>
            <a:endParaRPr lang="en-US" sz="2600" dirty="0"/>
          </a:p>
        </p:txBody>
      </p:sp>
      <p:sp>
        <p:nvSpPr>
          <p:cNvPr id="5" name="Text 3"/>
          <p:cNvSpPr txBox="1"/>
          <p:nvPr/>
        </p:nvSpPr>
        <p:spPr>
          <a:xfrm>
            <a:off x="548640" y="4389120"/>
            <a:ext cx="10058400" cy="457200"/>
          </a:xfrm>
          <a:prstGeom prst="rect">
            <a:avLst/>
          </a:prstGeom>
          <a:noFill/>
          <a:ln/>
        </p:spPr>
        <p:txBody>
          <a:bodyPr wrap="square" lIns="0" tIns="0" rIns="0" bIns="0" rtlCol="0" anchor="ctr"/>
          <a:lstStyle/>
          <a:p>
            <a:pPr indent="0" marL="0">
              <a:buNone/>
            </a:pPr>
            <a:r>
              <a:rPr lang="en-US" sz="1600" dirty="0">
                <a:solidFill>
                  <a:srgbClr val="A9B4C2"/>
                </a:solidFill>
                <a:latin typeface="Calibri" pitchFamily="34" charset="0"/>
                <a:ea typeface="Calibri" pitchFamily="34" charset="-122"/>
                <a:cs typeface="Calibri" pitchFamily="34" charset="-120"/>
              </a:rPr>
              <a:t>github.com/tehgeii/project-data-mining</a:t>
            </a:r>
            <a:endParaRPr lang="en-US" sz="1600" dirty="0"/>
          </a:p>
        </p:txBody>
      </p:sp>
      <p:sp>
        <p:nvSpPr>
          <p:cNvPr id="6" name="Text 4"/>
          <p:cNvSpPr txBox="1"/>
          <p:nvPr/>
        </p:nvSpPr>
        <p:spPr>
          <a:xfrm>
            <a:off x="548640" y="5943600"/>
            <a:ext cx="10058400" cy="365760"/>
          </a:xfrm>
          <a:prstGeom prst="rect">
            <a:avLst/>
          </a:prstGeom>
          <a:noFill/>
          <a:ln/>
        </p:spPr>
        <p:txBody>
          <a:bodyPr wrap="square" lIns="0" tIns="0" rIns="0" bIns="0" rtlCol="0" anchor="ctr"/>
          <a:lstStyle/>
          <a:p>
            <a:pPr indent="0" marL="0">
              <a:buNone/>
            </a:pPr>
            <a:r>
              <a:rPr lang="en-US" sz="1300" dirty="0">
                <a:solidFill>
                  <a:srgbClr val="8B949E"/>
                </a:solidFill>
                <a:latin typeface="Calibri" pitchFamily="34" charset="0"/>
                <a:ea typeface="Calibri" pitchFamily="34" charset="-122"/>
                <a:cs typeface="Calibri" pitchFamily="34" charset="-120"/>
              </a:rPr>
              <a:t>Kelompok 6 · A11.4502 · Penambangan Data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Universitas Dian Nuswantoro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ZZZ Gacha Predictor</dc:title>
  <dc:subject>Penambangan Data</dc:subject>
  <dc:creator>Kelompok 6 A11.4502</dc:creator>
  <cp:lastModifiedBy>Kelompok 6 A11.4502</cp:lastModifiedBy>
  <cp:revision>1</cp:revision>
  <dcterms:created xsi:type="dcterms:W3CDTF">2026-10-22T12:27:31Z</dcterms:created>
  <dcterms:modified xsi:type="dcterms:W3CDTF">2026-10-22T12:27:31Z</dcterms:modified>
</cp:coreProperties>
</file>