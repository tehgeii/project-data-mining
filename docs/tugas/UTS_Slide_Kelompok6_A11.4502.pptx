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85.7</c:v>
                </c:pt>
                <c:pt idx="3">
                  <c:v>91.1</c:v>
                </c:pt>
                <c:pt idx="4">
                  <c:v>88.9</c:v>
                </c:pt>
                <c:pt idx="5">
                  <c:v>91.1</c:v>
                </c:pt>
                <c:pt idx="6">
                  <c:v>91.1</c:v>
                </c:pt>
                <c:pt idx="7">
                  <c:v>91.1</c:v>
                </c:pt>
              </c:numCache>
            </c:numRef>
          </c:val>
        </c:ser>
        <c:ser>
          <c:idx val="1"/>
          <c:order val="1"/>
          <c:tx>
            <c:strRef>
              <c:f>Sheet1!$C$1</c:f>
              <c:strCache>
                <c:ptCount val="1"/>
                <c:pt idx="0">
                  <c:v>Data asli (2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86.5</c:v>
                </c:pt>
                <c:pt idx="1">
                  <c:v>93.5</c:v>
                </c:pt>
                <c:pt idx="2">
                  <c:v>87.7</c:v>
                </c:pt>
                <c:pt idx="3">
                  <c:v>93.5</c:v>
                </c:pt>
                <c:pt idx="4">
                  <c:v>91.1</c:v>
                </c:pt>
                <c:pt idx="5">
                  <c:v>93.3</c:v>
                </c:pt>
                <c:pt idx="6">
                  <c:v>93.3</c:v>
                </c:pt>
                <c:pt idx="7">
                  <c:v>93.4</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proposal proyek akhir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empat rumusan masalah. Yang kedua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Batasan dan tujuan (±1,5 menit). Bacakan batasan: hanya dua banner terbatas dan hanya S-Rank. Lalu empat tujuan yang sejalan dengan rumusan 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batas teori pembanding algoritma.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batas teori.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Data asli dua akun dipakai khusus untuk menguji.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Skenario evaluasi (±1 menit). Pembagian data per akun mencegah kebocoran, karena pull yang berurutan saling berkaitan. Cross-validation lima fold untuk hasil yang stabil, lalu uji akhir di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Rancangan aplikasi (±1,5 menit). Aplikasi dibangun dengan Streamlit, materi deployment di kuliah. Jelaskan enam halaman. Kalau memungkinkan, buka link aplikasinya dan tunjukkan halaman kalkulator secara langsung.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awal (±2 menit). Prototipe sudah berjalan dan bisa dibuka di HP. Validasi: pity akun asli 70 dari 90 dan 46 dari 80 sama persis dengan di game. Hasil awal tugas B: model pohon dan KNN sekitar 91 persen di simulasi dan 93 persen di data asli, Logistic Regression dan Naive Bayes lebih rendah. Hasil lengkap akan dibahas di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Jadwal (±1 menit). Proyek direncanakan empat minggu. Sebutkan bahwa sebagian besar tahap sudah berjalan: prototipe, data asli, dan pemodelan sudah ada. Sisa pekerjaan: penyempurnaan evaluasi dan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lewat link, lalu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sp>
        <p:nvSpPr>
          <p:cNvPr id="5" name="Text 3"/>
          <p:cNvSpPr txBox="1"/>
          <p:nvPr/>
        </p:nvSpPr>
        <p:spPr>
          <a:xfrm>
            <a:off x="548640" y="914400"/>
            <a:ext cx="731520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PROPOSAL PROYEK AKHIR · UTS</a:t>
            </a:r>
            <a:endParaRPr lang="en-US" sz="1400" dirty="0"/>
          </a:p>
        </p:txBody>
      </p:sp>
      <p:sp>
        <p:nvSpPr>
          <p:cNvPr id="6"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7"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8"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9"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Shape 4"/>
          <p:cNvSpPr/>
          <p:nvPr/>
        </p:nvSpPr>
        <p:spPr>
          <a:xfrm>
            <a:off x="548640" y="1737360"/>
            <a:ext cx="2624328" cy="402336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Menghitung peluang</a:t>
            </a:r>
            <a:endParaRPr lang="en-US" sz="1800" dirty="0"/>
          </a:p>
        </p:txBody>
      </p:sp>
      <p:sp>
        <p:nvSpPr>
          <p:cNvPr id="10" name="Text 8"/>
          <p:cNvSpPr txBox="1"/>
          <p:nvPr/>
        </p:nvSpPr>
        <p:spPr>
          <a:xfrm>
            <a:off x="777240"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3355848" y="1737360"/>
            <a:ext cx="2624328" cy="402336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1965960"/>
            <a:ext cx="457200" cy="457200"/>
          </a:xfrm>
          <a:prstGeom prst="ellipse">
            <a:avLst/>
          </a:prstGeom>
          <a:solidFill>
            <a:srgbClr val="58A6FF"/>
          </a:solidFill>
          <a:ln/>
        </p:spPr>
      </p:sp>
      <p:sp>
        <p:nvSpPr>
          <p:cNvPr id="13" name="Text 11"/>
          <p:cNvSpPr txBox="1"/>
          <p:nvPr/>
        </p:nvSpPr>
        <p:spPr>
          <a:xfrm>
            <a:off x="3584448"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Algoritma terbaik</a:t>
            </a:r>
            <a:endParaRPr lang="en-US" sz="1800" dirty="0"/>
          </a:p>
        </p:txBody>
      </p:sp>
      <p:sp>
        <p:nvSpPr>
          <p:cNvPr id="15" name="Text 13"/>
          <p:cNvSpPr txBox="1"/>
          <p:nvPr/>
        </p:nvSpPr>
        <p:spPr>
          <a:xfrm>
            <a:off x="3584448"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16" name="Shape 14"/>
          <p:cNvSpPr/>
          <p:nvPr/>
        </p:nvSpPr>
        <p:spPr>
          <a:xfrm>
            <a:off x="6163056" y="1737360"/>
            <a:ext cx="2624328" cy="402336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1965960"/>
            <a:ext cx="457200" cy="457200"/>
          </a:xfrm>
          <a:prstGeom prst="ellipse">
            <a:avLst/>
          </a:prstGeom>
          <a:solidFill>
            <a:srgbClr val="3FB950"/>
          </a:solidFill>
          <a:ln/>
        </p:spPr>
      </p:sp>
      <p:sp>
        <p:nvSpPr>
          <p:cNvPr id="18" name="Text 16"/>
          <p:cNvSpPr txBox="1"/>
          <p:nvPr/>
        </p:nvSpPr>
        <p:spPr>
          <a:xfrm>
            <a:off x="6391656"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Evaluasi yang tepat</a:t>
            </a:r>
            <a:endParaRPr lang="en-US" sz="1800" dirty="0"/>
          </a:p>
        </p:txBody>
      </p:sp>
      <p:sp>
        <p:nvSpPr>
          <p:cNvPr id="20" name="Text 18"/>
          <p:cNvSpPr txBox="1"/>
          <p:nvPr/>
        </p:nvSpPr>
        <p:spPr>
          <a:xfrm>
            <a:off x="6391656"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1" name="Shape 19"/>
          <p:cNvSpPr/>
          <p:nvPr/>
        </p:nvSpPr>
        <p:spPr>
          <a:xfrm>
            <a:off x="8970264" y="1737360"/>
            <a:ext cx="2624328" cy="402336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1965960"/>
            <a:ext cx="457200" cy="457200"/>
          </a:xfrm>
          <a:prstGeom prst="ellipse">
            <a:avLst/>
          </a:prstGeom>
          <a:solidFill>
            <a:srgbClr val="BC8CFF"/>
          </a:solidFill>
          <a:ln/>
        </p:spPr>
      </p:sp>
      <p:sp>
        <p:nvSpPr>
          <p:cNvPr id="23" name="Text 21"/>
          <p:cNvSpPr txBox="1"/>
          <p:nvPr/>
        </p:nvSpPr>
        <p:spPr>
          <a:xfrm>
            <a:off x="9198864"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Mudah diakses</a:t>
            </a:r>
            <a:endParaRPr lang="en-US" sz="1800" dirty="0"/>
          </a:p>
        </p:txBody>
      </p:sp>
      <p:sp>
        <p:nvSpPr>
          <p:cNvPr id="25" name="Text 23"/>
          <p:cNvSpPr txBox="1"/>
          <p:nvPr/>
        </p:nvSpPr>
        <p:spPr>
          <a:xfrm>
            <a:off x="9198864"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PENDAHULUAN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Batasan dan tujuan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Text 4"/>
          <p:cNvSpPr txBox="1"/>
          <p:nvPr/>
        </p:nvSpPr>
        <p:spPr>
          <a:xfrm>
            <a:off x="548640" y="1645920"/>
            <a:ext cx="5394960" cy="365760"/>
          </a:xfrm>
          <a:prstGeom prst="rect">
            <a:avLst/>
          </a:prstGeom>
          <a:noFill/>
          <a:ln/>
        </p:spPr>
        <p:txBody>
          <a:bodyPr wrap="square" lIns="0" tIns="0" rIns="0" bIns="0" rtlCol="0" anchor="ctr"/>
          <a:lstStyle/>
          <a:p>
            <a:pPr indent="0" marL="0">
              <a:buNone/>
            </a:pPr>
            <a:r>
              <a:rPr lang="en-US" sz="2000" b="1" dirty="0">
                <a:solidFill>
                  <a:srgbClr val="F5A623"/>
                </a:solidFill>
                <a:latin typeface="Cambria" pitchFamily="34" charset="0"/>
                <a:ea typeface="Cambria" pitchFamily="34" charset="-122"/>
                <a:cs typeface="Cambria" pitchFamily="34" charset="-120"/>
              </a:rPr>
              <a:t>Batasan</a:t>
            </a:r>
            <a:endParaRPr lang="en-US" sz="2000" dirty="0"/>
          </a:p>
        </p:txBody>
      </p:sp>
      <p:sp>
        <p:nvSpPr>
          <p:cNvPr id="7" name="Text 5"/>
          <p:cNvSpPr txBox="1"/>
          <p:nvPr/>
        </p:nvSpPr>
        <p:spPr>
          <a:xfrm>
            <a:off x="548640" y="2103120"/>
            <a:ext cx="539496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Hanya banner Agent &amp; W-Engine terbatas</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Yang diprediksi hanya S-Rank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Soft pity memakai estimasi komunitas</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asli: akun anggota &amp; teman (anonim)</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Ambil riwayat otomatis: PC Windows</a:t>
            </a:r>
            <a:endParaRPr lang="en-US" sz="1600" dirty="0"/>
          </a:p>
        </p:txBody>
      </p:sp>
      <p:sp>
        <p:nvSpPr>
          <p:cNvPr id="8" name="Text 6"/>
          <p:cNvSpPr txBox="1"/>
          <p:nvPr/>
        </p:nvSpPr>
        <p:spPr>
          <a:xfrm>
            <a:off x="6309360" y="1645920"/>
            <a:ext cx="5394960" cy="365760"/>
          </a:xfrm>
          <a:prstGeom prst="rect">
            <a:avLst/>
          </a:prstGeom>
          <a:noFill/>
          <a:ln/>
        </p:spPr>
        <p:txBody>
          <a:bodyPr wrap="square" lIns="0" tIns="0" rIns="0" bIns="0" rtlCol="0" anchor="ctr"/>
          <a:lstStyle/>
          <a:p>
            <a:pPr indent="0" marL="0">
              <a:buNone/>
            </a:pPr>
            <a:r>
              <a:rPr lang="en-US" sz="2000" b="1" dirty="0">
                <a:solidFill>
                  <a:srgbClr val="58A6FF"/>
                </a:solidFill>
                <a:latin typeface="Cambria" pitchFamily="34" charset="0"/>
                <a:ea typeface="Cambria" pitchFamily="34" charset="-122"/>
                <a:cs typeface="Cambria" pitchFamily="34" charset="-120"/>
              </a:rPr>
              <a:t>Tujuan</a:t>
            </a:r>
            <a:endParaRPr lang="en-US" sz="2000" dirty="0"/>
          </a:p>
        </p:txBody>
      </p:sp>
      <p:sp>
        <p:nvSpPr>
          <p:cNvPr id="9" name="Text 7"/>
          <p:cNvSpPr txBox="1"/>
          <p:nvPr/>
        </p:nvSpPr>
        <p:spPr>
          <a:xfrm>
            <a:off x="6309360" y="2103120"/>
            <a:ext cx="530352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Model Markov Chain untuk peluang eksak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Membandingkan 6 algoritma klasifikasi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Evaluasi yang tepat untuk data tidak seimbang</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Aplikasi web yang nyaman di HP &amp; PC</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yang eksak</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pasti dapat S / S rate-up dalam N pull, tanpa simulasi.</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548640" y="1645920"/>
            <a:ext cx="3566160" cy="2057400"/>
          </a:xfrm>
          <a:prstGeom prst="roundRect">
            <a:avLst>
              <a:gd name="adj" fmla="val 3556"/>
            </a:avLst>
          </a:prstGeom>
          <a:solidFill>
            <a:srgbClr val="1C2230"/>
          </a:solidFill>
          <a:ln w="9525">
            <a:solidFill>
              <a:srgbClr val="30363D"/>
            </a:solidFill>
            <a:prstDash val="solid"/>
          </a:ln>
        </p:spPr>
      </p:sp>
      <p:sp>
        <p:nvSpPr>
          <p:cNvPr id="7" name="Text 5"/>
          <p:cNvSpPr txBox="1"/>
          <p:nvPr/>
        </p:nvSpPr>
        <p:spPr>
          <a:xfrm>
            <a:off x="777240" y="187452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645920"/>
            <a:ext cx="3566160" cy="2057400"/>
          </a:xfrm>
          <a:prstGeom prst="roundRect">
            <a:avLst>
              <a:gd name="adj" fmla="val 3556"/>
            </a:avLst>
          </a:prstGeom>
          <a:solidFill>
            <a:srgbClr val="1C2230"/>
          </a:solidFill>
          <a:ln w="9525">
            <a:solidFill>
              <a:srgbClr val="30363D"/>
            </a:solidFill>
            <a:prstDash val="solid"/>
          </a:ln>
        </p:spPr>
      </p:sp>
      <p:sp>
        <p:nvSpPr>
          <p:cNvPr id="10" name="Text 8"/>
          <p:cNvSpPr txBox="1"/>
          <p:nvPr/>
        </p:nvSpPr>
        <p:spPr>
          <a:xfrm>
            <a:off x="4526280" y="187452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101 data latih terdekat (fitur dinormalisasi).</a:t>
            </a:r>
            <a:endParaRPr lang="en-US" sz="1500" dirty="0"/>
          </a:p>
        </p:txBody>
      </p:sp>
      <p:sp>
        <p:nvSpPr>
          <p:cNvPr id="12" name="Shape 10"/>
          <p:cNvSpPr/>
          <p:nvPr/>
        </p:nvSpPr>
        <p:spPr>
          <a:xfrm>
            <a:off x="8046720" y="1645920"/>
            <a:ext cx="3566160" cy="2057400"/>
          </a:xfrm>
          <a:prstGeom prst="roundRect">
            <a:avLst>
              <a:gd name="adj" fmla="val 3556"/>
            </a:avLst>
          </a:prstGeom>
          <a:solidFill>
            <a:srgbClr val="1C2230"/>
          </a:solidFill>
          <a:ln w="9525">
            <a:solidFill>
              <a:srgbClr val="30363D"/>
            </a:solidFill>
            <a:prstDash val="solid"/>
          </a:ln>
        </p:spPr>
      </p:sp>
      <p:sp>
        <p:nvSpPr>
          <p:cNvPr id="13" name="Text 11"/>
          <p:cNvSpPr txBox="1"/>
          <p:nvPr/>
        </p:nvSpPr>
        <p:spPr>
          <a:xfrm>
            <a:off x="8275320" y="187452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886200"/>
            <a:ext cx="3566160" cy="2057400"/>
          </a:xfrm>
          <a:prstGeom prst="roundRect">
            <a:avLst>
              <a:gd name="adj" fmla="val 3556"/>
            </a:avLst>
          </a:prstGeom>
          <a:solidFill>
            <a:srgbClr val="1C2230"/>
          </a:solidFill>
          <a:ln w="9525">
            <a:solidFill>
              <a:srgbClr val="30363D"/>
            </a:solidFill>
            <a:prstDash val="solid"/>
          </a:ln>
        </p:spPr>
      </p:sp>
      <p:sp>
        <p:nvSpPr>
          <p:cNvPr id="16" name="Text 14"/>
          <p:cNvSpPr txBox="1"/>
          <p:nvPr/>
        </p:nvSpPr>
        <p:spPr>
          <a:xfrm>
            <a:off x="777240" y="411480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(max depth 6).</a:t>
            </a:r>
            <a:endParaRPr lang="en-US" sz="1500" dirty="0"/>
          </a:p>
        </p:txBody>
      </p:sp>
      <p:sp>
        <p:nvSpPr>
          <p:cNvPr id="18" name="Shape 16"/>
          <p:cNvSpPr/>
          <p:nvPr/>
        </p:nvSpPr>
        <p:spPr>
          <a:xfrm>
            <a:off x="4297680" y="3886200"/>
            <a:ext cx="3566160" cy="2057400"/>
          </a:xfrm>
          <a:prstGeom prst="roundRect">
            <a:avLst>
              <a:gd name="adj" fmla="val 3556"/>
            </a:avLst>
          </a:prstGeom>
          <a:solidFill>
            <a:srgbClr val="1C2230"/>
          </a:solidFill>
          <a:ln w="9525">
            <a:solidFill>
              <a:srgbClr val="30363D"/>
            </a:solidFill>
            <a:prstDash val="solid"/>
          </a:ln>
        </p:spPr>
      </p:sp>
      <p:sp>
        <p:nvSpPr>
          <p:cNvPr id="19" name="Text 17"/>
          <p:cNvSpPr txBox="1"/>
          <p:nvPr/>
        </p:nvSpPr>
        <p:spPr>
          <a:xfrm>
            <a:off x="4526280" y="411480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886200"/>
            <a:ext cx="3566160" cy="2057400"/>
          </a:xfrm>
          <a:prstGeom prst="roundRect">
            <a:avLst>
              <a:gd name="adj" fmla="val 3556"/>
            </a:avLst>
          </a:prstGeom>
          <a:solidFill>
            <a:srgbClr val="1C2230"/>
          </a:solidFill>
          <a:ln w="9525">
            <a:solidFill>
              <a:srgbClr val="30363D"/>
            </a:solidFill>
            <a:prstDash val="solid"/>
          </a:ln>
        </p:spPr>
      </p:sp>
      <p:sp>
        <p:nvSpPr>
          <p:cNvPr id="22" name="Text 20"/>
          <p:cNvSpPr txBox="1"/>
          <p:nvPr/>
        </p:nvSpPr>
        <p:spPr>
          <a:xfrm>
            <a:off x="8275320" y="411480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(2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1.424 pull · 21 S-Rank · anonim (tanpa UID, nama item, waktu). Hanya untuk menguji, tidak untuk melatih.</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Skenario evaluasi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828800"/>
            <a:ext cx="3566160" cy="2743200"/>
          </a:xfrm>
          <a:prstGeom prst="roundRect">
            <a:avLst>
              <a:gd name="adj" fmla="val 2667"/>
            </a:avLst>
          </a:prstGeom>
          <a:solidFill>
            <a:srgbClr val="1C2230"/>
          </a:solidFill>
          <a:ln w="9525">
            <a:solidFill>
              <a:srgbClr val="30363D"/>
            </a:solidFill>
            <a:prstDash val="solid"/>
          </a:ln>
        </p:spPr>
      </p:sp>
      <p:sp>
        <p:nvSpPr>
          <p:cNvPr id="7" name="Shape 5"/>
          <p:cNvSpPr/>
          <p:nvPr/>
        </p:nvSpPr>
        <p:spPr>
          <a:xfrm>
            <a:off x="777240" y="2057400"/>
            <a:ext cx="457200" cy="457200"/>
          </a:xfrm>
          <a:prstGeom prst="ellipse">
            <a:avLst/>
          </a:prstGeom>
          <a:solidFill>
            <a:srgbClr val="F5A623"/>
          </a:solidFill>
          <a:ln/>
        </p:spPr>
      </p:sp>
      <p:sp>
        <p:nvSpPr>
          <p:cNvPr id="8" name="Text 6"/>
          <p:cNvSpPr txBox="1"/>
          <p:nvPr/>
        </p:nvSpPr>
        <p:spPr>
          <a:xfrm>
            <a:off x="777240"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651760"/>
            <a:ext cx="3108960"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Split per akun</a:t>
            </a:r>
            <a:endParaRPr lang="en-US" sz="1800" dirty="0"/>
          </a:p>
        </p:txBody>
      </p:sp>
      <p:sp>
        <p:nvSpPr>
          <p:cNvPr id="10" name="Text 8"/>
          <p:cNvSpPr txBox="1"/>
          <p:nvPr/>
        </p:nvSpPr>
        <p:spPr>
          <a:xfrm>
            <a:off x="777240" y="3429000"/>
            <a:ext cx="3108960" cy="960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Pull dari satu akun tidak boleh ada di data latih dan uji sekaligus.</a:t>
            </a:r>
            <a:endParaRPr lang="en-US" sz="1600" dirty="0"/>
          </a:p>
        </p:txBody>
      </p:sp>
      <p:sp>
        <p:nvSpPr>
          <p:cNvPr id="11" name="Shape 9"/>
          <p:cNvSpPr/>
          <p:nvPr/>
        </p:nvSpPr>
        <p:spPr>
          <a:xfrm>
            <a:off x="4297680" y="1828800"/>
            <a:ext cx="3566160" cy="2743200"/>
          </a:xfrm>
          <a:prstGeom prst="roundRect">
            <a:avLst>
              <a:gd name="adj" fmla="val 2667"/>
            </a:avLst>
          </a:prstGeom>
          <a:solidFill>
            <a:srgbClr val="1C2230"/>
          </a:solidFill>
          <a:ln w="9525">
            <a:solidFill>
              <a:srgbClr val="30363D"/>
            </a:solidFill>
            <a:prstDash val="solid"/>
          </a:ln>
        </p:spPr>
      </p:sp>
      <p:sp>
        <p:nvSpPr>
          <p:cNvPr id="12" name="Shape 10"/>
          <p:cNvSpPr/>
          <p:nvPr/>
        </p:nvSpPr>
        <p:spPr>
          <a:xfrm>
            <a:off x="4526280" y="2057400"/>
            <a:ext cx="457200" cy="457200"/>
          </a:xfrm>
          <a:prstGeom prst="ellipse">
            <a:avLst/>
          </a:prstGeom>
          <a:solidFill>
            <a:srgbClr val="58A6FF"/>
          </a:solidFill>
          <a:ln/>
        </p:spPr>
      </p:sp>
      <p:sp>
        <p:nvSpPr>
          <p:cNvPr id="13" name="Text 11"/>
          <p:cNvSpPr txBox="1"/>
          <p:nvPr/>
        </p:nvSpPr>
        <p:spPr>
          <a:xfrm>
            <a:off x="4526280"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4526280" y="2651760"/>
            <a:ext cx="3108960"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5-fold GroupKFold</a:t>
            </a:r>
            <a:endParaRPr lang="en-US" sz="1800" dirty="0"/>
          </a:p>
        </p:txBody>
      </p:sp>
      <p:sp>
        <p:nvSpPr>
          <p:cNvPr id="15" name="Text 13"/>
          <p:cNvSpPr txBox="1"/>
          <p:nvPr/>
        </p:nvSpPr>
        <p:spPr>
          <a:xfrm>
            <a:off x="4526280" y="3429000"/>
            <a:ext cx="3108960" cy="960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Rata-rata ± simpangan baku dari 5 percobaan.</a:t>
            </a:r>
            <a:endParaRPr lang="en-US" sz="1600" dirty="0"/>
          </a:p>
        </p:txBody>
      </p:sp>
      <p:sp>
        <p:nvSpPr>
          <p:cNvPr id="16" name="Shape 14"/>
          <p:cNvSpPr/>
          <p:nvPr/>
        </p:nvSpPr>
        <p:spPr>
          <a:xfrm>
            <a:off x="8046720" y="1828800"/>
            <a:ext cx="3566160" cy="2743200"/>
          </a:xfrm>
          <a:prstGeom prst="roundRect">
            <a:avLst>
              <a:gd name="adj" fmla="val 2667"/>
            </a:avLst>
          </a:prstGeom>
          <a:solidFill>
            <a:srgbClr val="1C2230"/>
          </a:solidFill>
          <a:ln w="9525">
            <a:solidFill>
              <a:srgbClr val="30363D"/>
            </a:solidFill>
            <a:prstDash val="solid"/>
          </a:ln>
        </p:spPr>
      </p:sp>
      <p:sp>
        <p:nvSpPr>
          <p:cNvPr id="17" name="Shape 15"/>
          <p:cNvSpPr/>
          <p:nvPr/>
        </p:nvSpPr>
        <p:spPr>
          <a:xfrm>
            <a:off x="8275320" y="2057400"/>
            <a:ext cx="457200" cy="457200"/>
          </a:xfrm>
          <a:prstGeom prst="ellipse">
            <a:avLst/>
          </a:prstGeom>
          <a:solidFill>
            <a:srgbClr val="3FB950"/>
          </a:solidFill>
          <a:ln/>
        </p:spPr>
      </p:sp>
      <p:sp>
        <p:nvSpPr>
          <p:cNvPr id="18" name="Text 16"/>
          <p:cNvSpPr txBox="1"/>
          <p:nvPr/>
        </p:nvSpPr>
        <p:spPr>
          <a:xfrm>
            <a:off x="8275320"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8275320" y="2651760"/>
            <a:ext cx="3108960"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Uji data asli</a:t>
            </a:r>
            <a:endParaRPr lang="en-US" sz="1800" dirty="0"/>
          </a:p>
        </p:txBody>
      </p:sp>
      <p:sp>
        <p:nvSpPr>
          <p:cNvPr id="20" name="Text 18"/>
          <p:cNvSpPr txBox="1"/>
          <p:nvPr/>
        </p:nvSpPr>
        <p:spPr>
          <a:xfrm>
            <a:off x="8275320" y="3429000"/>
            <a:ext cx="3108960" cy="960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Model diuji di 2 akun asli yang tidak pernah dilihat saat latih.</a:t>
            </a:r>
            <a:endParaRPr lang="en-US" sz="1600" dirty="0"/>
          </a:p>
        </p:txBody>
      </p:sp>
      <p:sp>
        <p:nvSpPr>
          <p:cNvPr id="21" name="Text 19"/>
          <p:cNvSpPr txBox="1"/>
          <p:nvPr/>
        </p:nvSpPr>
        <p:spPr>
          <a:xfrm>
            <a:off x="548640" y="5029200"/>
            <a:ext cx="109728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Pembanding: Baseline (selalu "tidak S") dan Markov Chain (batas teori).</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RANCANGAN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Rancangan aplikasi web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Beranda: penjelasan &amp; aturan banner</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Import Data: PowerShell, upload UIGF, input manual, data contoh</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Kalkulator Peluang: Markov Chain + prediksi 6 algoritma</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Statistik Riwayat: pity tiap S, menang 50/50</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Perbandingan Algoritma: metrik, kurva, confusion matrix</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Tema gelap, nyaman di HP</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PROGRES</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Hasil awal prototipe (tugas 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4389120"/>
          </a:xfrm>
          <a:prstGeom prst="roundRect">
            <a:avLst>
              <a:gd name="adj" fmla="val 2353"/>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Temuan awal</a:t>
            </a:r>
            <a:endParaRPr lang="en-US" sz="1800" dirty="0"/>
          </a:p>
        </p:txBody>
      </p:sp>
      <p:sp>
        <p:nvSpPr>
          <p:cNvPr id="9" name="Text 6"/>
          <p:cNvSpPr txBox="1"/>
          <p:nvPr/>
        </p:nvSpPr>
        <p:spPr>
          <a:xfrm>
            <a:off x="8732520" y="2331720"/>
            <a:ext cx="2651760" cy="35204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Prototipe sudah jalan. Pity akun asli yang dihitung aplikasi sama persis dengan di game. Model pohon &amp; KNN ±91% (simulasi) dan ±93% (data asli).</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RENCANA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Jadwal kegiatan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6309360"/>
                <a:gridCol w="1188720"/>
                <a:gridCol w="1188720"/>
                <a:gridCol w="1188720"/>
                <a:gridCol w="1188720"/>
              </a:tblGrid>
              <a:tr h="530352">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Kegiatan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M3</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Studi literatur &amp; aturan gacha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Pengumpulan data &amp; simulasi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Pra-pemrosesan &amp; 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Pemodelan 6 algoritma + Markov</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Evaluasi &amp; uji data asli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Deployment Streamlit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Laporan &amp;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PptxGenJS Presentation</dc:subject>
  <dc:creator>PptxGenJS</dc:creator>
  <cp:lastModifiedBy>PptxGenJS</cp:lastModifiedBy>
  <cp:revision>1</cp:revision>
  <dcterms:created xsi:type="dcterms:W3CDTF">2026-10-01T07:06:53Z</dcterms:created>
  <dcterms:modified xsi:type="dcterms:W3CDTF">2026-10-01T07:06:53Z</dcterms:modified>
</cp:coreProperties>
</file>