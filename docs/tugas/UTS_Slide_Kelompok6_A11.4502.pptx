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93.5</c:v>
                </c:pt>
                <c:pt idx="2">
                  <c:v>87.7</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empat tujuan yang sejalan dengan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1.424 baris,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Eksperimen keempat: semua algoritma dilatih dan diuji hanya dengan data asli, 1.192 baris, dibagi per siklus pity menjadi 5 bagian, supaya hasil tidak bergantung pada data simulasi.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pity akun asli 70 dari 90 dan 46 dari 80 sama persis dengan di game. Hasil awal tugas B: model pohon dan KNN sekitar 91 persen di simulasi dan 93 persen di data asli, Logistic Regression dan Naive Bayes lebih rendah. Eksperimen latih dan uji dengan data asli saja, 1.192 baris, juga sudah dilakukan: Decision Tree tetap tertinggi sekitar 93 persen.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sp>
        <p:nvSpPr>
          <p:cNvPr id="5" name="Text 3"/>
          <p:cNvSpPr txBox="1"/>
          <p:nvPr/>
        </p:nvSpPr>
        <p:spPr>
          <a:xfrm>
            <a:off x="548640" y="914400"/>
            <a:ext cx="731520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6"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7"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8"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9"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memakai estimasi komunitas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Model Markov Chain untuk peluang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1.424 pull · 21 S-Rank · anonim. Dipakai untuk menguji model, dan dalam eksperimen kedua untuk melatih + menguji sendiri (1.192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828800"/>
            <a:ext cx="2624328" cy="292608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2057400"/>
            <a:ext cx="457200" cy="457200"/>
          </a:xfrm>
          <a:prstGeom prst="ellipse">
            <a:avLst/>
          </a:prstGeom>
          <a:solidFill>
            <a:srgbClr val="F5A623"/>
          </a:solidFill>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Split per akun</a:t>
            </a:r>
            <a:endParaRPr lang="en-US" sz="1800" dirty="0"/>
          </a:p>
        </p:txBody>
      </p:sp>
      <p:sp>
        <p:nvSpPr>
          <p:cNvPr id="10" name="Text 8"/>
          <p:cNvSpPr txBox="1"/>
          <p:nvPr/>
        </p:nvSpPr>
        <p:spPr>
          <a:xfrm>
            <a:off x="777240"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500" dirty="0"/>
          </a:p>
        </p:txBody>
      </p:sp>
      <p:sp>
        <p:nvSpPr>
          <p:cNvPr id="11" name="Shape 9"/>
          <p:cNvSpPr/>
          <p:nvPr/>
        </p:nvSpPr>
        <p:spPr>
          <a:xfrm>
            <a:off x="3355848" y="1828800"/>
            <a:ext cx="2624328" cy="292608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2057400"/>
            <a:ext cx="457200" cy="457200"/>
          </a:xfrm>
          <a:prstGeom prst="ellipse">
            <a:avLst/>
          </a:prstGeom>
          <a:solidFill>
            <a:srgbClr val="58A6FF"/>
          </a:solidFill>
          <a:ln/>
        </p:spPr>
      </p:sp>
      <p:sp>
        <p:nvSpPr>
          <p:cNvPr id="13" name="Text 11"/>
          <p:cNvSpPr txBox="1"/>
          <p:nvPr/>
        </p:nvSpPr>
        <p:spPr>
          <a:xfrm>
            <a:off x="3584448"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5-fold GroupKFold</a:t>
            </a:r>
            <a:endParaRPr lang="en-US" sz="1800" dirty="0"/>
          </a:p>
        </p:txBody>
      </p:sp>
      <p:sp>
        <p:nvSpPr>
          <p:cNvPr id="15" name="Text 13"/>
          <p:cNvSpPr txBox="1"/>
          <p:nvPr/>
        </p:nvSpPr>
        <p:spPr>
          <a:xfrm>
            <a:off x="3584448"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Rata-rata ± simpangan baku dari 5 percobaan.</a:t>
            </a:r>
            <a:endParaRPr lang="en-US" sz="1500" dirty="0"/>
          </a:p>
        </p:txBody>
      </p:sp>
      <p:sp>
        <p:nvSpPr>
          <p:cNvPr id="16" name="Shape 14"/>
          <p:cNvSpPr/>
          <p:nvPr/>
        </p:nvSpPr>
        <p:spPr>
          <a:xfrm>
            <a:off x="6163056" y="1828800"/>
            <a:ext cx="2624328" cy="292608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2057400"/>
            <a:ext cx="457200" cy="457200"/>
          </a:xfrm>
          <a:prstGeom prst="ellipse">
            <a:avLst/>
          </a:prstGeom>
          <a:solidFill>
            <a:srgbClr val="3FB950"/>
          </a:solidFill>
          <a:ln/>
        </p:spPr>
      </p:sp>
      <p:sp>
        <p:nvSpPr>
          <p:cNvPr id="18" name="Text 16"/>
          <p:cNvSpPr txBox="1"/>
          <p:nvPr/>
        </p:nvSpPr>
        <p:spPr>
          <a:xfrm>
            <a:off x="6391656"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Uji data asli</a:t>
            </a:r>
            <a:endParaRPr lang="en-US" sz="1800" dirty="0"/>
          </a:p>
        </p:txBody>
      </p:sp>
      <p:sp>
        <p:nvSpPr>
          <p:cNvPr id="20" name="Text 18"/>
          <p:cNvSpPr txBox="1"/>
          <p:nvPr/>
        </p:nvSpPr>
        <p:spPr>
          <a:xfrm>
            <a:off x="6391656"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500" dirty="0"/>
          </a:p>
        </p:txBody>
      </p:sp>
      <p:sp>
        <p:nvSpPr>
          <p:cNvPr id="21" name="Shape 19"/>
          <p:cNvSpPr/>
          <p:nvPr/>
        </p:nvSpPr>
        <p:spPr>
          <a:xfrm>
            <a:off x="8970264" y="1828800"/>
            <a:ext cx="2624328" cy="292608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2057400"/>
            <a:ext cx="457200" cy="457200"/>
          </a:xfrm>
          <a:prstGeom prst="ellipse">
            <a:avLst/>
          </a:prstGeom>
          <a:solidFill>
            <a:srgbClr val="BC8CFF"/>
          </a:solidFill>
          <a:ln/>
        </p:spPr>
      </p:sp>
      <p:sp>
        <p:nvSpPr>
          <p:cNvPr id="23" name="Text 21"/>
          <p:cNvSpPr txBox="1"/>
          <p:nvPr/>
        </p:nvSpPr>
        <p:spPr>
          <a:xfrm>
            <a:off x="9198864"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Latih di data asli</a:t>
            </a:r>
            <a:endParaRPr lang="en-US" sz="1800" dirty="0"/>
          </a:p>
        </p:txBody>
      </p:sp>
      <p:sp>
        <p:nvSpPr>
          <p:cNvPr id="25" name="Text 23"/>
          <p:cNvSpPr txBox="1"/>
          <p:nvPr/>
        </p:nvSpPr>
        <p:spPr>
          <a:xfrm>
            <a:off x="9198864"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Eksperimen kedua: latih + uji hanya data asli, 5-fold per siklus pity.</a:t>
            </a:r>
            <a:endParaRPr lang="en-US" sz="1500" dirty="0"/>
          </a:p>
        </p:txBody>
      </p:sp>
      <p:sp>
        <p:nvSpPr>
          <p:cNvPr id="26" name="Text 24"/>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(batas teori).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yang dihitung aplikasi sama persis dengan di game. Model pohon &amp; KNN ±91% (simulasi) dan ±93% (data asli). Latih di data asli saja: Decision Tree ±93%.</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2026-10-06T03:11:11Z</dcterms:created>
  <dcterms:modified xsi:type="dcterms:W3CDTF">2026-10-06T03:11:11Z</dcterms:modified>
</cp:coreProperties>
</file>