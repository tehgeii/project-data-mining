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86.6</c:v>
                </c:pt>
                <c:pt idx="1">
                  <c:v>93.5</c:v>
                </c:pt>
                <c:pt idx="2">
                  <c:v>87.5</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tujuan (±1,5 menit). Bacakan batasan: hanya dua banner terbatas dan hanya S-Rank. Lalu lima tujuan yang sejalan dengan lima rumusan 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dua akun, 1.441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Poin keempat adalah eksperimen kedua: semua algoritma dilatih dan diuji hanya dengan data asli, 1.209 baris, dibagi per siklus pity menjadi 5 bagian, supaya hasil tidak bergantung pada data simulasi. Kami tidak memakai oversampling seperti SMOTE, karena yang dicari adalah angka peluang yang tepat; ketidakseimbangan ditangani lewat pilihan metrik.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saat dicek, pity akun asli 70 dari 90 dan 46 dari 80 sama persis dengan di game. Hasil awal tugas B: model pohon dan KNN sekitar 91 persen di simulasi dan 93 persen di data asli, Logistic Regression dan Naive Bayes lebih rendah. Eksperimen latih dan uji dengan data asli saja, 1.209 baris, juga sudah dilakukan: Decision Tree tetap tertinggi sekitar 93 persen. Analisis awal data asli memperlihatkan laju S Agent hampir nol sampai pull ke-73 lalu melonjak mulai pull ke-74, sesuai estimasi soft pity.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(±1 menit). Proyek direncanakan empat minggu. Sebutkan bahwa sebagian besar tahap sudah berjalan: prototipe, data asli, dan pemodelan sudah ada. Sisa pekerjaan: penyempurnaan evaluasi dan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tujuan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estimasi komunitas, diperiksa dengan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Tujuan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Menghitung peluang dengan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Menggali pola soft pity dari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Membandingkan 6 algoritma klasifikasi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yang tepat untuk data tidak seimbang</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Aplikasi web yang nyaman di HP &amp; PC</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1.441 pull · 22 S-Rank · anonim. Dipakai untuk menguji model, memeriksa pola soft pity, dan melatih + menguji sendiri (1.209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548640" y="1828800"/>
            <a:ext cx="2624328" cy="292608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2057400"/>
            <a:ext cx="457200" cy="457200"/>
          </a:xfrm>
          <a:prstGeom prst="ellipse">
            <a:avLst/>
          </a:prstGeom>
          <a:solidFill>
            <a:srgbClr val="F5A623"/>
          </a:solidFill>
          <a:ln/>
        </p:spPr>
      </p:sp>
      <p:sp>
        <p:nvSpPr>
          <p:cNvPr id="8" name="Text 6"/>
          <p:cNvSpPr txBox="1"/>
          <p:nvPr/>
        </p:nvSpPr>
        <p:spPr>
          <a:xfrm>
            <a:off x="777240"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Split per akun</a:t>
            </a:r>
            <a:endParaRPr lang="en-US" sz="1800" dirty="0"/>
          </a:p>
        </p:txBody>
      </p:sp>
      <p:sp>
        <p:nvSpPr>
          <p:cNvPr id="10" name="Text 8"/>
          <p:cNvSpPr txBox="1"/>
          <p:nvPr/>
        </p:nvSpPr>
        <p:spPr>
          <a:xfrm>
            <a:off x="777240"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500" dirty="0"/>
          </a:p>
        </p:txBody>
      </p:sp>
      <p:sp>
        <p:nvSpPr>
          <p:cNvPr id="11" name="Shape 9"/>
          <p:cNvSpPr/>
          <p:nvPr/>
        </p:nvSpPr>
        <p:spPr>
          <a:xfrm>
            <a:off x="3355848" y="1828800"/>
            <a:ext cx="2624328" cy="292608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2057400"/>
            <a:ext cx="457200" cy="457200"/>
          </a:xfrm>
          <a:prstGeom prst="ellipse">
            <a:avLst/>
          </a:prstGeom>
          <a:solidFill>
            <a:srgbClr val="58A6FF"/>
          </a:solidFill>
          <a:ln/>
        </p:spPr>
      </p:sp>
      <p:sp>
        <p:nvSpPr>
          <p:cNvPr id="13" name="Text 11"/>
          <p:cNvSpPr txBox="1"/>
          <p:nvPr/>
        </p:nvSpPr>
        <p:spPr>
          <a:xfrm>
            <a:off x="3584448"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5-fold GroupKFold</a:t>
            </a:r>
            <a:endParaRPr lang="en-US" sz="1800" dirty="0"/>
          </a:p>
        </p:txBody>
      </p:sp>
      <p:sp>
        <p:nvSpPr>
          <p:cNvPr id="15" name="Text 13"/>
          <p:cNvSpPr txBox="1"/>
          <p:nvPr/>
        </p:nvSpPr>
        <p:spPr>
          <a:xfrm>
            <a:off x="3584448"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Rata-rata ± simpangan baku dari 5 percobaan.</a:t>
            </a:r>
            <a:endParaRPr lang="en-US" sz="1500" dirty="0"/>
          </a:p>
        </p:txBody>
      </p:sp>
      <p:sp>
        <p:nvSpPr>
          <p:cNvPr id="16" name="Shape 14"/>
          <p:cNvSpPr/>
          <p:nvPr/>
        </p:nvSpPr>
        <p:spPr>
          <a:xfrm>
            <a:off x="6163056" y="1828800"/>
            <a:ext cx="2624328" cy="292608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2057400"/>
            <a:ext cx="457200" cy="457200"/>
          </a:xfrm>
          <a:prstGeom prst="ellipse">
            <a:avLst/>
          </a:prstGeom>
          <a:solidFill>
            <a:srgbClr val="3FB950"/>
          </a:solidFill>
          <a:ln/>
        </p:spPr>
      </p:sp>
      <p:sp>
        <p:nvSpPr>
          <p:cNvPr id="18" name="Text 16"/>
          <p:cNvSpPr txBox="1"/>
          <p:nvPr/>
        </p:nvSpPr>
        <p:spPr>
          <a:xfrm>
            <a:off x="6391656"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Uji data asli</a:t>
            </a:r>
            <a:endParaRPr lang="en-US" sz="1800" dirty="0"/>
          </a:p>
        </p:txBody>
      </p:sp>
      <p:sp>
        <p:nvSpPr>
          <p:cNvPr id="20" name="Text 18"/>
          <p:cNvSpPr txBox="1"/>
          <p:nvPr/>
        </p:nvSpPr>
        <p:spPr>
          <a:xfrm>
            <a:off x="6391656"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Model diuji di 2 akun asli yang tidak pernah dilihat saat latih.</a:t>
            </a:r>
            <a:endParaRPr lang="en-US" sz="1500" dirty="0"/>
          </a:p>
        </p:txBody>
      </p:sp>
      <p:sp>
        <p:nvSpPr>
          <p:cNvPr id="21" name="Shape 19"/>
          <p:cNvSpPr/>
          <p:nvPr/>
        </p:nvSpPr>
        <p:spPr>
          <a:xfrm>
            <a:off x="8970264" y="1828800"/>
            <a:ext cx="2624328" cy="292608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2057400"/>
            <a:ext cx="457200" cy="457200"/>
          </a:xfrm>
          <a:prstGeom prst="ellipse">
            <a:avLst/>
          </a:prstGeom>
          <a:solidFill>
            <a:srgbClr val="BC8CFF"/>
          </a:solidFill>
          <a:ln/>
        </p:spPr>
      </p:sp>
      <p:sp>
        <p:nvSpPr>
          <p:cNvPr id="23" name="Text 21"/>
          <p:cNvSpPr txBox="1"/>
          <p:nvPr/>
        </p:nvSpPr>
        <p:spPr>
          <a:xfrm>
            <a:off x="9198864"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Latih di data asli</a:t>
            </a:r>
            <a:endParaRPr lang="en-US" sz="1800" dirty="0"/>
          </a:p>
        </p:txBody>
      </p:sp>
      <p:sp>
        <p:nvSpPr>
          <p:cNvPr id="25" name="Text 23"/>
          <p:cNvSpPr txBox="1"/>
          <p:nvPr/>
        </p:nvSpPr>
        <p:spPr>
          <a:xfrm>
            <a:off x="9198864"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Eksperimen kedua: latih + uji hanya data asli, 5-fold per siklus pity.</a:t>
            </a:r>
            <a:endParaRPr lang="en-US" sz="1500" dirty="0"/>
          </a:p>
        </p:txBody>
      </p:sp>
      <p:sp>
        <p:nvSpPr>
          <p:cNvPr id="26" name="Text 24"/>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(acuan teori).</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sama dengan di game. Model pohon &amp; KNN ±91% (simulasi) dan ±93% (data asli). Data asli juga memperlihatkan lonjakan S Agent mulai pull ke-74, sesuai estimasi soft pity.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Jadwal kegiatan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309360"/>
                <a:gridCol w="1188720"/>
                <a:gridCol w="1188720"/>
                <a:gridCol w="1188720"/>
                <a:gridCol w="1188720"/>
              </a:tblGrid>
              <a:tr h="530352">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Kegiatan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M3</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Studi literatur &amp; aturan gacha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Pengumpulan data &amp; simulasi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Pra-pemrosesan &amp; 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Pemodelan 6 algoritma + Markov</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Evaluasi &amp; uji data asli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Deployment Streamlit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Laporan &amp;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2026-10-18T05:29:42Z</dcterms:created>
  <dcterms:modified xsi:type="dcterms:W3CDTF">2026-10-18T05:29:42Z</dcterms:modified>
</cp:coreProperties>
</file>