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E6EDF3"/>
                </a:solidFill>
                <a:latin typeface="Arial"/>
              </a:defRPr>
            </a:pPr>
            <a:r>
              <a:rPr sz="1400" b="0" i="0" u="none" strike="noStrike">
                <a:solidFill>
                  <a:srgbClr val="E6EDF3"/>
                </a:solidFill>
                <a:latin typeface="Arial"/>
              </a:rPr>
              <a:t>Accuracy (%)</a:t>
            </a:r>
          </a:p>
        </c:rich>
      </c:tx>
      <c:layout/>
      <c:overlay val="0"/>
    </c:title>
    <c:autoTitleDeleted val="0"/>
    <c:plotArea>
      <c:layout/>
      <c:barChart>
        <c:barDir val="col"/>
        <c:grouping val="clustered"/>
        <c:varyColors val="0"/>
        <c:ser>
          <c:idx val="0"/>
          <c:order val="0"/>
          <c:tx>
            <c:strRef>
              <c:f>Sheet1!$B$1</c:f>
              <c:strCache>
                <c:ptCount val="1"/>
                <c:pt idx="0">
                  <c:v>Simulasi (5-fold CV)</c:v>
                </c:pt>
              </c:strCache>
            </c:strRef>
          </c:tx>
          <c:spPr>
            <a:solidFill>
              <a:srgbClr val="58A6FF"/>
            </a:solidFill>
            <a:effectLst/>
          </c:spPr>
          <c:invertIfNegative val="0"/>
          <c:dLbls>
            <c:numFmt formatCode="0.0" sourceLinked="0"/>
            <c:txPr>
              <a:bodyPr/>
              <a:lstStyle/>
              <a:p>
                <a:pPr>
                  <a:defRPr b="0" i="0" strike="noStrike" sz="900" u="none">
                    <a:solidFill>
                      <a:srgbClr val="E6EDF3"/>
                    </a:solidFill>
                    <a:latin typeface="Arial"/>
                  </a:defRPr>
                </a:pPr>
              </a:p>
            </c:txPr>
            <c:showLegendKey val="0"/>
            <c:showVal val="1"/>
            <c:showCatName val="0"/>
            <c:showSerName val="0"/>
            <c:showPercent val="0"/>
            <c:showBubbleSize val="0"/>
            <c:showLeaderLines val="0"/>
          </c:dLbls>
          <c:cat>
            <c:multiLvlStrRef>
              <c:f>Sheet1!$A$2:$A$9</c:f>
              <c:multiLvlStrCache>
                <c:ptCount val="8"/>
                <c:lvl>
                  <c:pt idx="0">
                    <c:v>Baseline</c:v>
                  </c:pt>
                  <c:pt idx="1">
                    <c:v>Markov (teori)</c:v>
                  </c:pt>
                  <c:pt idx="2">
                    <c:v>Naive Bayes</c:v>
                  </c:pt>
                  <c:pt idx="3">
                    <c:v>KNN</c:v>
                  </c:pt>
                  <c:pt idx="4">
                    <c:v>Log. Regression</c:v>
                  </c:pt>
                  <c:pt idx="5">
                    <c:v>Decision Tree</c:v>
                  </c:pt>
                  <c:pt idx="6">
                    <c:v>Random Forest</c:v>
                  </c:pt>
                  <c:pt idx="7">
                    <c:v>XGBoost</c:v>
                  </c:pt>
                </c:lvl>
              </c:multiLvlStrCache>
            </c:multiLvlStrRef>
          </c:cat>
          <c:val>
            <c:numRef>
              <c:f>Sheet1!$B$2:$B$9</c:f>
              <c:numCache>
                <c:formatCode>General</c:formatCode>
                <c:ptCount val="8"/>
                <c:pt idx="0">
                  <c:v>83.4</c:v>
                </c:pt>
                <c:pt idx="1">
                  <c:v>91.1</c:v>
                </c:pt>
                <c:pt idx="2">
                  <c:v>89.2</c:v>
                </c:pt>
                <c:pt idx="3">
                  <c:v>91</c:v>
                </c:pt>
                <c:pt idx="4">
                  <c:v>88.9</c:v>
                </c:pt>
                <c:pt idx="5">
                  <c:v>91.1</c:v>
                </c:pt>
                <c:pt idx="6">
                  <c:v>91.1</c:v>
                </c:pt>
                <c:pt idx="7">
                  <c:v>91.1</c:v>
                </c:pt>
              </c:numCache>
            </c:numRef>
          </c:val>
        </c:ser>
        <c:ser>
          <c:idx val="1"/>
          <c:order val="1"/>
          <c:tx>
            <c:strRef>
              <c:f>Sheet1!$C$1</c:f>
              <c:strCache>
                <c:ptCount val="1"/>
                <c:pt idx="0">
                  <c:v>Data asli (2 akun)</c:v>
                </c:pt>
              </c:strCache>
            </c:strRef>
          </c:tx>
          <c:spPr>
            <a:solidFill>
              <a:srgbClr val="F5A623"/>
            </a:solidFill>
            <a:effectLst/>
          </c:spPr>
          <c:invertIfNegative val="0"/>
          <c:dLbls>
            <c:numFmt formatCode="0.0" sourceLinked="0"/>
            <c:txPr>
              <a:bodyPr/>
              <a:lstStyle/>
              <a:p>
                <a:pPr>
                  <a:defRPr b="0" i="0" strike="noStrike" sz="900" u="none">
                    <a:solidFill>
                      <a:srgbClr val="E6EDF3"/>
                    </a:solidFill>
                    <a:latin typeface="Arial"/>
                  </a:defRPr>
                </a:pPr>
              </a:p>
            </c:txPr>
            <c:showLegendKey val="0"/>
            <c:showVal val="1"/>
            <c:showCatName val="0"/>
            <c:showSerName val="0"/>
            <c:showPercent val="0"/>
            <c:showBubbleSize val="0"/>
            <c:showLeaderLines val="0"/>
          </c:dLbls>
          <c:cat>
            <c:multiLvlStrRef>
              <c:f>Sheet1!$A$2:$A$9</c:f>
              <c:multiLvlStrCache>
                <c:ptCount val="8"/>
                <c:lvl>
                  <c:pt idx="0">
                    <c:v>Baseline</c:v>
                  </c:pt>
                  <c:pt idx="1">
                    <c:v>Markov (teori)</c:v>
                  </c:pt>
                  <c:pt idx="2">
                    <c:v>Naive Bayes</c:v>
                  </c:pt>
                  <c:pt idx="3">
                    <c:v>KNN</c:v>
                  </c:pt>
                  <c:pt idx="4">
                    <c:v>Log. Regression</c:v>
                  </c:pt>
                  <c:pt idx="5">
                    <c:v>Decision Tree</c:v>
                  </c:pt>
                  <c:pt idx="6">
                    <c:v>Random Forest</c:v>
                  </c:pt>
                  <c:pt idx="7">
                    <c:v>XGBoost</c:v>
                  </c:pt>
                </c:lvl>
              </c:multiLvlStrCache>
            </c:multiLvlStrRef>
          </c:cat>
          <c:val>
            <c:numRef>
              <c:f>Sheet1!$C$2:$C$9</c:f>
              <c:numCache>
                <c:formatCode>General</c:formatCode>
                <c:ptCount val="8"/>
                <c:pt idx="0">
                  <c:v>86.6</c:v>
                </c:pt>
                <c:pt idx="1">
                  <c:v>93.5</c:v>
                </c:pt>
                <c:pt idx="2">
                  <c:v>91.1</c:v>
                </c:pt>
                <c:pt idx="3">
                  <c:v>93.1</c:v>
                </c:pt>
                <c:pt idx="4">
                  <c:v>91.1</c:v>
                </c:pt>
                <c:pt idx="5">
                  <c:v>93.3</c:v>
                </c:pt>
                <c:pt idx="6">
                  <c:v>93.3</c:v>
                </c:pt>
                <c:pt idx="7">
                  <c:v>93.4</c:v>
                </c:pt>
              </c:numCache>
            </c:numRef>
          </c:val>
        </c:ser>
        <c:dLbls>
          <c:numFmt formatCode="0.0" sourceLinked="0"/>
          <c:txPr>
            <a:bodyPr/>
            <a:lstStyle/>
            <a:p>
              <a:pPr>
                <a:defRPr b="0" i="0" strike="noStrike" sz="900" u="none">
                  <a:solidFill>
                    <a:srgbClr val="E6EDF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A9B4C2"/>
                </a:solidFill>
                <a:latin typeface="Arial"/>
              </a:defRPr>
            </a:pPr>
            <a:endParaRPr lang="en-US"/>
          </a:p>
        </c:txPr>
        <c:crossAx val="2094734552"/>
        <c:crosses val="autoZero"/>
        <c:auto val="1"/>
        <c:lblAlgn val="ctr"/>
        <c:noMultiLvlLbl val="1"/>
      </c:catAx>
      <c:valAx>
        <c:axId val="2094734552"/>
        <c:scaling>
          <c:orientation val="minMax"/>
          <c:max val="96"/>
          <c:min val="80"/>
        </c:scaling>
        <c:delete val="0"/>
        <c:axPos val="l"/>
        <c:majorGridlines>
          <c:spPr>
            <a:ln w="6350" cap="flat">
              <a:solidFill>
                <a:srgbClr val="30363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A9B4C2"/>
                </a:solidFill>
                <a:latin typeface="Arial"/>
              </a:defRPr>
            </a:pPr>
            <a:endParaRPr lang="en-US"/>
          </a:p>
        </c:txPr>
        <c:crossAx val="2094734554"/>
        <c:crosses val="autoZero"/>
        <c:crossBetween val="between"/>
      </c:valAx>
      <c:spPr>
        <a:solidFill>
          <a:srgbClr val="0E1117"/>
        </a:solidFill>
        <a:ln>
          <a:noFill/>
        </a:ln>
        <a:effectLst/>
      </c:spPr>
    </c:plotArea>
    <c:legend>
      <c:legendPos val="t"/>
      <c:overlay val="0"/>
      <c:txPr>
        <a:bodyPr/>
        <a:lstStyle/>
        <a:p>
          <a:pPr>
            <a:defRPr sz="1100">
              <a:solidFill>
                <a:srgbClr val="E6EDF3"/>
              </a:solidFill>
            </a:defRPr>
          </a:pPr>
          <a:endParaRPr lang="en-US"/>
        </a:p>
      </c:txPr>
    </c:legend>
    <c:plotVisOnly val="1"/>
    <c:dispBlanksAs val="span"/>
  </c:chart>
  <c:spPr>
    <a:solidFill>
      <a:srgbClr val="0E1117"/>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Pembukaan (±1 menit). Salam, perkenalkan Kelompok 6 kelas A11.4502, mata kuliah Penambangan Data dengan dosen Bapak Ardytha Luthfiarta. Sebutkan judul: ini adalah presentasi proposal proyek akhir tentang memprediksi peluang S-Rank di gacha Zenless Zone Zero. Sampaikan bahwa aplikasinya bisa dibuka di HP lewat link di layar.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Perkenalan anggota (±1 menit). Bacakan nama dan peran setiap anggota. Ketua: Syafiq Yahya. Pengembang aplikasi: Dafi. Slide: Gastiadirrijal. Proposal dan laporan: Zabrina dan Rayya.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Latar belakang (±1,5 menit). Jelaskan apa itu gacha dan pull. S-Rank sangat langka: 0,6 persen untuk Agent. Ada sistem pity: kalau lama tidak dapat, peluang naik, dan di pull ke-90 pasti dapat. Pemain bingung menghitung peluangnya sendiri. Riwayat gacha bisa diambil dari server, jadi bisa diolah dengan data mining. Tekankan angka 1,7 persen: datanya sangat tidak seimbang, ini akan penting nanti.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Alasan memakai data mining (±1,5 menit). Sebelum memilih algoritma, kami memeriksa dulu apakah kasus ini memang butuh machine learning. Machine learning tidak perlu kalau ada atribut yang langsung menentukan hasil, atau kalau rumusnya sudah pasti. Di gacha, pity hanya mengubah peluang, hasilnya tetap acak. Rumus resminya juga tidak lengkap: rate dasar dan hard pity diumumkan, tetapi soft pity tidak, dan perkiraan komunitas berbeda-beda. Karena itu pola soft pity harus digali dari data riwayat pemain. Masalah ini termasuk klasifikasi dan estimasi peluang, yaitu supervised learning dengan label dapat S atau tidak. Markov Chain kami pakai sebagai pembanding teori, sedangkan algoritma tidak diberi tahu soal soft pity.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Rumusan masalah (±1,5 menit). Bacakan lima rumusan masalah. Rumusan kedua menjawab alasan memakai data mining: soft pity tidak diumumkan, jadi harus dicari dari data. Rumusan ketiga adalah inti tugas: membandingkan enam algoritma. Naive Bayes, KNN, dan Decision Tree sesuai materi kuliah; Logistic Regression, Random Forest, dan XGBoost sebagai pembanding tambahan.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Batasan dan tujuan (±1,5 menit). Bacakan batasan: hanya dua banner terbatas dan hanya S-Rank. Lalu lima tujuan yang sejalan dengan lima rumusan masalah.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Aturan banner (±1 menit). Fokus hanya dua banner terbatas. Angka rate dan hard pity dari detail banner resmi di game. Titik soft pity tidak diumumkan resmi, jadi memakai estimasi komunitas. Jelaskan aturan guaranteed setelah kalah 50/50.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Markov Chain (±1,5 menit). State adalah pity saat ini. Setiap pull, dengan peluang h kita dapat S dan kembali ke pity 0; jika tidak, pity naik satu. Grafik bawah menunjukkan peluang per pull: datar 0,6 persen lalu melonjak setelah soft pity sampai 100 persen di hard pity. Kenaikan per pull dicari dengan metode biseksi agar rata-ratanya sama dengan rate gabungan resmi. Markov Chain ini dipakai di kalkulator dan sebagai acuan teori pembanding algoritma. Titik soft pity-nya masih estimasi, dan nanti kami periksa dengan data asli.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Algoritma (±2 menit). Jelaskan singkat keenam algoritma. Naive Bayes, KNN, dan Decision Tree adalah materi kuliah. Logistic Regression sebagai model linear sederhana. Random Forest dan XGBoost adalah ensemble pohon. Ditambah dua pembanding: baseline yang selalu menebak tidak dapat S, dan Markov Chain sebagai acuan teori. Tekankan bahwa pengaturan setiap algoritma, misalnya jumlah tetangga k pada KNN, tidak ditebak, tetapi dipilih dengan grid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Metrik evaluasi (±1,5 menit). Semua metrik dihitung dari confusion matrix: TP, TN, FP, FN. Dosen menilai akurasi, dan akurasi tetap kami laporkan sebagai metrik utama. Namun karena datanya tidak seimbang, kami tambah balanced accuracy, F1, ROC-AUC, dan log loss supaya penilaian adil.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Metodologi (±1,5 menit). Kami memakai CRISP-DM, enam tahap. Jelaskan singkat setiap tahap dan apa yang dilakukan kelompok di setiap tahap.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(±1,5 menit). Riwayat satu akun terlalu sedikit untuk melatih model, jadi data latih memakai simulasi Monte Carlo dari model Markov, 400 akun. Karena simulasi dibuat dari model kami sendiri, model yang dilatih di simulasi hanya mempelajari ulang asumsi itu; karena itu data asli sangat penting. Data asli dua akun, 1.441 pull, sudah memenuhi syarat dataset tabel minimal 500 sampai 1000 baris. Data asli dipakai untuk menguji, dan di eksperimen kedua keenam algoritma juga dilatih dan diuji hanya dengan data asli. Jelaskan cara pengambilan data asli lewat script PowerShell yang hanya membaca cache game, dan bahwa authkey tidak disimpan.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Fitur dan target (±1,5 menit). Empat fitur sederhana. Dua tugas: tugas A memprediksi pull berikutnya, tugas B memprediksi dalam 10 pull. Tugas B dijadikan utama karena lebih relevan bagi pemain (satu kali ten-pull) dan kelasnya lebih seimbang.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Skenario evaluasi (±1 menit). Pembagian data per akun mencegah kebocoran, karena pull yang berurutan saling berkaitan. Cross-validation lima fold untuk hasil yang stabil, lalu uji akhir di data asli. Hyperparameter setiap algoritma dipilih dengan grid search memakai 100 akun simulasi tambahan yang tidak dipakai untuk evaluasi, jadi tidak ada kebocoran. Perbedaan antar-model diuji dengan uji t berpasangan terkoreksi, supaya kita tahu selisihnya nyata atau hanya kebetulan. Poin kelima adalah eksperimen kedua: semua algoritma dilatih dan diuji hanya dengan data asli, 1.209 baris, dibagi per siklus pity menjadi 5 bagian, dan grid search diulang di dalam setiap bagian. Kami tidak memakai oversampling seperti SMOTE, karena yang dicari adalah angka peluang yang tepat; ketidakseimbangan ditangani lewat pilihan metrik.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Rancangan aplikasi (±1,5 menit). Aplikasi dibangun dengan Streamlit, materi deployment di kuliah. Jelaskan enam halaman. Kalau memungkinkan, buka link aplikasinya dan tunjukkan halaman kalkulator secara langsung.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Hasil awal (±2 menit). Prototipe sudah berjalan dan bisa dibuka di HP. Validasi: saat dicek, pity akun asli 70 dari 90 dan 46 dari 80 sama persis dengan di game. Hasil awal tugas B: model pohon dan KNN sekitar 91 persen di simulasi dan 93 persen di data asli, Logistic Regression dan Naive Bayes lebih rendah. Eksperimen latih dan uji dengan data asli saja, 1.209 baris, juga sudah dilakukan: Decision Tree tetap tertinggi sekitar 93 persen. Uji coba grid search membuat Naive Bayes dan KNN membaik, dan uji signifikansi awal menunjukkan selisih antaralgoritma di data asli yang masih sedikit belum bermakna. Analisis awal data asli memperlihatkan laju S Agent hampir nol sampai pull ke-73 lalu melonjak mulai pull ke-74, sesuai estimasi soft pity. Hasil lengkap akan dibahas di laporan akhir.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Jadwal (±1 menit). Proyek direncanakan empat minggu. Sebutkan bahwa sebagian besar tahap sudah berjalan: prototipe, data asli, dan pemodelan sudah ada. Sisa pekerjaan: penyempurnaan evaluasi dan laporan akhir.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Penutup (±1 menit). Ucapkan terima kasih, ajak membuka aplikasi lewat link, lalu buka sesi tanya jawab.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117"/>
        </a:solidFill>
      </p:bgPr>
    </p:bg>
    <p:spTree>
      <p:nvGrpSpPr>
        <p:cNvPr id="1" name=""/>
        <p:cNvGrpSpPr/>
        <p:nvPr/>
      </p:nvGrpSpPr>
      <p:grpSpPr>
        <a:xfrm>
          <a:off x="0" y="0"/>
          <a:ext cx="0" cy="0"/>
          <a:chOff x="0" y="0"/>
          <a:chExt cx="0" cy="0"/>
        </a:xfrm>
      </p:grpSpPr>
      <p:sp>
        <p:nvSpPr>
          <p:cNvPr id="2" name="Shape 0"/>
          <p:cNvSpPr/>
          <p:nvPr/>
        </p:nvSpPr>
        <p:spPr>
          <a:xfrm>
            <a:off x="8503920" y="1097280"/>
            <a:ext cx="4754880" cy="4754880"/>
          </a:xfrm>
          <a:prstGeom prst="ellipse">
            <a:avLst/>
          </a:prstGeom>
          <a:solidFill>
            <a:srgbClr val="F5A623">
              <a:alpha val="12000"/>
            </a:srgbClr>
          </a:solidFill>
          <a:ln w="12700">
            <a:solidFill>
              <a:srgbClr val="F5A623">
                <a:alpha val="40000"/>
              </a:srgbClr>
            </a:solidFill>
            <a:prstDash val="solid"/>
          </a:ln>
        </p:spPr>
      </p:sp>
      <p:sp>
        <p:nvSpPr>
          <p:cNvPr id="3" name="Shape 1"/>
          <p:cNvSpPr/>
          <p:nvPr/>
        </p:nvSpPr>
        <p:spPr>
          <a:xfrm>
            <a:off x="9418320" y="2011680"/>
            <a:ext cx="2926080" cy="2926080"/>
          </a:xfrm>
          <a:prstGeom prst="ellipse">
            <a:avLst/>
          </a:prstGeom>
          <a:solidFill>
            <a:srgbClr val="58A6FF">
              <a:alpha val="15000"/>
            </a:srgbClr>
          </a:solidFill>
          <a:ln w="12700">
            <a:solidFill>
              <a:srgbClr val="58A6FF">
                <a:alpha val="40000"/>
              </a:srgbClr>
            </a:solidFill>
            <a:prstDash val="solid"/>
          </a:ln>
        </p:spPr>
      </p:sp>
      <p:sp>
        <p:nvSpPr>
          <p:cNvPr id="4" name="Text 2"/>
          <p:cNvSpPr txBox="1"/>
          <p:nvPr/>
        </p:nvSpPr>
        <p:spPr>
          <a:xfrm>
            <a:off x="9418320" y="2011680"/>
            <a:ext cx="2926080" cy="2926080"/>
          </a:xfrm>
          <a:prstGeom prst="rect">
            <a:avLst/>
          </a:prstGeom>
          <a:noFill/>
          <a:ln/>
        </p:spPr>
        <p:txBody>
          <a:bodyPr wrap="square" lIns="0" tIns="0" rIns="0" bIns="0" rtlCol="0" anchor="ctr"/>
          <a:lstStyle/>
          <a:p>
            <a:pPr algn="ctr" indent="0" marL="0">
              <a:buNone/>
            </a:pPr>
            <a:r>
              <a:rPr lang="en-US" sz="12000" b="1" dirty="0">
                <a:solidFill>
                  <a:srgbClr val="F5A623"/>
                </a:solidFill>
                <a:latin typeface="Cambria" pitchFamily="34" charset="0"/>
                <a:ea typeface="Cambria" pitchFamily="34" charset="-122"/>
                <a:cs typeface="Cambria" pitchFamily="34" charset="-120"/>
              </a:rPr>
              <a:t>S</a:t>
            </a:r>
            <a:endParaRPr lang="en-US" sz="12000" dirty="0"/>
          </a:p>
        </p:txBody>
      </p:sp>
      <p:pic>
        <p:nvPicPr>
          <p:cNvPr id="5" name="Image 0" descr="Logo Universitas Dian Nuswantoro">    </p:cNvPr>
          <p:cNvPicPr>
            <a:picLocks noChangeAspect="1"/>
          </p:cNvPicPr>
          <p:nvPr/>
        </p:nvPicPr>
        <p:blipFill>
          <a:blip r:embed="rId1"/>
          <a:stretch>
            <a:fillRect/>
          </a:stretch>
        </p:blipFill>
        <p:spPr>
          <a:xfrm>
            <a:off x="548640" y="365760"/>
            <a:ext cx="914400" cy="914400"/>
          </a:xfrm>
          <a:prstGeom prst="rect">
            <a:avLst/>
          </a:prstGeom>
        </p:spPr>
      </p:pic>
      <p:sp>
        <p:nvSpPr>
          <p:cNvPr id="6" name="Text 3"/>
          <p:cNvSpPr txBox="1"/>
          <p:nvPr/>
        </p:nvSpPr>
        <p:spPr>
          <a:xfrm>
            <a:off x="1645920" y="640080"/>
            <a:ext cx="6766560" cy="365760"/>
          </a:xfrm>
          <a:prstGeom prst="rect">
            <a:avLst/>
          </a:prstGeom>
          <a:noFill/>
          <a:ln/>
        </p:spPr>
        <p:txBody>
          <a:bodyPr wrap="square" lIns="0" tIns="0" rIns="0" bIns="0" rtlCol="0" anchor="ctr"/>
          <a:lstStyle/>
          <a:p>
            <a:pPr indent="0" marL="0">
              <a:buNone/>
            </a:pPr>
            <a:r>
              <a:rPr lang="en-US" sz="1400" b="1" spc="300" kern="0" dirty="0">
                <a:solidFill>
                  <a:srgbClr val="F5A623"/>
                </a:solidFill>
                <a:latin typeface="Calibri" pitchFamily="34" charset="0"/>
                <a:ea typeface="Calibri" pitchFamily="34" charset="-122"/>
                <a:cs typeface="Calibri" pitchFamily="34" charset="-120"/>
              </a:rPr>
              <a:t>PROPOSAL PROYEK AKHIR · UTS</a:t>
            </a:r>
            <a:endParaRPr lang="en-US" sz="1400" dirty="0"/>
          </a:p>
        </p:txBody>
      </p:sp>
      <p:sp>
        <p:nvSpPr>
          <p:cNvPr id="7" name="Text 4"/>
          <p:cNvSpPr txBox="1"/>
          <p:nvPr/>
        </p:nvSpPr>
        <p:spPr>
          <a:xfrm>
            <a:off x="548640" y="1371600"/>
            <a:ext cx="7863840" cy="1005840"/>
          </a:xfrm>
          <a:prstGeom prst="rect">
            <a:avLst/>
          </a:prstGeom>
          <a:noFill/>
          <a:ln/>
        </p:spPr>
        <p:txBody>
          <a:bodyPr wrap="square" lIns="0" tIns="0" rIns="0" bIns="0" rtlCol="0" anchor="ctr"/>
          <a:lstStyle/>
          <a:p>
            <a:pPr indent="0" marL="0">
              <a:buNone/>
            </a:pPr>
            <a:r>
              <a:rPr lang="en-US" sz="4800" b="1" dirty="0">
                <a:solidFill>
                  <a:srgbClr val="E6EDF3"/>
                </a:solidFill>
                <a:latin typeface="Cambria" pitchFamily="34" charset="0"/>
                <a:ea typeface="Cambria" pitchFamily="34" charset="-122"/>
                <a:cs typeface="Cambria" pitchFamily="34" charset="-120"/>
              </a:rPr>
              <a:t>ZZZ Gacha Predictor</a:t>
            </a:r>
            <a:endParaRPr lang="en-US" sz="4800" dirty="0"/>
          </a:p>
        </p:txBody>
      </p:sp>
      <p:sp>
        <p:nvSpPr>
          <p:cNvPr id="8" name="Text 5"/>
          <p:cNvSpPr txBox="1"/>
          <p:nvPr/>
        </p:nvSpPr>
        <p:spPr>
          <a:xfrm>
            <a:off x="548640" y="2468880"/>
            <a:ext cx="7680960" cy="1188720"/>
          </a:xfrm>
          <a:prstGeom prst="rect">
            <a:avLst/>
          </a:prstGeom>
          <a:noFill/>
          <a:ln/>
        </p:spPr>
        <p:txBody>
          <a:bodyPr wrap="square" lIns="0" tIns="0" rIns="0" bIns="0" rtlCol="0" anchor="t"/>
          <a:lstStyle/>
          <a:p>
            <a:pPr indent="0" marL="0">
              <a:buNone/>
            </a:pPr>
            <a:r>
              <a:rPr lang="en-US" sz="1800" dirty="0">
                <a:solidFill>
                  <a:srgbClr val="A9B4C2"/>
                </a:solidFill>
                <a:latin typeface="Calibri" pitchFamily="34" charset="0"/>
                <a:ea typeface="Calibri" pitchFamily="34" charset="-122"/>
                <a:cs typeface="Calibri" pitchFamily="34" charset="-120"/>
              </a:rPr>
              <a:t>Perbandingan Algoritma Klasifikasi untuk Memprediksi Peluang Mendapatkan S-Rank pada Sistem Gacha Zenless Zone Zero Berbasis Web</a:t>
            </a:r>
            <a:endParaRPr lang="en-US" sz="1800" dirty="0"/>
          </a:p>
        </p:txBody>
      </p:sp>
      <p:sp>
        <p:nvSpPr>
          <p:cNvPr id="9" name="Text 6"/>
          <p:cNvSpPr txBox="1"/>
          <p:nvPr/>
        </p:nvSpPr>
        <p:spPr>
          <a:xfrm>
            <a:off x="548640" y="4114800"/>
            <a:ext cx="7315200" cy="1280160"/>
          </a:xfrm>
          <a:prstGeom prst="rect">
            <a:avLst/>
          </a:prstGeom>
          <a:noFill/>
          <a:ln/>
        </p:spPr>
        <p:txBody>
          <a:bodyPr wrap="square" lIns="0" tIns="0" rIns="0" bIns="0" rtlCol="0" anchor="t"/>
          <a:lstStyle/>
          <a:p>
            <a:pPr indent="0" marL="0">
              <a:spcAft>
                <a:spcPts val="400"/>
              </a:spcAft>
              <a:buNone/>
            </a:pPr>
            <a:r>
              <a:rPr lang="en-US" sz="1500" b="1" dirty="0">
                <a:solidFill>
                  <a:srgbClr val="E6EDF3"/>
                </a:solidFill>
                <a:latin typeface="Calibri" pitchFamily="34" charset="0"/>
                <a:ea typeface="Calibri" pitchFamily="34" charset="-122"/>
                <a:cs typeface="Calibri" pitchFamily="34" charset="-120"/>
              </a:rPr>
              <a:t>Kelompok 6 · Kelas A11.4502</a:t>
            </a:r>
            <a:endParaRPr lang="en-US" sz="1500" dirty="0"/>
          </a:p>
          <a:p>
            <a:pPr indent="0" marL="0">
              <a:spcAft>
                <a:spcPts val="400"/>
              </a:spcAft>
              <a:buNone/>
            </a:pPr>
            <a:r>
              <a:rPr lang="en-US" sz="1500" dirty="0">
                <a:solidFill>
                  <a:srgbClr val="E6EDF3"/>
                </a:solidFill>
                <a:latin typeface="Calibri" pitchFamily="34" charset="0"/>
                <a:ea typeface="Calibri" pitchFamily="34" charset="-122"/>
                <a:cs typeface="Calibri" pitchFamily="34" charset="-120"/>
              </a:rPr>
              <a:t>Mata kuliah Penambangan Data</a:t>
            </a:r>
            <a:endParaRPr lang="en-US" sz="1500" dirty="0"/>
          </a:p>
          <a:p>
            <a:pPr indent="0" marL="0">
              <a:spcAft>
                <a:spcPts val="400"/>
              </a:spcAft>
              <a:buNone/>
            </a:pPr>
            <a:r>
              <a:rPr lang="en-US" sz="1500" dirty="0">
                <a:solidFill>
                  <a:srgbClr val="E6EDF3"/>
                </a:solidFill>
                <a:latin typeface="Calibri" pitchFamily="34" charset="0"/>
                <a:ea typeface="Calibri" pitchFamily="34" charset="-122"/>
                <a:cs typeface="Calibri" pitchFamily="34" charset="-120"/>
              </a:rPr>
              <a:t>Dosen: Ardytha Luthfiarta, M.Kom, MCS</a:t>
            </a:r>
            <a:endParaRPr lang="en-US" sz="1500" dirty="0"/>
          </a:p>
          <a:p>
            <a:pPr indent="0" marL="0">
              <a:spcAft>
                <a:spcPts val="400"/>
              </a:spcAft>
              <a:buNone/>
            </a:pPr>
            <a:r>
              <a:rPr lang="en-US" sz="1500" dirty="0">
                <a:solidFill>
                  <a:srgbClr val="E6EDF3"/>
                </a:solidFill>
                <a:latin typeface="Calibri" pitchFamily="34" charset="0"/>
                <a:ea typeface="Calibri" pitchFamily="34" charset="-122"/>
                <a:cs typeface="Calibri" pitchFamily="34" charset="-120"/>
              </a:rPr>
              <a:t>Universitas Dian Nuswantoro · 2026</a:t>
            </a:r>
            <a:endParaRPr lang="en-US" sz="1500" dirty="0"/>
          </a:p>
        </p:txBody>
      </p:sp>
      <p:sp>
        <p:nvSpPr>
          <p:cNvPr id="10" name="Text 7"/>
          <p:cNvSpPr txBox="1"/>
          <p:nvPr/>
        </p:nvSpPr>
        <p:spPr>
          <a:xfrm>
            <a:off x="548640" y="5760720"/>
            <a:ext cx="7315200" cy="365760"/>
          </a:xfrm>
          <a:prstGeom prst="rect">
            <a:avLst/>
          </a:prstGeom>
          <a:noFill/>
          <a:ln/>
        </p:spPr>
        <p:txBody>
          <a:bodyPr wrap="square" lIns="0" tIns="0" rIns="0" bIns="0" rtlCol="0" anchor="ctr"/>
          <a:lstStyle/>
          <a:p>
            <a:pPr indent="0" marL="0">
              <a:buNone/>
            </a:pPr>
            <a:r>
              <a:rPr lang="en-US" sz="1400" dirty="0">
                <a:solidFill>
                  <a:srgbClr val="58A6FF"/>
                </a:solidFill>
                <a:latin typeface="Calibri" pitchFamily="34" charset="0"/>
                <a:ea typeface="Calibri" pitchFamily="34" charset="-122"/>
                <a:cs typeface="Calibri" pitchFamily="34" charset="-120"/>
              </a:rPr>
              <a:t>project-data-mining-zzz.streamlit.app</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200" b="1" spc="300" kern="0" dirty="0">
                <a:solidFill>
                  <a:srgbClr val="F5A623"/>
                </a:solidFill>
                <a:latin typeface="Calibri" pitchFamily="34" charset="0"/>
                <a:ea typeface="Calibri" pitchFamily="34" charset="-122"/>
                <a:cs typeface="Calibri" pitchFamily="34" charset="-120"/>
              </a:rPr>
              <a:t>TIM</a:t>
            </a:r>
            <a:endParaRPr lang="en-US" sz="1200" dirty="0"/>
          </a:p>
        </p:txBody>
      </p:sp>
      <p:sp>
        <p:nvSpPr>
          <p:cNvPr id="3" name="Text 1"/>
          <p:cNvSpPr txBox="1"/>
          <p:nvPr/>
        </p:nvSpPr>
        <p:spPr>
          <a:xfrm>
            <a:off x="548640" y="685800"/>
            <a:ext cx="11091672" cy="731520"/>
          </a:xfrm>
          <a:prstGeom prst="rect">
            <a:avLst/>
          </a:prstGeom>
          <a:noFill/>
          <a:ln/>
        </p:spPr>
        <p:txBody>
          <a:bodyPr wrap="square" lIns="0" tIns="0" rIns="0" bIns="0" rtlCol="0" anchor="ctr"/>
          <a:lstStyle/>
          <a:p>
            <a:pPr indent="0" marL="0">
              <a:buNone/>
            </a:pPr>
            <a:r>
              <a:rPr lang="en-US" sz="3200" b="1" dirty="0">
                <a:solidFill>
                  <a:srgbClr val="E6EDF3"/>
                </a:solidFill>
                <a:latin typeface="Cambria" pitchFamily="34" charset="0"/>
                <a:ea typeface="Cambria" pitchFamily="34" charset="-122"/>
                <a:cs typeface="Cambria" pitchFamily="34" charset="-120"/>
              </a:rPr>
              <a:t>Anggota Kelompok 6</a:t>
            </a:r>
            <a:endParaRPr lang="en-US" sz="32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ZZZ Gacha Predictor · Kelompok 6 · A11.4502</a:t>
            </a:r>
            <a:endParaRPr lang="en-US" sz="1000" dirty="0"/>
          </a:p>
        </p:txBody>
      </p:sp>
      <p:sp>
        <p:nvSpPr>
          <p:cNvPr id="5" name="Text 3"/>
          <p:cNvSpPr txBox="1"/>
          <p:nvPr/>
        </p:nvSpPr>
        <p:spPr>
          <a:xfrm>
            <a:off x="10725912" y="6400800"/>
            <a:ext cx="914400" cy="228600"/>
          </a:xfrm>
          <a:prstGeom prst="rect">
            <a:avLst/>
          </a:prstGeom>
          <a:noFill/>
          <a:ln/>
        </p:spPr>
        <p:txBody>
          <a:bodyPr wrap="square" lIns="0" tIns="0" rIns="0" bIns="0" rtlCol="0" anchor="ctr"/>
          <a:lstStyle/>
          <a:p>
            <a:pPr algn="r" indent="0" marL="0">
              <a:buNone/>
            </a:pPr>
            <a:r>
              <a:rPr lang="en-US" sz="1000" dirty="0">
                <a:solidFill>
                  <a:srgbClr val="8B949E"/>
                </a:solidFill>
                <a:latin typeface="Calibri" pitchFamily="34" charset="0"/>
                <a:ea typeface="Calibri" pitchFamily="34" charset="-122"/>
                <a:cs typeface="Calibri" pitchFamily="34" charset="-120"/>
              </a:rPr>
              <a:t>2</a:t>
            </a:r>
            <a:endParaRPr lang="en-US" sz="1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2194560"/>
                <a:gridCol w="3108960"/>
                <a:gridCol w="5760720"/>
              </a:tblGrid>
              <a:tr h="566928">
                <a:tc>
                  <a:txBody>
                    <a:bodyPr/>
                    <a:lstStyle/>
                    <a:p>
                      <a:pPr algn="l" indent="0" marL="0">
                        <a:buNone/>
                      </a:pPr>
                      <a:r>
                        <a:rPr lang="en-US" sz="1500" b="1" dirty="0">
                          <a:solidFill>
                            <a:srgbClr val="F5A623"/>
                          </a:solidFill>
                          <a:latin typeface="Calibri" pitchFamily="34" charset="0"/>
                          <a:ea typeface="Calibri" pitchFamily="34" charset="-122"/>
                          <a:cs typeface="Calibri" pitchFamily="34" charset="-120"/>
                        </a:rPr>
                        <a:t>NIM</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algn="l" indent="0" marL="0">
                        <a:buNone/>
                      </a:pPr>
                      <a:r>
                        <a:rPr lang="en-US" sz="1500" b="1" dirty="0">
                          <a:solidFill>
                            <a:srgbClr val="F5A623"/>
                          </a:solidFill>
                          <a:latin typeface="Calibri" pitchFamily="34" charset="0"/>
                          <a:ea typeface="Calibri" pitchFamily="34" charset="-122"/>
                          <a:cs typeface="Calibri" pitchFamily="34" charset="-120"/>
                        </a:rPr>
                        <a:t>Nama</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algn="l" indent="0" marL="0">
                        <a:buNone/>
                      </a:pPr>
                      <a:r>
                        <a:rPr lang="en-US" sz="1500" b="1" dirty="0">
                          <a:solidFill>
                            <a:srgbClr val="F5A623"/>
                          </a:solidFill>
                          <a:latin typeface="Calibri" pitchFamily="34" charset="0"/>
                          <a:ea typeface="Calibri" pitchFamily="34" charset="-122"/>
                          <a:cs typeface="Calibri" pitchFamily="34" charset="-120"/>
                        </a:rPr>
                        <a:t>Peran</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r>
              <a:tr h="566928">
                <a:tc>
                  <a:txBody>
                    <a:bodyPr/>
                    <a:lstStyle/>
                    <a:p>
                      <a:pPr algn="l" indent="0" marL="0">
                        <a:buNone/>
                      </a:pPr>
                      <a:r>
                        <a:rPr lang="en-US" sz="1500" dirty="0">
                          <a:solidFill>
                            <a:srgbClr val="E6EDF3"/>
                          </a:solidFill>
                          <a:latin typeface="Calibri" pitchFamily="34" charset="0"/>
                          <a:ea typeface="Calibri" pitchFamily="34" charset="-122"/>
                          <a:cs typeface="Calibri" pitchFamily="34" charset="-120"/>
                        </a:rPr>
                        <a:t>A11.2024.16004</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l" indent="0" marL="0">
                        <a:buNone/>
                      </a:pPr>
                      <a:r>
                        <a:rPr lang="en-US" sz="1500" dirty="0">
                          <a:solidFill>
                            <a:srgbClr val="E6EDF3"/>
                          </a:solidFill>
                          <a:latin typeface="Calibri" pitchFamily="34" charset="0"/>
                          <a:ea typeface="Calibri" pitchFamily="34" charset="-122"/>
                          <a:cs typeface="Calibri" pitchFamily="34" charset="-120"/>
                        </a:rPr>
                        <a:t>Syafiq Yahya</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l" indent="0" marL="0">
                        <a:buNone/>
                      </a:pPr>
                      <a:r>
                        <a:rPr lang="en-US" sz="1500" dirty="0">
                          <a:solidFill>
                            <a:srgbClr val="E6EDF3"/>
                          </a:solidFill>
                          <a:latin typeface="Calibri" pitchFamily="34" charset="0"/>
                          <a:ea typeface="Calibri" pitchFamily="34" charset="-122"/>
                          <a:cs typeface="Calibri" pitchFamily="34" charset="-120"/>
                        </a:rPr>
                        <a:t>Ketua kelompok, presentasi hasil</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r>
              <a:tr h="566928">
                <a:tc>
                  <a:txBody>
                    <a:bodyPr/>
                    <a:lstStyle/>
                    <a:p>
                      <a:pPr algn="l" indent="0" marL="0">
                        <a:buNone/>
                      </a:pPr>
                      <a:r>
                        <a:rPr lang="en-US" sz="1500" dirty="0">
                          <a:solidFill>
                            <a:srgbClr val="E6EDF3"/>
                          </a:solidFill>
                          <a:latin typeface="Calibri" pitchFamily="34" charset="0"/>
                          <a:ea typeface="Calibri" pitchFamily="34" charset="-122"/>
                          <a:cs typeface="Calibri" pitchFamily="34" charset="-120"/>
                        </a:rPr>
                        <a:t>A11.2024.15851</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c>
                  <a:txBody>
                    <a:bodyPr/>
                    <a:lstStyle/>
                    <a:p>
                      <a:pPr algn="l" indent="0" marL="0">
                        <a:buNone/>
                      </a:pPr>
                      <a:r>
                        <a:rPr lang="en-US" sz="1500" dirty="0">
                          <a:solidFill>
                            <a:srgbClr val="E6EDF3"/>
                          </a:solidFill>
                          <a:latin typeface="Calibri" pitchFamily="34" charset="0"/>
                          <a:ea typeface="Calibri" pitchFamily="34" charset="-122"/>
                          <a:cs typeface="Calibri" pitchFamily="34" charset="-120"/>
                        </a:rPr>
                        <a:t>Dafi Hauzan A.H</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c>
                  <a:txBody>
                    <a:bodyPr/>
                    <a:lstStyle/>
                    <a:p>
                      <a:pPr algn="l" indent="0" marL="0">
                        <a:buNone/>
                      </a:pPr>
                      <a:r>
                        <a:rPr lang="en-US" sz="1500" dirty="0">
                          <a:solidFill>
                            <a:srgbClr val="E6EDF3"/>
                          </a:solidFill>
                          <a:latin typeface="Calibri" pitchFamily="34" charset="0"/>
                          <a:ea typeface="Calibri" pitchFamily="34" charset="-122"/>
                          <a:cs typeface="Calibri" pitchFamily="34" charset="-120"/>
                        </a:rPr>
                        <a:t>Pengembang aplikasi, pengumpulan &amp; pengujian data</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r>
              <a:tr h="566928">
                <a:tc>
                  <a:txBody>
                    <a:bodyPr/>
                    <a:lstStyle/>
                    <a:p>
                      <a:pPr algn="l" indent="0" marL="0">
                        <a:buNone/>
                      </a:pPr>
                      <a:r>
                        <a:rPr lang="en-US" sz="1500" dirty="0">
                          <a:solidFill>
                            <a:srgbClr val="E6EDF3"/>
                          </a:solidFill>
                          <a:latin typeface="Calibri" pitchFamily="34" charset="0"/>
                          <a:ea typeface="Calibri" pitchFamily="34" charset="-122"/>
                          <a:cs typeface="Calibri" pitchFamily="34" charset="-120"/>
                        </a:rPr>
                        <a:t>A11.2024.15842</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l" indent="0" marL="0">
                        <a:buNone/>
                      </a:pPr>
                      <a:r>
                        <a:rPr lang="en-US" sz="1500" dirty="0">
                          <a:solidFill>
                            <a:srgbClr val="E6EDF3"/>
                          </a:solidFill>
                          <a:latin typeface="Calibri" pitchFamily="34" charset="0"/>
                          <a:ea typeface="Calibri" pitchFamily="34" charset="-122"/>
                          <a:cs typeface="Calibri" pitchFamily="34" charset="-120"/>
                        </a:rPr>
                        <a:t>Gastiadirrijal Rafi M</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l" indent="0" marL="0">
                        <a:buNone/>
                      </a:pPr>
                      <a:r>
                        <a:rPr lang="en-US" sz="1500" dirty="0">
                          <a:solidFill>
                            <a:srgbClr val="E6EDF3"/>
                          </a:solidFill>
                          <a:latin typeface="Calibri" pitchFamily="34" charset="0"/>
                          <a:ea typeface="Calibri" pitchFamily="34" charset="-122"/>
                          <a:cs typeface="Calibri" pitchFamily="34" charset="-120"/>
                        </a:rPr>
                        <a:t>Penyusun slide presentasi</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r>
              <a:tr h="566928">
                <a:tc>
                  <a:txBody>
                    <a:bodyPr/>
                    <a:lstStyle/>
                    <a:p>
                      <a:pPr algn="l" indent="0" marL="0">
                        <a:buNone/>
                      </a:pPr>
                      <a:r>
                        <a:rPr lang="en-US" sz="1500" dirty="0">
                          <a:solidFill>
                            <a:srgbClr val="E6EDF3"/>
                          </a:solidFill>
                          <a:latin typeface="Calibri" pitchFamily="34" charset="0"/>
                          <a:ea typeface="Calibri" pitchFamily="34" charset="-122"/>
                          <a:cs typeface="Calibri" pitchFamily="34" charset="-120"/>
                        </a:rPr>
                        <a:t>A11.2024.15826</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c>
                  <a:txBody>
                    <a:bodyPr/>
                    <a:lstStyle/>
                    <a:p>
                      <a:pPr algn="l" indent="0" marL="0">
                        <a:buNone/>
                      </a:pPr>
                      <a:r>
                        <a:rPr lang="en-US" sz="1500" dirty="0">
                          <a:solidFill>
                            <a:srgbClr val="E6EDF3"/>
                          </a:solidFill>
                          <a:latin typeface="Calibri" pitchFamily="34" charset="0"/>
                          <a:ea typeface="Calibri" pitchFamily="34" charset="-122"/>
                          <a:cs typeface="Calibri" pitchFamily="34" charset="-120"/>
                        </a:rPr>
                        <a:t>Zabrina Miftah Z</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c>
                  <a:txBody>
                    <a:bodyPr/>
                    <a:lstStyle/>
                    <a:p>
                      <a:pPr algn="l" indent="0" marL="0">
                        <a:buNone/>
                      </a:pPr>
                      <a:r>
                        <a:rPr lang="en-US" sz="1500" dirty="0">
                          <a:solidFill>
                            <a:srgbClr val="E6EDF3"/>
                          </a:solidFill>
                          <a:latin typeface="Calibri" pitchFamily="34" charset="0"/>
                          <a:ea typeface="Calibri" pitchFamily="34" charset="-122"/>
                          <a:cs typeface="Calibri" pitchFamily="34" charset="-120"/>
                        </a:rPr>
                        <a:t>Penyusun proposal &amp; laporan</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r>
              <a:tr h="566928">
                <a:tc>
                  <a:txBody>
                    <a:bodyPr/>
                    <a:lstStyle/>
                    <a:p>
                      <a:pPr algn="l" indent="0" marL="0">
                        <a:buNone/>
                      </a:pPr>
                      <a:r>
                        <a:rPr lang="en-US" sz="1500" dirty="0">
                          <a:solidFill>
                            <a:srgbClr val="E6EDF3"/>
                          </a:solidFill>
                          <a:latin typeface="Calibri" pitchFamily="34" charset="0"/>
                          <a:ea typeface="Calibri" pitchFamily="34" charset="-122"/>
                          <a:cs typeface="Calibri" pitchFamily="34" charset="-120"/>
                        </a:rPr>
                        <a:t>A11.2024.15804</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l" indent="0" marL="0">
                        <a:buNone/>
                      </a:pPr>
                      <a:r>
                        <a:rPr lang="en-US" sz="1500" dirty="0">
                          <a:solidFill>
                            <a:srgbClr val="E6EDF3"/>
                          </a:solidFill>
                          <a:latin typeface="Calibri" pitchFamily="34" charset="0"/>
                          <a:ea typeface="Calibri" pitchFamily="34" charset="-122"/>
                          <a:cs typeface="Calibri" pitchFamily="34" charset="-120"/>
                        </a:rPr>
                        <a:t>Rayya Hasya Tamimi</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l" indent="0" marL="0">
                        <a:buNone/>
                      </a:pPr>
                      <a:r>
                        <a:rPr lang="en-US" sz="1500" dirty="0">
                          <a:solidFill>
                            <a:srgbClr val="E6EDF3"/>
                          </a:solidFill>
                          <a:latin typeface="Calibri" pitchFamily="34" charset="0"/>
                          <a:ea typeface="Calibri" pitchFamily="34" charset="-122"/>
                          <a:cs typeface="Calibri" pitchFamily="34" charset="-120"/>
                        </a:rPr>
                        <a:t>Penyusun proposal &amp; laporan</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200" b="1" spc="300" kern="0" dirty="0">
                <a:solidFill>
                  <a:srgbClr val="F5A623"/>
                </a:solidFill>
                <a:latin typeface="Calibri" pitchFamily="34" charset="0"/>
                <a:ea typeface="Calibri" pitchFamily="34" charset="-122"/>
                <a:cs typeface="Calibri" pitchFamily="34" charset="-120"/>
              </a:rPr>
              <a:t>LATAR BELAKANG</a:t>
            </a:r>
            <a:endParaRPr lang="en-US" sz="1200" dirty="0"/>
          </a:p>
        </p:txBody>
      </p:sp>
      <p:sp>
        <p:nvSpPr>
          <p:cNvPr id="3" name="Text 1"/>
          <p:cNvSpPr txBox="1"/>
          <p:nvPr/>
        </p:nvSpPr>
        <p:spPr>
          <a:xfrm>
            <a:off x="548640" y="685800"/>
            <a:ext cx="11091672" cy="731520"/>
          </a:xfrm>
          <a:prstGeom prst="rect">
            <a:avLst/>
          </a:prstGeom>
          <a:noFill/>
          <a:ln/>
        </p:spPr>
        <p:txBody>
          <a:bodyPr wrap="square" lIns="0" tIns="0" rIns="0" bIns="0" rtlCol="0" anchor="ctr"/>
          <a:lstStyle/>
          <a:p>
            <a:pPr indent="0" marL="0">
              <a:buNone/>
            </a:pPr>
            <a:r>
              <a:rPr lang="en-US" sz="3200" b="1" dirty="0">
                <a:solidFill>
                  <a:srgbClr val="E6EDF3"/>
                </a:solidFill>
                <a:latin typeface="Cambria" pitchFamily="34" charset="0"/>
                <a:ea typeface="Cambria" pitchFamily="34" charset="-122"/>
                <a:cs typeface="Cambria" pitchFamily="34" charset="-120"/>
              </a:rPr>
              <a:t>“Pity-ku 70. Berapa peluang dapat S?”</a:t>
            </a:r>
            <a:endParaRPr lang="en-US" sz="32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ZZZ Gacha Predictor · Kelompok 6 · A11.4502</a:t>
            </a:r>
            <a:endParaRPr lang="en-US" sz="1000" dirty="0"/>
          </a:p>
        </p:txBody>
      </p:sp>
      <p:sp>
        <p:nvSpPr>
          <p:cNvPr id="5" name="Text 3"/>
          <p:cNvSpPr txBox="1"/>
          <p:nvPr/>
        </p:nvSpPr>
        <p:spPr>
          <a:xfrm>
            <a:off x="10725912" y="6400800"/>
            <a:ext cx="914400" cy="228600"/>
          </a:xfrm>
          <a:prstGeom prst="rect">
            <a:avLst/>
          </a:prstGeom>
          <a:noFill/>
          <a:ln/>
        </p:spPr>
        <p:txBody>
          <a:bodyPr wrap="square" lIns="0" tIns="0" rIns="0" bIns="0" rtlCol="0" anchor="ctr"/>
          <a:lstStyle/>
          <a:p>
            <a:pPr algn="r" indent="0" marL="0">
              <a:buNone/>
            </a:pPr>
            <a:r>
              <a:rPr lang="en-US" sz="1000" dirty="0">
                <a:solidFill>
                  <a:srgbClr val="8B949E"/>
                </a:solidFill>
                <a:latin typeface="Calibri" pitchFamily="34" charset="0"/>
                <a:ea typeface="Calibri" pitchFamily="34" charset="-122"/>
                <a:cs typeface="Calibri" pitchFamily="34" charset="-120"/>
              </a:rPr>
              <a:t>3</a:t>
            </a:r>
            <a:endParaRPr lang="en-US" sz="1000" dirty="0"/>
          </a:p>
        </p:txBody>
      </p:sp>
      <p:sp>
        <p:nvSpPr>
          <p:cNvPr id="6" name="Text 4"/>
          <p:cNvSpPr txBox="1"/>
          <p:nvPr/>
        </p:nvSpPr>
        <p:spPr>
          <a:xfrm>
            <a:off x="548640" y="1600200"/>
            <a:ext cx="10972800" cy="1005840"/>
          </a:xfrm>
          <a:prstGeom prst="rect">
            <a:avLst/>
          </a:prstGeom>
          <a:noFill/>
          <a:ln/>
        </p:spPr>
        <p:txBody>
          <a:bodyPr wrap="square" lIns="0" tIns="0" rIns="0" bIns="0" rtlCol="0" anchor="t"/>
          <a:lstStyle/>
          <a:p>
            <a:pPr indent="0" marL="0">
              <a:buNone/>
            </a:pPr>
            <a:r>
              <a:rPr lang="en-US" sz="1700" dirty="0">
                <a:solidFill>
                  <a:srgbClr val="A9B4C2"/>
                </a:solidFill>
                <a:latin typeface="Calibri" pitchFamily="34" charset="0"/>
                <a:ea typeface="Calibri" pitchFamily="34" charset="-122"/>
                <a:cs typeface="Calibri" pitchFamily="34" charset="-120"/>
              </a:rPr>
              <a:t>Gacha di Zenless Zone Zero memakai sistem pity: makin lama tidak dapat S-Rank, peluangnya makin besar sampai pasti dapat. Pemain sering hanya menebak-nebak. Riwayat gacha tersimpan di server, sehingga bisa diolah dengan penambangan data.</a:t>
            </a:r>
            <a:endParaRPr lang="en-US" sz="1700" dirty="0"/>
          </a:p>
        </p:txBody>
      </p:sp>
      <p:sp>
        <p:nvSpPr>
          <p:cNvPr id="7" name="Text 5"/>
          <p:cNvSpPr txBox="1"/>
          <p:nvPr/>
        </p:nvSpPr>
        <p:spPr>
          <a:xfrm>
            <a:off x="548640" y="3017520"/>
            <a:ext cx="3474720" cy="914400"/>
          </a:xfrm>
          <a:prstGeom prst="rect">
            <a:avLst/>
          </a:prstGeom>
          <a:noFill/>
          <a:ln/>
        </p:spPr>
        <p:txBody>
          <a:bodyPr wrap="square" lIns="0" tIns="0" rIns="0" bIns="0" rtlCol="0" anchor="ctr"/>
          <a:lstStyle/>
          <a:p>
            <a:pPr indent="0" marL="0">
              <a:buNone/>
            </a:pPr>
            <a:r>
              <a:rPr lang="en-US" sz="5400" b="1" dirty="0">
                <a:solidFill>
                  <a:srgbClr val="F5A623"/>
                </a:solidFill>
                <a:latin typeface="Cambria" pitchFamily="34" charset="0"/>
                <a:ea typeface="Cambria" pitchFamily="34" charset="-122"/>
                <a:cs typeface="Cambria" pitchFamily="34" charset="-120"/>
              </a:rPr>
              <a:t>0,6%</a:t>
            </a:r>
            <a:endParaRPr lang="en-US" sz="5400" dirty="0"/>
          </a:p>
        </p:txBody>
      </p:sp>
      <p:sp>
        <p:nvSpPr>
          <p:cNvPr id="8" name="Text 6"/>
          <p:cNvSpPr txBox="1"/>
          <p:nvPr/>
        </p:nvSpPr>
        <p:spPr>
          <a:xfrm>
            <a:off x="548640" y="3977640"/>
            <a:ext cx="3474720" cy="640080"/>
          </a:xfrm>
          <a:prstGeom prst="rect">
            <a:avLst/>
          </a:prstGeom>
          <a:noFill/>
          <a:ln/>
        </p:spPr>
        <p:txBody>
          <a:bodyPr wrap="square" lIns="0" tIns="0" rIns="0" bIns="0" rtlCol="0" anchor="t"/>
          <a:lstStyle/>
          <a:p>
            <a:pPr indent="0" marL="0">
              <a:buNone/>
            </a:pPr>
            <a:r>
              <a:rPr lang="en-US" sz="1400" dirty="0">
                <a:solidFill>
                  <a:srgbClr val="A9B4C2"/>
                </a:solidFill>
                <a:latin typeface="Calibri" pitchFamily="34" charset="0"/>
                <a:ea typeface="Calibri" pitchFamily="34" charset="-122"/>
                <a:cs typeface="Calibri" pitchFamily="34" charset="-120"/>
              </a:rPr>
              <a:t>peluang dasar S-Rank Agent per pull (W-Engine 1,0%)</a:t>
            </a:r>
            <a:endParaRPr lang="en-US" sz="1400" dirty="0"/>
          </a:p>
        </p:txBody>
      </p:sp>
      <p:sp>
        <p:nvSpPr>
          <p:cNvPr id="9" name="Text 7"/>
          <p:cNvSpPr txBox="1"/>
          <p:nvPr/>
        </p:nvSpPr>
        <p:spPr>
          <a:xfrm>
            <a:off x="4343400" y="3017520"/>
            <a:ext cx="3474720" cy="914400"/>
          </a:xfrm>
          <a:prstGeom prst="rect">
            <a:avLst/>
          </a:prstGeom>
          <a:noFill/>
          <a:ln/>
        </p:spPr>
        <p:txBody>
          <a:bodyPr wrap="square" lIns="0" tIns="0" rIns="0" bIns="0" rtlCol="0" anchor="ctr"/>
          <a:lstStyle/>
          <a:p>
            <a:pPr indent="0" marL="0">
              <a:buNone/>
            </a:pPr>
            <a:r>
              <a:rPr lang="en-US" sz="5400" b="1" dirty="0">
                <a:solidFill>
                  <a:srgbClr val="58A6FF"/>
                </a:solidFill>
                <a:latin typeface="Cambria" pitchFamily="34" charset="0"/>
                <a:ea typeface="Cambria" pitchFamily="34" charset="-122"/>
                <a:cs typeface="Cambria" pitchFamily="34" charset="-120"/>
              </a:rPr>
              <a:t>90</a:t>
            </a:r>
            <a:endParaRPr lang="en-US" sz="5400" dirty="0"/>
          </a:p>
        </p:txBody>
      </p:sp>
      <p:sp>
        <p:nvSpPr>
          <p:cNvPr id="10" name="Text 8"/>
          <p:cNvSpPr txBox="1"/>
          <p:nvPr/>
        </p:nvSpPr>
        <p:spPr>
          <a:xfrm>
            <a:off x="4343400" y="3977640"/>
            <a:ext cx="3474720" cy="640080"/>
          </a:xfrm>
          <a:prstGeom prst="rect">
            <a:avLst/>
          </a:prstGeom>
          <a:noFill/>
          <a:ln/>
        </p:spPr>
        <p:txBody>
          <a:bodyPr wrap="square" lIns="0" tIns="0" rIns="0" bIns="0" rtlCol="0" anchor="t"/>
          <a:lstStyle/>
          <a:p>
            <a:pPr indent="0" marL="0">
              <a:buNone/>
            </a:pPr>
            <a:r>
              <a:rPr lang="en-US" sz="1400" dirty="0">
                <a:solidFill>
                  <a:srgbClr val="A9B4C2"/>
                </a:solidFill>
                <a:latin typeface="Calibri" pitchFamily="34" charset="0"/>
                <a:ea typeface="Calibri" pitchFamily="34" charset="-122"/>
                <a:cs typeface="Calibri" pitchFamily="34" charset="-120"/>
              </a:rPr>
              <a:t>hard pity Agent: S-Rank pasti didapat (W-Engine 80)</a:t>
            </a:r>
            <a:endParaRPr lang="en-US" sz="1400" dirty="0"/>
          </a:p>
        </p:txBody>
      </p:sp>
      <p:sp>
        <p:nvSpPr>
          <p:cNvPr id="11" name="Text 9"/>
          <p:cNvSpPr txBox="1"/>
          <p:nvPr/>
        </p:nvSpPr>
        <p:spPr>
          <a:xfrm>
            <a:off x="8138160" y="3017520"/>
            <a:ext cx="3474720" cy="914400"/>
          </a:xfrm>
          <a:prstGeom prst="rect">
            <a:avLst/>
          </a:prstGeom>
          <a:noFill/>
          <a:ln/>
        </p:spPr>
        <p:txBody>
          <a:bodyPr wrap="square" lIns="0" tIns="0" rIns="0" bIns="0" rtlCol="0" anchor="ctr"/>
          <a:lstStyle/>
          <a:p>
            <a:pPr indent="0" marL="0">
              <a:buNone/>
            </a:pPr>
            <a:r>
              <a:rPr lang="en-US" sz="5400" b="1" dirty="0">
                <a:solidFill>
                  <a:srgbClr val="3FB950"/>
                </a:solidFill>
                <a:latin typeface="Cambria" pitchFamily="34" charset="0"/>
                <a:ea typeface="Cambria" pitchFamily="34" charset="-122"/>
                <a:cs typeface="Cambria" pitchFamily="34" charset="-120"/>
              </a:rPr>
              <a:t>±1,7%</a:t>
            </a:r>
            <a:endParaRPr lang="en-US" sz="5400" dirty="0"/>
          </a:p>
        </p:txBody>
      </p:sp>
      <p:sp>
        <p:nvSpPr>
          <p:cNvPr id="12" name="Text 10"/>
          <p:cNvSpPr txBox="1"/>
          <p:nvPr/>
        </p:nvSpPr>
        <p:spPr>
          <a:xfrm>
            <a:off x="8138160" y="3977640"/>
            <a:ext cx="3474720" cy="640080"/>
          </a:xfrm>
          <a:prstGeom prst="rect">
            <a:avLst/>
          </a:prstGeom>
          <a:noFill/>
          <a:ln/>
        </p:spPr>
        <p:txBody>
          <a:bodyPr wrap="square" lIns="0" tIns="0" rIns="0" bIns="0" rtlCol="0" anchor="t"/>
          <a:lstStyle/>
          <a:p>
            <a:pPr indent="0" marL="0">
              <a:buNone/>
            </a:pPr>
            <a:r>
              <a:rPr lang="en-US" sz="1400" dirty="0">
                <a:solidFill>
                  <a:srgbClr val="A9B4C2"/>
                </a:solidFill>
                <a:latin typeface="Calibri" pitchFamily="34" charset="0"/>
                <a:ea typeface="Calibri" pitchFamily="34" charset="-122"/>
                <a:cs typeface="Calibri" pitchFamily="34" charset="-120"/>
              </a:rPr>
              <a:t>pull yang benar-benar menghasilkan S-Rank → data sangat tidak seimbang</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200" b="1" spc="300" kern="0" dirty="0">
                <a:solidFill>
                  <a:srgbClr val="F5A623"/>
                </a:solidFill>
                <a:latin typeface="Calibri" pitchFamily="34" charset="0"/>
                <a:ea typeface="Calibri" pitchFamily="34" charset="-122"/>
                <a:cs typeface="Calibri" pitchFamily="34" charset="-120"/>
              </a:rPr>
              <a:t>ALASAN</a:t>
            </a:r>
            <a:endParaRPr lang="en-US" sz="1200" dirty="0"/>
          </a:p>
        </p:txBody>
      </p:sp>
      <p:sp>
        <p:nvSpPr>
          <p:cNvPr id="3" name="Text 1"/>
          <p:cNvSpPr txBox="1"/>
          <p:nvPr/>
        </p:nvSpPr>
        <p:spPr>
          <a:xfrm>
            <a:off x="548640" y="685800"/>
            <a:ext cx="11091672" cy="731520"/>
          </a:xfrm>
          <a:prstGeom prst="rect">
            <a:avLst/>
          </a:prstGeom>
          <a:noFill/>
          <a:ln/>
        </p:spPr>
        <p:txBody>
          <a:bodyPr wrap="square" lIns="0" tIns="0" rIns="0" bIns="0" rtlCol="0" anchor="ctr"/>
          <a:lstStyle/>
          <a:p>
            <a:pPr indent="0" marL="0">
              <a:buNone/>
            </a:pPr>
            <a:r>
              <a:rPr lang="en-US" sz="3200" b="1" dirty="0">
                <a:solidFill>
                  <a:srgbClr val="E6EDF3"/>
                </a:solidFill>
                <a:latin typeface="Cambria" pitchFamily="34" charset="0"/>
                <a:ea typeface="Cambria" pitchFamily="34" charset="-122"/>
                <a:cs typeface="Cambria" pitchFamily="34" charset="-120"/>
              </a:rPr>
              <a:t>Kenapa perlu data mining, bukan rumus saja?</a:t>
            </a:r>
            <a:endParaRPr lang="en-US" sz="32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ZZZ Gacha Predictor · Kelompok 6 · A11.4502</a:t>
            </a:r>
            <a:endParaRPr lang="en-US" sz="1000" dirty="0"/>
          </a:p>
        </p:txBody>
      </p:sp>
      <p:sp>
        <p:nvSpPr>
          <p:cNvPr id="5" name="Text 3"/>
          <p:cNvSpPr txBox="1"/>
          <p:nvPr/>
        </p:nvSpPr>
        <p:spPr>
          <a:xfrm>
            <a:off x="10725912" y="6400800"/>
            <a:ext cx="914400" cy="228600"/>
          </a:xfrm>
          <a:prstGeom prst="rect">
            <a:avLst/>
          </a:prstGeom>
          <a:noFill/>
          <a:ln/>
        </p:spPr>
        <p:txBody>
          <a:bodyPr wrap="square" lIns="0" tIns="0" rIns="0" bIns="0" rtlCol="0" anchor="ctr"/>
          <a:lstStyle/>
          <a:p>
            <a:pPr algn="r" indent="0" marL="0">
              <a:buNone/>
            </a:pPr>
            <a:r>
              <a:rPr lang="en-US" sz="1000" dirty="0">
                <a:solidFill>
                  <a:srgbClr val="8B949E"/>
                </a:solidFill>
                <a:latin typeface="Calibri" pitchFamily="34" charset="0"/>
                <a:ea typeface="Calibri" pitchFamily="34" charset="-122"/>
                <a:cs typeface="Calibri" pitchFamily="34" charset="-120"/>
              </a:rPr>
              <a:t>4</a:t>
            </a:r>
            <a:endParaRPr lang="en-US" sz="1000" dirty="0"/>
          </a:p>
        </p:txBody>
      </p:sp>
      <p:sp>
        <p:nvSpPr>
          <p:cNvPr id="6" name="Text 4"/>
          <p:cNvSpPr txBox="1"/>
          <p:nvPr/>
        </p:nvSpPr>
        <p:spPr>
          <a:xfrm>
            <a:off x="548640" y="1508760"/>
            <a:ext cx="11064240" cy="685800"/>
          </a:xfrm>
          <a:prstGeom prst="rect">
            <a:avLst/>
          </a:prstGeom>
          <a:noFill/>
          <a:ln/>
        </p:spPr>
        <p:txBody>
          <a:bodyPr wrap="square" lIns="0" tIns="0" rIns="0" bIns="0" rtlCol="0" anchor="t"/>
          <a:lstStyle/>
          <a:p>
            <a:pPr indent="0" marL="0">
              <a:buNone/>
            </a:pPr>
            <a:r>
              <a:rPr lang="en-US" sz="1600" dirty="0">
                <a:solidFill>
                  <a:srgbClr val="A9B4C2"/>
                </a:solidFill>
                <a:latin typeface="Calibri" pitchFamily="34" charset="0"/>
                <a:ea typeface="Calibri" pitchFamily="34" charset="-122"/>
                <a:cs typeface="Calibri" pitchFamily="34" charset="-120"/>
              </a:rPr>
              <a:t>Machine learning tidak diperlukan jika ada atribut yang langsung menentukan hasil, atau sudah ada rumus yang pasti dan lengkap. Bagaimana dengan gacha ZZZ?</a:t>
            </a:r>
            <a:endParaRPr lang="en-US" sz="1600" dirty="0"/>
          </a:p>
        </p:txBody>
      </p:sp>
      <p:sp>
        <p:nvSpPr>
          <p:cNvPr id="7" name="Shape 5"/>
          <p:cNvSpPr/>
          <p:nvPr/>
        </p:nvSpPr>
        <p:spPr>
          <a:xfrm>
            <a:off x="548640" y="2331720"/>
            <a:ext cx="5440680" cy="1645920"/>
          </a:xfrm>
          <a:prstGeom prst="roundRect">
            <a:avLst>
              <a:gd name="adj" fmla="val 4444"/>
            </a:avLst>
          </a:prstGeom>
          <a:solidFill>
            <a:srgbClr val="1C2230"/>
          </a:solidFill>
          <a:ln w="9525">
            <a:solidFill>
              <a:srgbClr val="30363D"/>
            </a:solidFill>
            <a:prstDash val="solid"/>
          </a:ln>
        </p:spPr>
      </p:sp>
      <p:sp>
        <p:nvSpPr>
          <p:cNvPr id="8" name="Text 6"/>
          <p:cNvSpPr txBox="1"/>
          <p:nvPr/>
        </p:nvSpPr>
        <p:spPr>
          <a:xfrm>
            <a:off x="777240" y="2560320"/>
            <a:ext cx="4983480" cy="411480"/>
          </a:xfrm>
          <a:prstGeom prst="rect">
            <a:avLst/>
          </a:prstGeom>
          <a:noFill/>
          <a:ln/>
        </p:spPr>
        <p:txBody>
          <a:bodyPr wrap="square" lIns="0" tIns="0" rIns="0" bIns="0" rtlCol="0" anchor="t"/>
          <a:lstStyle/>
          <a:p>
            <a:pPr indent="0" marL="0">
              <a:buNone/>
            </a:pPr>
            <a:r>
              <a:rPr lang="en-US" sz="1800" b="1" dirty="0">
                <a:solidFill>
                  <a:srgbClr val="F85149"/>
                </a:solidFill>
                <a:latin typeface="Cambria" pitchFamily="34" charset="0"/>
                <a:ea typeface="Cambria" pitchFamily="34" charset="-122"/>
                <a:cs typeface="Cambria" pitchFamily="34" charset="-120"/>
              </a:rPr>
              <a:t>Ada atribut penentu hasil? Tidak</a:t>
            </a:r>
            <a:endParaRPr lang="en-US" sz="1800" dirty="0"/>
          </a:p>
        </p:txBody>
      </p:sp>
      <p:sp>
        <p:nvSpPr>
          <p:cNvPr id="9" name="Text 7"/>
          <p:cNvSpPr txBox="1"/>
          <p:nvPr/>
        </p:nvSpPr>
        <p:spPr>
          <a:xfrm>
            <a:off x="777240" y="3017520"/>
            <a:ext cx="4983480" cy="777240"/>
          </a:xfrm>
          <a:prstGeom prst="rect">
            <a:avLst/>
          </a:prstGeom>
          <a:noFill/>
          <a:ln/>
        </p:spPr>
        <p:txBody>
          <a:bodyPr wrap="square" lIns="0" tIns="0" rIns="0" bIns="0" rtlCol="0" anchor="t"/>
          <a:lstStyle/>
          <a:p>
            <a:pPr indent="0" marL="0">
              <a:spcAft>
                <a:spcPts val="400"/>
              </a:spcAft>
              <a:buNone/>
            </a:pPr>
            <a:r>
              <a:rPr lang="en-US" sz="1500" dirty="0">
                <a:solidFill>
                  <a:srgbClr val="A9B4C2"/>
                </a:solidFill>
                <a:latin typeface="Calibri" pitchFamily="34" charset="0"/>
                <a:ea typeface="Calibri" pitchFamily="34" charset="-122"/>
                <a:cs typeface="Calibri" pitchFamily="34" charset="-120"/>
              </a:rPr>
              <a:t>Pity hanya mengubah peluang; hasil setiap pull tetap acak. Kepastian hanya terjadi di hard pity.</a:t>
            </a:r>
            <a:endParaRPr lang="en-US" sz="1500" dirty="0"/>
          </a:p>
        </p:txBody>
      </p:sp>
      <p:sp>
        <p:nvSpPr>
          <p:cNvPr id="10" name="Shape 8"/>
          <p:cNvSpPr/>
          <p:nvPr/>
        </p:nvSpPr>
        <p:spPr>
          <a:xfrm>
            <a:off x="6172200" y="2331720"/>
            <a:ext cx="5440680" cy="1645920"/>
          </a:xfrm>
          <a:prstGeom prst="roundRect">
            <a:avLst>
              <a:gd name="adj" fmla="val 4444"/>
            </a:avLst>
          </a:prstGeom>
          <a:solidFill>
            <a:srgbClr val="1C2230"/>
          </a:solidFill>
          <a:ln w="9525">
            <a:solidFill>
              <a:srgbClr val="30363D"/>
            </a:solidFill>
            <a:prstDash val="solid"/>
          </a:ln>
        </p:spPr>
      </p:sp>
      <p:sp>
        <p:nvSpPr>
          <p:cNvPr id="11" name="Text 9"/>
          <p:cNvSpPr txBox="1"/>
          <p:nvPr/>
        </p:nvSpPr>
        <p:spPr>
          <a:xfrm>
            <a:off x="6400800" y="2560320"/>
            <a:ext cx="4983480" cy="411480"/>
          </a:xfrm>
          <a:prstGeom prst="rect">
            <a:avLst/>
          </a:prstGeom>
          <a:noFill/>
          <a:ln/>
        </p:spPr>
        <p:txBody>
          <a:bodyPr wrap="square" lIns="0" tIns="0" rIns="0" bIns="0" rtlCol="0" anchor="t"/>
          <a:lstStyle/>
          <a:p>
            <a:pPr indent="0" marL="0">
              <a:buNone/>
            </a:pPr>
            <a:r>
              <a:rPr lang="en-US" sz="1800" b="1" dirty="0">
                <a:solidFill>
                  <a:srgbClr val="F85149"/>
                </a:solidFill>
                <a:latin typeface="Cambria" pitchFamily="34" charset="0"/>
                <a:ea typeface="Cambria" pitchFamily="34" charset="-122"/>
                <a:cs typeface="Cambria" pitchFamily="34" charset="-120"/>
              </a:rPr>
              <a:t>Ada rumus pasti &amp; lengkap? Tidak</a:t>
            </a:r>
            <a:endParaRPr lang="en-US" sz="1800" dirty="0"/>
          </a:p>
        </p:txBody>
      </p:sp>
      <p:sp>
        <p:nvSpPr>
          <p:cNvPr id="12" name="Text 10"/>
          <p:cNvSpPr txBox="1"/>
          <p:nvPr/>
        </p:nvSpPr>
        <p:spPr>
          <a:xfrm>
            <a:off x="6400800" y="3017520"/>
            <a:ext cx="4983480" cy="777240"/>
          </a:xfrm>
          <a:prstGeom prst="rect">
            <a:avLst/>
          </a:prstGeom>
          <a:noFill/>
          <a:ln/>
        </p:spPr>
        <p:txBody>
          <a:bodyPr wrap="square" lIns="0" tIns="0" rIns="0" bIns="0" rtlCol="0" anchor="t"/>
          <a:lstStyle/>
          <a:p>
            <a:pPr indent="0" marL="0">
              <a:spcAft>
                <a:spcPts val="400"/>
              </a:spcAft>
              <a:buNone/>
            </a:pPr>
            <a:r>
              <a:rPr lang="en-US" sz="1500" dirty="0">
                <a:solidFill>
                  <a:srgbClr val="A9B4C2"/>
                </a:solidFill>
                <a:latin typeface="Calibri" pitchFamily="34" charset="0"/>
                <a:ea typeface="Calibri" pitchFamily="34" charset="-122"/>
                <a:cs typeface="Calibri" pitchFamily="34" charset="-120"/>
              </a:rPr>
              <a:t>Rate dasar &amp; hard pity resmi, tetapi soft pity (kapan &amp; seberapa cepat peluang naik) TIDAK diumumkan. Perkiraan komunitas pun berbeda-beda.</a:t>
            </a:r>
            <a:endParaRPr lang="en-US" sz="1500" dirty="0"/>
          </a:p>
        </p:txBody>
      </p:sp>
      <p:sp>
        <p:nvSpPr>
          <p:cNvPr id="13" name="Shape 11"/>
          <p:cNvSpPr/>
          <p:nvPr/>
        </p:nvSpPr>
        <p:spPr>
          <a:xfrm>
            <a:off x="548640" y="4206240"/>
            <a:ext cx="11064240" cy="1691640"/>
          </a:xfrm>
          <a:prstGeom prst="roundRect">
            <a:avLst>
              <a:gd name="adj" fmla="val 4324"/>
            </a:avLst>
          </a:prstGeom>
          <a:solidFill>
            <a:srgbClr val="1C2230"/>
          </a:solidFill>
          <a:ln w="9525">
            <a:solidFill>
              <a:srgbClr val="30363D"/>
            </a:solidFill>
            <a:prstDash val="solid"/>
          </a:ln>
        </p:spPr>
      </p:sp>
      <p:sp>
        <p:nvSpPr>
          <p:cNvPr id="14" name="Text 12"/>
          <p:cNvSpPr txBox="1"/>
          <p:nvPr/>
        </p:nvSpPr>
        <p:spPr>
          <a:xfrm>
            <a:off x="777240" y="4434840"/>
            <a:ext cx="10607040" cy="411480"/>
          </a:xfrm>
          <a:prstGeom prst="rect">
            <a:avLst/>
          </a:prstGeom>
          <a:noFill/>
          <a:ln/>
        </p:spPr>
        <p:txBody>
          <a:bodyPr wrap="square" lIns="0" tIns="0" rIns="0" bIns="0" rtlCol="0" anchor="t"/>
          <a:lstStyle/>
          <a:p>
            <a:pPr indent="0" marL="0">
              <a:buNone/>
            </a:pPr>
            <a:r>
              <a:rPr lang="en-US" sz="1800" b="1" dirty="0">
                <a:solidFill>
                  <a:srgbClr val="3FB950"/>
                </a:solidFill>
                <a:latin typeface="Cambria" pitchFamily="34" charset="0"/>
                <a:ea typeface="Cambria" pitchFamily="34" charset="-122"/>
                <a:cs typeface="Cambria" pitchFamily="34" charset="-120"/>
              </a:rPr>
              <a:t>→ Pola soft pity harus digali dari data riwayat pemain</a:t>
            </a:r>
            <a:endParaRPr lang="en-US" sz="1800" dirty="0"/>
          </a:p>
        </p:txBody>
      </p:sp>
      <p:sp>
        <p:nvSpPr>
          <p:cNvPr id="15" name="Text 13"/>
          <p:cNvSpPr txBox="1"/>
          <p:nvPr/>
        </p:nvSpPr>
        <p:spPr>
          <a:xfrm>
            <a:off x="777240" y="4892040"/>
            <a:ext cx="10607040" cy="822960"/>
          </a:xfrm>
          <a:prstGeom prst="rect">
            <a:avLst/>
          </a:prstGeom>
          <a:noFill/>
          <a:ln/>
        </p:spPr>
        <p:txBody>
          <a:bodyPr wrap="square" lIns="0" tIns="0" rIns="0" bIns="0" rtlCol="0" anchor="t"/>
          <a:lstStyle/>
          <a:p>
            <a:pPr indent="0" marL="0">
              <a:spcAft>
                <a:spcPts val="400"/>
              </a:spcAft>
              <a:buNone/>
            </a:pPr>
            <a:r>
              <a:rPr lang="en-US" sz="1500" dirty="0">
                <a:solidFill>
                  <a:srgbClr val="A9B4C2"/>
                </a:solidFill>
                <a:latin typeface="Calibri" pitchFamily="34" charset="0"/>
                <a:ea typeface="Calibri" pitchFamily="34" charset="-122"/>
                <a:cs typeface="Calibri" pitchFamily="34" charset="-120"/>
              </a:rPr>
              <a:t>Termasuk klasifikasi + estimasi peluang (supervised learning; label: dapat S-Rank atau tidak). Markov Chain menjadi pembanding teori, sedangkan algoritma tidak diberi tahu soft pity lalu diuji apakah bisa menemukannya sendiri.</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200" b="1" spc="300" kern="0" dirty="0">
                <a:solidFill>
                  <a:srgbClr val="F5A623"/>
                </a:solidFill>
                <a:latin typeface="Calibri" pitchFamily="34" charset="0"/>
                <a:ea typeface="Calibri" pitchFamily="34" charset="-122"/>
                <a:cs typeface="Calibri" pitchFamily="34" charset="-120"/>
              </a:rPr>
              <a:t>MASALAH</a:t>
            </a:r>
            <a:endParaRPr lang="en-US" sz="1200" dirty="0"/>
          </a:p>
        </p:txBody>
      </p:sp>
      <p:sp>
        <p:nvSpPr>
          <p:cNvPr id="3" name="Text 1"/>
          <p:cNvSpPr txBox="1"/>
          <p:nvPr/>
        </p:nvSpPr>
        <p:spPr>
          <a:xfrm>
            <a:off x="548640" y="685800"/>
            <a:ext cx="11091672" cy="731520"/>
          </a:xfrm>
          <a:prstGeom prst="rect">
            <a:avLst/>
          </a:prstGeom>
          <a:noFill/>
          <a:ln/>
        </p:spPr>
        <p:txBody>
          <a:bodyPr wrap="square" lIns="0" tIns="0" rIns="0" bIns="0" rtlCol="0" anchor="ctr"/>
          <a:lstStyle/>
          <a:p>
            <a:pPr indent="0" marL="0">
              <a:buNone/>
            </a:pPr>
            <a:r>
              <a:rPr lang="en-US" sz="3200" b="1" dirty="0">
                <a:solidFill>
                  <a:srgbClr val="E6EDF3"/>
                </a:solidFill>
                <a:latin typeface="Cambria" pitchFamily="34" charset="0"/>
                <a:ea typeface="Cambria" pitchFamily="34" charset="-122"/>
                <a:cs typeface="Cambria" pitchFamily="34" charset="-120"/>
              </a:rPr>
              <a:t>Rumusan masalah</a:t>
            </a:r>
            <a:endParaRPr lang="en-US" sz="32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ZZZ Gacha Predictor · Kelompok 6 · A11.4502</a:t>
            </a:r>
            <a:endParaRPr lang="en-US" sz="1000" dirty="0"/>
          </a:p>
        </p:txBody>
      </p:sp>
      <p:sp>
        <p:nvSpPr>
          <p:cNvPr id="5" name="Text 3"/>
          <p:cNvSpPr txBox="1"/>
          <p:nvPr/>
        </p:nvSpPr>
        <p:spPr>
          <a:xfrm>
            <a:off x="10725912" y="6400800"/>
            <a:ext cx="914400" cy="228600"/>
          </a:xfrm>
          <a:prstGeom prst="rect">
            <a:avLst/>
          </a:prstGeom>
          <a:noFill/>
          <a:ln/>
        </p:spPr>
        <p:txBody>
          <a:bodyPr wrap="square" lIns="0" tIns="0" rIns="0" bIns="0" rtlCol="0" anchor="ctr"/>
          <a:lstStyle/>
          <a:p>
            <a:pPr algn="r" indent="0" marL="0">
              <a:buNone/>
            </a:pPr>
            <a:r>
              <a:rPr lang="en-US" sz="1000" dirty="0">
                <a:solidFill>
                  <a:srgbClr val="8B949E"/>
                </a:solidFill>
                <a:latin typeface="Calibri" pitchFamily="34" charset="0"/>
                <a:ea typeface="Calibri" pitchFamily="34" charset="-122"/>
                <a:cs typeface="Calibri" pitchFamily="34" charset="-120"/>
              </a:rPr>
              <a:t>5</a:t>
            </a:r>
            <a:endParaRPr lang="en-US" sz="1000" dirty="0"/>
          </a:p>
        </p:txBody>
      </p:sp>
      <p:sp>
        <p:nvSpPr>
          <p:cNvPr id="6" name="Shape 4"/>
          <p:cNvSpPr/>
          <p:nvPr/>
        </p:nvSpPr>
        <p:spPr>
          <a:xfrm>
            <a:off x="548640" y="1737360"/>
            <a:ext cx="2103120" cy="4206240"/>
          </a:xfrm>
          <a:prstGeom prst="roundRect">
            <a:avLst>
              <a:gd name="adj" fmla="val 3478"/>
            </a:avLst>
          </a:prstGeom>
          <a:solidFill>
            <a:srgbClr val="1C2230"/>
          </a:solidFill>
          <a:ln w="9525">
            <a:solidFill>
              <a:srgbClr val="30363D"/>
            </a:solidFill>
            <a:prstDash val="solid"/>
          </a:ln>
        </p:spPr>
      </p:sp>
      <p:sp>
        <p:nvSpPr>
          <p:cNvPr id="7" name="Shape 5"/>
          <p:cNvSpPr/>
          <p:nvPr/>
        </p:nvSpPr>
        <p:spPr>
          <a:xfrm>
            <a:off x="777240" y="1965960"/>
            <a:ext cx="457200" cy="457200"/>
          </a:xfrm>
          <a:prstGeom prst="ellipse">
            <a:avLst/>
          </a:prstGeom>
          <a:solidFill>
            <a:srgbClr val="F5A623"/>
          </a:solidFill>
          <a:ln/>
        </p:spPr>
      </p:sp>
      <p:sp>
        <p:nvSpPr>
          <p:cNvPr id="8" name="Text 6"/>
          <p:cNvSpPr txBox="1"/>
          <p:nvPr/>
        </p:nvSpPr>
        <p:spPr>
          <a:xfrm>
            <a:off x="777240" y="1965960"/>
            <a:ext cx="457200" cy="457200"/>
          </a:xfrm>
          <a:prstGeom prst="rect">
            <a:avLst/>
          </a:prstGeom>
          <a:noFill/>
          <a:ln/>
        </p:spPr>
        <p:txBody>
          <a:bodyPr wrap="square" lIns="0" tIns="0" rIns="0" bIns="0" rtlCol="0" anchor="ctr"/>
          <a:lstStyle/>
          <a:p>
            <a:pPr algn="ctr" indent="0" marL="0">
              <a:buNone/>
            </a:pPr>
            <a:r>
              <a:rPr lang="en-US" sz="1600" b="1" dirty="0">
                <a:solidFill>
                  <a:srgbClr val="0E1117"/>
                </a:solidFill>
                <a:latin typeface="Calibri" pitchFamily="34" charset="0"/>
                <a:ea typeface="Calibri" pitchFamily="34" charset="-122"/>
                <a:cs typeface="Calibri" pitchFamily="34" charset="-120"/>
              </a:rPr>
              <a:t>1</a:t>
            </a:r>
            <a:endParaRPr lang="en-US" sz="1600" dirty="0"/>
          </a:p>
        </p:txBody>
      </p:sp>
      <p:sp>
        <p:nvSpPr>
          <p:cNvPr id="9" name="Text 7"/>
          <p:cNvSpPr txBox="1"/>
          <p:nvPr/>
        </p:nvSpPr>
        <p:spPr>
          <a:xfrm>
            <a:off x="777240" y="2560320"/>
            <a:ext cx="1645920" cy="731520"/>
          </a:xfrm>
          <a:prstGeom prst="rect">
            <a:avLst/>
          </a:prstGeom>
          <a:noFill/>
          <a:ln/>
        </p:spPr>
        <p:txBody>
          <a:bodyPr wrap="square" lIns="0" tIns="0" rIns="0" bIns="0" rtlCol="0" anchor="t"/>
          <a:lstStyle/>
          <a:p>
            <a:pPr indent="0" marL="0">
              <a:buNone/>
            </a:pPr>
            <a:r>
              <a:rPr lang="en-US" sz="1700" b="1" dirty="0">
                <a:solidFill>
                  <a:srgbClr val="E6EDF3"/>
                </a:solidFill>
                <a:latin typeface="Cambria" pitchFamily="34" charset="0"/>
                <a:ea typeface="Cambria" pitchFamily="34" charset="-122"/>
                <a:cs typeface="Cambria" pitchFamily="34" charset="-120"/>
              </a:rPr>
              <a:t>Menghitung peluang</a:t>
            </a:r>
            <a:endParaRPr lang="en-US" sz="1700" dirty="0"/>
          </a:p>
        </p:txBody>
      </p:sp>
      <p:sp>
        <p:nvSpPr>
          <p:cNvPr id="10" name="Text 8"/>
          <p:cNvSpPr txBox="1"/>
          <p:nvPr/>
        </p:nvSpPr>
        <p:spPr>
          <a:xfrm>
            <a:off x="777240" y="3337560"/>
            <a:ext cx="1645920" cy="2423160"/>
          </a:xfrm>
          <a:prstGeom prst="rect">
            <a:avLst/>
          </a:prstGeom>
          <a:noFill/>
          <a:ln/>
        </p:spPr>
        <p:txBody>
          <a:bodyPr wrap="square" lIns="0" tIns="0" rIns="0" bIns="0" rtlCol="0" anchor="t"/>
          <a:lstStyle/>
          <a:p>
            <a:pPr indent="0" marL="0">
              <a:spcAft>
                <a:spcPts val="400"/>
              </a:spcAft>
              <a:buNone/>
            </a:pPr>
            <a:r>
              <a:rPr lang="en-US" sz="1400" dirty="0">
                <a:solidFill>
                  <a:srgbClr val="A9B4C2"/>
                </a:solidFill>
                <a:latin typeface="Calibri" pitchFamily="34" charset="0"/>
                <a:ea typeface="Calibri" pitchFamily="34" charset="-122"/>
                <a:cs typeface="Calibri" pitchFamily="34" charset="-120"/>
              </a:rPr>
              <a:t>Berapa peluang dapat S-Rank / S-Rank rate-up dalam N pull dari pity dan status guaranteed?</a:t>
            </a:r>
            <a:endParaRPr lang="en-US" sz="1400" dirty="0"/>
          </a:p>
        </p:txBody>
      </p:sp>
      <p:sp>
        <p:nvSpPr>
          <p:cNvPr id="11" name="Shape 9"/>
          <p:cNvSpPr/>
          <p:nvPr/>
        </p:nvSpPr>
        <p:spPr>
          <a:xfrm>
            <a:off x="2788920" y="1737360"/>
            <a:ext cx="2103120" cy="4206240"/>
          </a:xfrm>
          <a:prstGeom prst="roundRect">
            <a:avLst>
              <a:gd name="adj" fmla="val 3478"/>
            </a:avLst>
          </a:prstGeom>
          <a:solidFill>
            <a:srgbClr val="1C2230"/>
          </a:solidFill>
          <a:ln w="9525">
            <a:solidFill>
              <a:srgbClr val="30363D"/>
            </a:solidFill>
            <a:prstDash val="solid"/>
          </a:ln>
        </p:spPr>
      </p:sp>
      <p:sp>
        <p:nvSpPr>
          <p:cNvPr id="12" name="Shape 10"/>
          <p:cNvSpPr/>
          <p:nvPr/>
        </p:nvSpPr>
        <p:spPr>
          <a:xfrm>
            <a:off x="3017520" y="1965960"/>
            <a:ext cx="457200" cy="457200"/>
          </a:xfrm>
          <a:prstGeom prst="ellipse">
            <a:avLst/>
          </a:prstGeom>
          <a:solidFill>
            <a:srgbClr val="FF7EB6"/>
          </a:solidFill>
          <a:ln/>
        </p:spPr>
      </p:sp>
      <p:sp>
        <p:nvSpPr>
          <p:cNvPr id="13" name="Text 11"/>
          <p:cNvSpPr txBox="1"/>
          <p:nvPr/>
        </p:nvSpPr>
        <p:spPr>
          <a:xfrm>
            <a:off x="3017520" y="1965960"/>
            <a:ext cx="457200" cy="457200"/>
          </a:xfrm>
          <a:prstGeom prst="rect">
            <a:avLst/>
          </a:prstGeom>
          <a:noFill/>
          <a:ln/>
        </p:spPr>
        <p:txBody>
          <a:bodyPr wrap="square" lIns="0" tIns="0" rIns="0" bIns="0" rtlCol="0" anchor="ctr"/>
          <a:lstStyle/>
          <a:p>
            <a:pPr algn="ctr" indent="0" marL="0">
              <a:buNone/>
            </a:pPr>
            <a:r>
              <a:rPr lang="en-US" sz="1600" b="1" dirty="0">
                <a:solidFill>
                  <a:srgbClr val="0E1117"/>
                </a:solidFill>
                <a:latin typeface="Calibri" pitchFamily="34" charset="0"/>
                <a:ea typeface="Calibri" pitchFamily="34" charset="-122"/>
                <a:cs typeface="Calibri" pitchFamily="34" charset="-120"/>
              </a:rPr>
              <a:t>2</a:t>
            </a:r>
            <a:endParaRPr lang="en-US" sz="1600" dirty="0"/>
          </a:p>
        </p:txBody>
      </p:sp>
      <p:sp>
        <p:nvSpPr>
          <p:cNvPr id="14" name="Text 12"/>
          <p:cNvSpPr txBox="1"/>
          <p:nvPr/>
        </p:nvSpPr>
        <p:spPr>
          <a:xfrm>
            <a:off x="3017520" y="2560320"/>
            <a:ext cx="1645920" cy="731520"/>
          </a:xfrm>
          <a:prstGeom prst="rect">
            <a:avLst/>
          </a:prstGeom>
          <a:noFill/>
          <a:ln/>
        </p:spPr>
        <p:txBody>
          <a:bodyPr wrap="square" lIns="0" tIns="0" rIns="0" bIns="0" rtlCol="0" anchor="t"/>
          <a:lstStyle/>
          <a:p>
            <a:pPr indent="0" marL="0">
              <a:buNone/>
            </a:pPr>
            <a:r>
              <a:rPr lang="en-US" sz="1700" b="1" dirty="0">
                <a:solidFill>
                  <a:srgbClr val="E6EDF3"/>
                </a:solidFill>
                <a:latin typeface="Cambria" pitchFamily="34" charset="0"/>
                <a:ea typeface="Cambria" pitchFamily="34" charset="-122"/>
                <a:cs typeface="Cambria" pitchFamily="34" charset="-120"/>
              </a:rPr>
              <a:t>Pola soft pity</a:t>
            </a:r>
            <a:endParaRPr lang="en-US" sz="1700" dirty="0"/>
          </a:p>
        </p:txBody>
      </p:sp>
      <p:sp>
        <p:nvSpPr>
          <p:cNvPr id="15" name="Text 13"/>
          <p:cNvSpPr txBox="1"/>
          <p:nvPr/>
        </p:nvSpPr>
        <p:spPr>
          <a:xfrm>
            <a:off x="3017520" y="3337560"/>
            <a:ext cx="1645920" cy="2423160"/>
          </a:xfrm>
          <a:prstGeom prst="rect">
            <a:avLst/>
          </a:prstGeom>
          <a:noFill/>
          <a:ln/>
        </p:spPr>
        <p:txBody>
          <a:bodyPr wrap="square" lIns="0" tIns="0" rIns="0" bIns="0" rtlCol="0" anchor="t"/>
          <a:lstStyle/>
          <a:p>
            <a:pPr indent="0" marL="0">
              <a:spcAft>
                <a:spcPts val="400"/>
              </a:spcAft>
              <a:buNone/>
            </a:pPr>
            <a:r>
              <a:rPr lang="en-US" sz="1400" dirty="0">
                <a:solidFill>
                  <a:srgbClr val="A9B4C2"/>
                </a:solidFill>
                <a:latin typeface="Calibri" pitchFamily="34" charset="0"/>
                <a:ea typeface="Calibri" pitchFamily="34" charset="-122"/>
                <a:cs typeface="Calibri" pitchFamily="34" charset="-120"/>
              </a:rPr>
              <a:t>Bisakah soft pity yang tidak diumumkan resmi ditemukan dari data riwayat pemain?</a:t>
            </a:r>
            <a:endParaRPr lang="en-US" sz="1400" dirty="0"/>
          </a:p>
        </p:txBody>
      </p:sp>
      <p:sp>
        <p:nvSpPr>
          <p:cNvPr id="16" name="Shape 14"/>
          <p:cNvSpPr/>
          <p:nvPr/>
        </p:nvSpPr>
        <p:spPr>
          <a:xfrm>
            <a:off x="5029200" y="1737360"/>
            <a:ext cx="2103120" cy="4206240"/>
          </a:xfrm>
          <a:prstGeom prst="roundRect">
            <a:avLst>
              <a:gd name="adj" fmla="val 3478"/>
            </a:avLst>
          </a:prstGeom>
          <a:solidFill>
            <a:srgbClr val="1C2230"/>
          </a:solidFill>
          <a:ln w="9525">
            <a:solidFill>
              <a:srgbClr val="30363D"/>
            </a:solidFill>
            <a:prstDash val="solid"/>
          </a:ln>
        </p:spPr>
      </p:sp>
      <p:sp>
        <p:nvSpPr>
          <p:cNvPr id="17" name="Shape 15"/>
          <p:cNvSpPr/>
          <p:nvPr/>
        </p:nvSpPr>
        <p:spPr>
          <a:xfrm>
            <a:off x="5257800" y="1965960"/>
            <a:ext cx="457200" cy="457200"/>
          </a:xfrm>
          <a:prstGeom prst="ellipse">
            <a:avLst/>
          </a:prstGeom>
          <a:solidFill>
            <a:srgbClr val="58A6FF"/>
          </a:solidFill>
          <a:ln/>
        </p:spPr>
      </p:sp>
      <p:sp>
        <p:nvSpPr>
          <p:cNvPr id="18" name="Text 16"/>
          <p:cNvSpPr txBox="1"/>
          <p:nvPr/>
        </p:nvSpPr>
        <p:spPr>
          <a:xfrm>
            <a:off x="5257800" y="1965960"/>
            <a:ext cx="457200" cy="457200"/>
          </a:xfrm>
          <a:prstGeom prst="rect">
            <a:avLst/>
          </a:prstGeom>
          <a:noFill/>
          <a:ln/>
        </p:spPr>
        <p:txBody>
          <a:bodyPr wrap="square" lIns="0" tIns="0" rIns="0" bIns="0" rtlCol="0" anchor="ctr"/>
          <a:lstStyle/>
          <a:p>
            <a:pPr algn="ctr" indent="0" marL="0">
              <a:buNone/>
            </a:pPr>
            <a:r>
              <a:rPr lang="en-US" sz="1600" b="1" dirty="0">
                <a:solidFill>
                  <a:srgbClr val="0E1117"/>
                </a:solidFill>
                <a:latin typeface="Calibri" pitchFamily="34" charset="0"/>
                <a:ea typeface="Calibri" pitchFamily="34" charset="-122"/>
                <a:cs typeface="Calibri" pitchFamily="34" charset="-120"/>
              </a:rPr>
              <a:t>3</a:t>
            </a:r>
            <a:endParaRPr lang="en-US" sz="1600" dirty="0"/>
          </a:p>
        </p:txBody>
      </p:sp>
      <p:sp>
        <p:nvSpPr>
          <p:cNvPr id="19" name="Text 17"/>
          <p:cNvSpPr txBox="1"/>
          <p:nvPr/>
        </p:nvSpPr>
        <p:spPr>
          <a:xfrm>
            <a:off x="5257800" y="2560320"/>
            <a:ext cx="1645920" cy="731520"/>
          </a:xfrm>
          <a:prstGeom prst="rect">
            <a:avLst/>
          </a:prstGeom>
          <a:noFill/>
          <a:ln/>
        </p:spPr>
        <p:txBody>
          <a:bodyPr wrap="square" lIns="0" tIns="0" rIns="0" bIns="0" rtlCol="0" anchor="t"/>
          <a:lstStyle/>
          <a:p>
            <a:pPr indent="0" marL="0">
              <a:buNone/>
            </a:pPr>
            <a:r>
              <a:rPr lang="en-US" sz="1700" b="1" dirty="0">
                <a:solidFill>
                  <a:srgbClr val="E6EDF3"/>
                </a:solidFill>
                <a:latin typeface="Cambria" pitchFamily="34" charset="0"/>
                <a:ea typeface="Cambria" pitchFamily="34" charset="-122"/>
                <a:cs typeface="Cambria" pitchFamily="34" charset="-120"/>
              </a:rPr>
              <a:t>Algoritma terbaik</a:t>
            </a:r>
            <a:endParaRPr lang="en-US" sz="1700" dirty="0"/>
          </a:p>
        </p:txBody>
      </p:sp>
      <p:sp>
        <p:nvSpPr>
          <p:cNvPr id="20" name="Text 18"/>
          <p:cNvSpPr txBox="1"/>
          <p:nvPr/>
        </p:nvSpPr>
        <p:spPr>
          <a:xfrm>
            <a:off x="5257800" y="3337560"/>
            <a:ext cx="1645920" cy="2423160"/>
          </a:xfrm>
          <a:prstGeom prst="rect">
            <a:avLst/>
          </a:prstGeom>
          <a:noFill/>
          <a:ln/>
        </p:spPr>
        <p:txBody>
          <a:bodyPr wrap="square" lIns="0" tIns="0" rIns="0" bIns="0" rtlCol="0" anchor="t"/>
          <a:lstStyle/>
          <a:p>
            <a:pPr indent="0" marL="0">
              <a:spcAft>
                <a:spcPts val="400"/>
              </a:spcAft>
              <a:buNone/>
            </a:pPr>
            <a:r>
              <a:rPr lang="en-US" sz="1400" dirty="0">
                <a:solidFill>
                  <a:srgbClr val="A9B4C2"/>
                </a:solidFill>
                <a:latin typeface="Calibri" pitchFamily="34" charset="0"/>
                <a:ea typeface="Calibri" pitchFamily="34" charset="-122"/>
                <a:cs typeface="Calibri" pitchFamily="34" charset="-120"/>
              </a:rPr>
              <a:t>Dari Naive Bayes, KNN, Logistic Regression, Decision Tree, Random Forest, dan XGBoost, mana yang paling akurat?</a:t>
            </a:r>
            <a:endParaRPr lang="en-US" sz="1400" dirty="0"/>
          </a:p>
        </p:txBody>
      </p:sp>
      <p:sp>
        <p:nvSpPr>
          <p:cNvPr id="21" name="Shape 19"/>
          <p:cNvSpPr/>
          <p:nvPr/>
        </p:nvSpPr>
        <p:spPr>
          <a:xfrm>
            <a:off x="7269480" y="1737360"/>
            <a:ext cx="2103120" cy="4206240"/>
          </a:xfrm>
          <a:prstGeom prst="roundRect">
            <a:avLst>
              <a:gd name="adj" fmla="val 3478"/>
            </a:avLst>
          </a:prstGeom>
          <a:solidFill>
            <a:srgbClr val="1C2230"/>
          </a:solidFill>
          <a:ln w="9525">
            <a:solidFill>
              <a:srgbClr val="30363D"/>
            </a:solidFill>
            <a:prstDash val="solid"/>
          </a:ln>
        </p:spPr>
      </p:sp>
      <p:sp>
        <p:nvSpPr>
          <p:cNvPr id="22" name="Shape 20"/>
          <p:cNvSpPr/>
          <p:nvPr/>
        </p:nvSpPr>
        <p:spPr>
          <a:xfrm>
            <a:off x="7498080" y="1965960"/>
            <a:ext cx="457200" cy="457200"/>
          </a:xfrm>
          <a:prstGeom prst="ellipse">
            <a:avLst/>
          </a:prstGeom>
          <a:solidFill>
            <a:srgbClr val="3FB950"/>
          </a:solidFill>
          <a:ln/>
        </p:spPr>
      </p:sp>
      <p:sp>
        <p:nvSpPr>
          <p:cNvPr id="23" name="Text 21"/>
          <p:cNvSpPr txBox="1"/>
          <p:nvPr/>
        </p:nvSpPr>
        <p:spPr>
          <a:xfrm>
            <a:off x="7498080" y="1965960"/>
            <a:ext cx="457200" cy="457200"/>
          </a:xfrm>
          <a:prstGeom prst="rect">
            <a:avLst/>
          </a:prstGeom>
          <a:noFill/>
          <a:ln/>
        </p:spPr>
        <p:txBody>
          <a:bodyPr wrap="square" lIns="0" tIns="0" rIns="0" bIns="0" rtlCol="0" anchor="ctr"/>
          <a:lstStyle/>
          <a:p>
            <a:pPr algn="ctr" indent="0" marL="0">
              <a:buNone/>
            </a:pPr>
            <a:r>
              <a:rPr lang="en-US" sz="1600" b="1" dirty="0">
                <a:solidFill>
                  <a:srgbClr val="0E1117"/>
                </a:solidFill>
                <a:latin typeface="Calibri" pitchFamily="34" charset="0"/>
                <a:ea typeface="Calibri" pitchFamily="34" charset="-122"/>
                <a:cs typeface="Calibri" pitchFamily="34" charset="-120"/>
              </a:rPr>
              <a:t>4</a:t>
            </a:r>
            <a:endParaRPr lang="en-US" sz="1600" dirty="0"/>
          </a:p>
        </p:txBody>
      </p:sp>
      <p:sp>
        <p:nvSpPr>
          <p:cNvPr id="24" name="Text 22"/>
          <p:cNvSpPr txBox="1"/>
          <p:nvPr/>
        </p:nvSpPr>
        <p:spPr>
          <a:xfrm>
            <a:off x="7498080" y="2560320"/>
            <a:ext cx="1645920" cy="731520"/>
          </a:xfrm>
          <a:prstGeom prst="rect">
            <a:avLst/>
          </a:prstGeom>
          <a:noFill/>
          <a:ln/>
        </p:spPr>
        <p:txBody>
          <a:bodyPr wrap="square" lIns="0" tIns="0" rIns="0" bIns="0" rtlCol="0" anchor="t"/>
          <a:lstStyle/>
          <a:p>
            <a:pPr indent="0" marL="0">
              <a:buNone/>
            </a:pPr>
            <a:r>
              <a:rPr lang="en-US" sz="1700" b="1" dirty="0">
                <a:solidFill>
                  <a:srgbClr val="E6EDF3"/>
                </a:solidFill>
                <a:latin typeface="Cambria" pitchFamily="34" charset="0"/>
                <a:ea typeface="Cambria" pitchFamily="34" charset="-122"/>
                <a:cs typeface="Cambria" pitchFamily="34" charset="-120"/>
              </a:rPr>
              <a:t>Evaluasi yang tepat</a:t>
            </a:r>
            <a:endParaRPr lang="en-US" sz="1700" dirty="0"/>
          </a:p>
        </p:txBody>
      </p:sp>
      <p:sp>
        <p:nvSpPr>
          <p:cNvPr id="25" name="Text 23"/>
          <p:cNvSpPr txBox="1"/>
          <p:nvPr/>
        </p:nvSpPr>
        <p:spPr>
          <a:xfrm>
            <a:off x="7498080" y="3337560"/>
            <a:ext cx="1645920" cy="2423160"/>
          </a:xfrm>
          <a:prstGeom prst="rect">
            <a:avLst/>
          </a:prstGeom>
          <a:noFill/>
          <a:ln/>
        </p:spPr>
        <p:txBody>
          <a:bodyPr wrap="square" lIns="0" tIns="0" rIns="0" bIns="0" rtlCol="0" anchor="t"/>
          <a:lstStyle/>
          <a:p>
            <a:pPr indent="0" marL="0">
              <a:spcAft>
                <a:spcPts val="400"/>
              </a:spcAft>
              <a:buNone/>
            </a:pPr>
            <a:r>
              <a:rPr lang="en-US" sz="1400" dirty="0">
                <a:solidFill>
                  <a:srgbClr val="A9B4C2"/>
                </a:solidFill>
                <a:latin typeface="Calibri" pitchFamily="34" charset="0"/>
                <a:ea typeface="Calibri" pitchFamily="34" charset="-122"/>
                <a:cs typeface="Calibri" pitchFamily="34" charset="-120"/>
              </a:rPr>
              <a:t>Bagaimana menilai model pada data yang sangat tidak seimbang?</a:t>
            </a:r>
            <a:endParaRPr lang="en-US" sz="1400" dirty="0"/>
          </a:p>
        </p:txBody>
      </p:sp>
      <p:sp>
        <p:nvSpPr>
          <p:cNvPr id="26" name="Shape 24"/>
          <p:cNvSpPr/>
          <p:nvPr/>
        </p:nvSpPr>
        <p:spPr>
          <a:xfrm>
            <a:off x="9509760" y="1737360"/>
            <a:ext cx="2103120" cy="4206240"/>
          </a:xfrm>
          <a:prstGeom prst="roundRect">
            <a:avLst>
              <a:gd name="adj" fmla="val 3478"/>
            </a:avLst>
          </a:prstGeom>
          <a:solidFill>
            <a:srgbClr val="1C2230"/>
          </a:solidFill>
          <a:ln w="9525">
            <a:solidFill>
              <a:srgbClr val="30363D"/>
            </a:solidFill>
            <a:prstDash val="solid"/>
          </a:ln>
        </p:spPr>
      </p:sp>
      <p:sp>
        <p:nvSpPr>
          <p:cNvPr id="27" name="Shape 25"/>
          <p:cNvSpPr/>
          <p:nvPr/>
        </p:nvSpPr>
        <p:spPr>
          <a:xfrm>
            <a:off x="9738360" y="1965960"/>
            <a:ext cx="457200" cy="457200"/>
          </a:xfrm>
          <a:prstGeom prst="ellipse">
            <a:avLst/>
          </a:prstGeom>
          <a:solidFill>
            <a:srgbClr val="BC8CFF"/>
          </a:solidFill>
          <a:ln/>
        </p:spPr>
      </p:sp>
      <p:sp>
        <p:nvSpPr>
          <p:cNvPr id="28" name="Text 26"/>
          <p:cNvSpPr txBox="1"/>
          <p:nvPr/>
        </p:nvSpPr>
        <p:spPr>
          <a:xfrm>
            <a:off x="9738360" y="1965960"/>
            <a:ext cx="457200" cy="457200"/>
          </a:xfrm>
          <a:prstGeom prst="rect">
            <a:avLst/>
          </a:prstGeom>
          <a:noFill/>
          <a:ln/>
        </p:spPr>
        <p:txBody>
          <a:bodyPr wrap="square" lIns="0" tIns="0" rIns="0" bIns="0" rtlCol="0" anchor="ctr"/>
          <a:lstStyle/>
          <a:p>
            <a:pPr algn="ctr" indent="0" marL="0">
              <a:buNone/>
            </a:pPr>
            <a:r>
              <a:rPr lang="en-US" sz="1600" b="1" dirty="0">
                <a:solidFill>
                  <a:srgbClr val="0E1117"/>
                </a:solidFill>
                <a:latin typeface="Calibri" pitchFamily="34" charset="0"/>
                <a:ea typeface="Calibri" pitchFamily="34" charset="-122"/>
                <a:cs typeface="Calibri" pitchFamily="34" charset="-120"/>
              </a:rPr>
              <a:t>5</a:t>
            </a:r>
            <a:endParaRPr lang="en-US" sz="1600" dirty="0"/>
          </a:p>
        </p:txBody>
      </p:sp>
      <p:sp>
        <p:nvSpPr>
          <p:cNvPr id="29" name="Text 27"/>
          <p:cNvSpPr txBox="1"/>
          <p:nvPr/>
        </p:nvSpPr>
        <p:spPr>
          <a:xfrm>
            <a:off x="9738360" y="2560320"/>
            <a:ext cx="1645920" cy="731520"/>
          </a:xfrm>
          <a:prstGeom prst="rect">
            <a:avLst/>
          </a:prstGeom>
          <a:noFill/>
          <a:ln/>
        </p:spPr>
        <p:txBody>
          <a:bodyPr wrap="square" lIns="0" tIns="0" rIns="0" bIns="0" rtlCol="0" anchor="t"/>
          <a:lstStyle/>
          <a:p>
            <a:pPr indent="0" marL="0">
              <a:buNone/>
            </a:pPr>
            <a:r>
              <a:rPr lang="en-US" sz="1700" b="1" dirty="0">
                <a:solidFill>
                  <a:srgbClr val="E6EDF3"/>
                </a:solidFill>
                <a:latin typeface="Cambria" pitchFamily="34" charset="0"/>
                <a:ea typeface="Cambria" pitchFamily="34" charset="-122"/>
                <a:cs typeface="Cambria" pitchFamily="34" charset="-120"/>
              </a:rPr>
              <a:t>Mudah diakses</a:t>
            </a:r>
            <a:endParaRPr lang="en-US" sz="1700" dirty="0"/>
          </a:p>
        </p:txBody>
      </p:sp>
      <p:sp>
        <p:nvSpPr>
          <p:cNvPr id="30" name="Text 28"/>
          <p:cNvSpPr txBox="1"/>
          <p:nvPr/>
        </p:nvSpPr>
        <p:spPr>
          <a:xfrm>
            <a:off x="9738360" y="3337560"/>
            <a:ext cx="1645920" cy="2423160"/>
          </a:xfrm>
          <a:prstGeom prst="rect">
            <a:avLst/>
          </a:prstGeom>
          <a:noFill/>
          <a:ln/>
        </p:spPr>
        <p:txBody>
          <a:bodyPr wrap="square" lIns="0" tIns="0" rIns="0" bIns="0" rtlCol="0" anchor="t"/>
          <a:lstStyle/>
          <a:p>
            <a:pPr indent="0" marL="0">
              <a:spcAft>
                <a:spcPts val="400"/>
              </a:spcAft>
              <a:buNone/>
            </a:pPr>
            <a:r>
              <a:rPr lang="en-US" sz="1400" dirty="0">
                <a:solidFill>
                  <a:srgbClr val="A9B4C2"/>
                </a:solidFill>
                <a:latin typeface="Calibri" pitchFamily="34" charset="0"/>
                <a:ea typeface="Calibri" pitchFamily="34" charset="-122"/>
                <a:cs typeface="Calibri" pitchFamily="34" charset="-120"/>
              </a:rPr>
              <a:t>Bagaimana menyajikannya dalam web yang nyaman di HP dan PC?</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200" b="1" spc="300" kern="0" dirty="0">
                <a:solidFill>
                  <a:srgbClr val="F5A623"/>
                </a:solidFill>
                <a:latin typeface="Calibri" pitchFamily="34" charset="0"/>
                <a:ea typeface="Calibri" pitchFamily="34" charset="-122"/>
                <a:cs typeface="Calibri" pitchFamily="34" charset="-120"/>
              </a:rPr>
              <a:t>PENDAHULUAN</a:t>
            </a:r>
            <a:endParaRPr lang="en-US" sz="1200" dirty="0"/>
          </a:p>
        </p:txBody>
      </p:sp>
      <p:sp>
        <p:nvSpPr>
          <p:cNvPr id="3" name="Text 1"/>
          <p:cNvSpPr txBox="1"/>
          <p:nvPr/>
        </p:nvSpPr>
        <p:spPr>
          <a:xfrm>
            <a:off x="548640" y="685800"/>
            <a:ext cx="11091672" cy="731520"/>
          </a:xfrm>
          <a:prstGeom prst="rect">
            <a:avLst/>
          </a:prstGeom>
          <a:noFill/>
          <a:ln/>
        </p:spPr>
        <p:txBody>
          <a:bodyPr wrap="square" lIns="0" tIns="0" rIns="0" bIns="0" rtlCol="0" anchor="ctr"/>
          <a:lstStyle/>
          <a:p>
            <a:pPr indent="0" marL="0">
              <a:buNone/>
            </a:pPr>
            <a:r>
              <a:rPr lang="en-US" sz="3200" b="1" dirty="0">
                <a:solidFill>
                  <a:srgbClr val="E6EDF3"/>
                </a:solidFill>
                <a:latin typeface="Cambria" pitchFamily="34" charset="0"/>
                <a:ea typeface="Cambria" pitchFamily="34" charset="-122"/>
                <a:cs typeface="Cambria" pitchFamily="34" charset="-120"/>
              </a:rPr>
              <a:t>Batasan dan tujuan</a:t>
            </a:r>
            <a:endParaRPr lang="en-US" sz="32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ZZZ Gacha Predictor · Kelompok 6 · A11.4502</a:t>
            </a:r>
            <a:endParaRPr lang="en-US" sz="1000" dirty="0"/>
          </a:p>
        </p:txBody>
      </p:sp>
      <p:sp>
        <p:nvSpPr>
          <p:cNvPr id="5" name="Text 3"/>
          <p:cNvSpPr txBox="1"/>
          <p:nvPr/>
        </p:nvSpPr>
        <p:spPr>
          <a:xfrm>
            <a:off x="10725912" y="6400800"/>
            <a:ext cx="914400" cy="228600"/>
          </a:xfrm>
          <a:prstGeom prst="rect">
            <a:avLst/>
          </a:prstGeom>
          <a:noFill/>
          <a:ln/>
        </p:spPr>
        <p:txBody>
          <a:bodyPr wrap="square" lIns="0" tIns="0" rIns="0" bIns="0" rtlCol="0" anchor="ctr"/>
          <a:lstStyle/>
          <a:p>
            <a:pPr algn="r" indent="0" marL="0">
              <a:buNone/>
            </a:pPr>
            <a:r>
              <a:rPr lang="en-US" sz="1000" dirty="0">
                <a:solidFill>
                  <a:srgbClr val="8B949E"/>
                </a:solidFill>
                <a:latin typeface="Calibri" pitchFamily="34" charset="0"/>
                <a:ea typeface="Calibri" pitchFamily="34" charset="-122"/>
                <a:cs typeface="Calibri" pitchFamily="34" charset="-120"/>
              </a:rPr>
              <a:t>6</a:t>
            </a:r>
            <a:endParaRPr lang="en-US" sz="1000" dirty="0"/>
          </a:p>
        </p:txBody>
      </p:sp>
      <p:sp>
        <p:nvSpPr>
          <p:cNvPr id="6" name="Text 4"/>
          <p:cNvSpPr txBox="1"/>
          <p:nvPr/>
        </p:nvSpPr>
        <p:spPr>
          <a:xfrm>
            <a:off x="548640" y="1645920"/>
            <a:ext cx="5394960" cy="365760"/>
          </a:xfrm>
          <a:prstGeom prst="rect">
            <a:avLst/>
          </a:prstGeom>
          <a:noFill/>
          <a:ln/>
        </p:spPr>
        <p:txBody>
          <a:bodyPr wrap="square" lIns="0" tIns="0" rIns="0" bIns="0" rtlCol="0" anchor="ctr"/>
          <a:lstStyle/>
          <a:p>
            <a:pPr indent="0" marL="0">
              <a:buNone/>
            </a:pPr>
            <a:r>
              <a:rPr lang="en-US" sz="2000" b="1" dirty="0">
                <a:solidFill>
                  <a:srgbClr val="F5A623"/>
                </a:solidFill>
                <a:latin typeface="Cambria" pitchFamily="34" charset="0"/>
                <a:ea typeface="Cambria" pitchFamily="34" charset="-122"/>
                <a:cs typeface="Cambria" pitchFamily="34" charset="-120"/>
              </a:rPr>
              <a:t>Batasan</a:t>
            </a:r>
            <a:endParaRPr lang="en-US" sz="2000" dirty="0"/>
          </a:p>
        </p:txBody>
      </p:sp>
      <p:sp>
        <p:nvSpPr>
          <p:cNvPr id="7" name="Text 5"/>
          <p:cNvSpPr txBox="1"/>
          <p:nvPr/>
        </p:nvSpPr>
        <p:spPr>
          <a:xfrm>
            <a:off x="548640" y="2103120"/>
            <a:ext cx="5394960" cy="393192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rgbClr val="E6EDF3"/>
                </a:solidFill>
                <a:latin typeface="Calibri" pitchFamily="34" charset="0"/>
                <a:ea typeface="Calibri" pitchFamily="34" charset="-122"/>
                <a:cs typeface="Calibri" pitchFamily="34" charset="-120"/>
              </a:rPr>
              <a:t>Hanya banner Agent &amp; W-Engine terbatas</a:t>
            </a:r>
            <a:endParaRPr lang="en-US" sz="1600" dirty="0"/>
          </a:p>
          <a:p>
            <a:pPr marL="228600" indent="-228600">
              <a:spcAft>
                <a:spcPts val="1000"/>
              </a:spcAft>
              <a:buSzPct val="100000"/>
              <a:buChar char="•"/>
            </a:pPr>
            <a:r>
              <a:rPr lang="en-US" sz="1600" dirty="0">
                <a:solidFill>
                  <a:srgbClr val="E6EDF3"/>
                </a:solidFill>
                <a:latin typeface="Calibri" pitchFamily="34" charset="0"/>
                <a:ea typeface="Calibri" pitchFamily="34" charset="-122"/>
                <a:cs typeface="Calibri" pitchFamily="34" charset="-120"/>
              </a:rPr>
              <a:t>Yang diprediksi hanya S-Rank</a:t>
            </a:r>
            <a:endParaRPr lang="en-US" sz="1600" dirty="0"/>
          </a:p>
          <a:p>
            <a:pPr marL="228600" indent="-228600">
              <a:spcAft>
                <a:spcPts val="1000"/>
              </a:spcAft>
              <a:buSzPct val="100000"/>
              <a:buChar char="•"/>
            </a:pPr>
            <a:r>
              <a:rPr lang="en-US" sz="1600" dirty="0">
                <a:solidFill>
                  <a:srgbClr val="E6EDF3"/>
                </a:solidFill>
                <a:latin typeface="Calibri" pitchFamily="34" charset="0"/>
                <a:ea typeface="Calibri" pitchFamily="34" charset="-122"/>
                <a:cs typeface="Calibri" pitchFamily="34" charset="-120"/>
              </a:rPr>
              <a:t>Soft pity: estimasi komunitas, diperiksa dengan data asli</a:t>
            </a:r>
            <a:endParaRPr lang="en-US" sz="1600" dirty="0"/>
          </a:p>
          <a:p>
            <a:pPr marL="228600" indent="-228600">
              <a:spcAft>
                <a:spcPts val="1000"/>
              </a:spcAft>
              <a:buSzPct val="100000"/>
              <a:buChar char="•"/>
            </a:pPr>
            <a:r>
              <a:rPr lang="en-US" sz="1600" dirty="0">
                <a:solidFill>
                  <a:srgbClr val="E6EDF3"/>
                </a:solidFill>
                <a:latin typeface="Calibri" pitchFamily="34" charset="0"/>
                <a:ea typeface="Calibri" pitchFamily="34" charset="-122"/>
                <a:cs typeface="Calibri" pitchFamily="34" charset="-120"/>
              </a:rPr>
              <a:t>Data asli: akun anggota &amp; teman (anonim)</a:t>
            </a:r>
            <a:endParaRPr lang="en-US" sz="1600" dirty="0"/>
          </a:p>
          <a:p>
            <a:pPr marL="228600" indent="-228600">
              <a:spcAft>
                <a:spcPts val="1000"/>
              </a:spcAft>
              <a:buSzPct val="100000"/>
              <a:buChar char="•"/>
            </a:pPr>
            <a:r>
              <a:rPr lang="en-US" sz="1600" dirty="0">
                <a:solidFill>
                  <a:srgbClr val="E6EDF3"/>
                </a:solidFill>
                <a:latin typeface="Calibri" pitchFamily="34" charset="0"/>
                <a:ea typeface="Calibri" pitchFamily="34" charset="-122"/>
                <a:cs typeface="Calibri" pitchFamily="34" charset="-120"/>
              </a:rPr>
              <a:t>Ambil riwayat otomatis: PC Windows</a:t>
            </a:r>
            <a:endParaRPr lang="en-US" sz="1600" dirty="0"/>
          </a:p>
        </p:txBody>
      </p:sp>
      <p:sp>
        <p:nvSpPr>
          <p:cNvPr id="8" name="Text 6"/>
          <p:cNvSpPr txBox="1"/>
          <p:nvPr/>
        </p:nvSpPr>
        <p:spPr>
          <a:xfrm>
            <a:off x="6309360" y="1645920"/>
            <a:ext cx="5394960" cy="365760"/>
          </a:xfrm>
          <a:prstGeom prst="rect">
            <a:avLst/>
          </a:prstGeom>
          <a:noFill/>
          <a:ln/>
        </p:spPr>
        <p:txBody>
          <a:bodyPr wrap="square" lIns="0" tIns="0" rIns="0" bIns="0" rtlCol="0" anchor="ctr"/>
          <a:lstStyle/>
          <a:p>
            <a:pPr indent="0" marL="0">
              <a:buNone/>
            </a:pPr>
            <a:r>
              <a:rPr lang="en-US" sz="2000" b="1" dirty="0">
                <a:solidFill>
                  <a:srgbClr val="58A6FF"/>
                </a:solidFill>
                <a:latin typeface="Cambria" pitchFamily="34" charset="0"/>
                <a:ea typeface="Cambria" pitchFamily="34" charset="-122"/>
                <a:cs typeface="Cambria" pitchFamily="34" charset="-120"/>
              </a:rPr>
              <a:t>Tujuan</a:t>
            </a:r>
            <a:endParaRPr lang="en-US" sz="2000" dirty="0"/>
          </a:p>
        </p:txBody>
      </p:sp>
      <p:sp>
        <p:nvSpPr>
          <p:cNvPr id="9" name="Text 7"/>
          <p:cNvSpPr txBox="1"/>
          <p:nvPr/>
        </p:nvSpPr>
        <p:spPr>
          <a:xfrm>
            <a:off x="6309360" y="2103120"/>
            <a:ext cx="5303520" cy="393192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rgbClr val="E6EDF3"/>
                </a:solidFill>
                <a:latin typeface="Calibri" pitchFamily="34" charset="0"/>
                <a:ea typeface="Calibri" pitchFamily="34" charset="-122"/>
                <a:cs typeface="Calibri" pitchFamily="34" charset="-120"/>
              </a:rPr>
              <a:t>Menghitung peluang dengan Markov Chain</a:t>
            </a:r>
            <a:endParaRPr lang="en-US" sz="1600" dirty="0"/>
          </a:p>
          <a:p>
            <a:pPr marL="228600" indent="-228600">
              <a:spcAft>
                <a:spcPts val="1000"/>
              </a:spcAft>
              <a:buSzPct val="100000"/>
              <a:buChar char="•"/>
            </a:pPr>
            <a:r>
              <a:rPr lang="en-US" sz="1600" dirty="0">
                <a:solidFill>
                  <a:srgbClr val="E6EDF3"/>
                </a:solidFill>
                <a:latin typeface="Calibri" pitchFamily="34" charset="0"/>
                <a:ea typeface="Calibri" pitchFamily="34" charset="-122"/>
                <a:cs typeface="Calibri" pitchFamily="34" charset="-120"/>
              </a:rPr>
              <a:t>Menggali pola soft pity dari data asli</a:t>
            </a:r>
            <a:endParaRPr lang="en-US" sz="1600" dirty="0"/>
          </a:p>
          <a:p>
            <a:pPr marL="228600" indent="-228600">
              <a:spcAft>
                <a:spcPts val="1000"/>
              </a:spcAft>
              <a:buSzPct val="100000"/>
              <a:buChar char="•"/>
            </a:pPr>
            <a:r>
              <a:rPr lang="en-US" sz="1600" dirty="0">
                <a:solidFill>
                  <a:srgbClr val="E6EDF3"/>
                </a:solidFill>
                <a:latin typeface="Calibri" pitchFamily="34" charset="0"/>
                <a:ea typeface="Calibri" pitchFamily="34" charset="-122"/>
                <a:cs typeface="Calibri" pitchFamily="34" charset="-120"/>
              </a:rPr>
              <a:t>Membandingkan 6 algoritma klasifikasi</a:t>
            </a:r>
            <a:endParaRPr lang="en-US" sz="1600" dirty="0"/>
          </a:p>
          <a:p>
            <a:pPr marL="228600" indent="-228600">
              <a:spcAft>
                <a:spcPts val="1000"/>
              </a:spcAft>
              <a:buSzPct val="100000"/>
              <a:buChar char="•"/>
            </a:pPr>
            <a:r>
              <a:rPr lang="en-US" sz="1600" dirty="0">
                <a:solidFill>
                  <a:srgbClr val="E6EDF3"/>
                </a:solidFill>
                <a:latin typeface="Calibri" pitchFamily="34" charset="0"/>
                <a:ea typeface="Calibri" pitchFamily="34" charset="-122"/>
                <a:cs typeface="Calibri" pitchFamily="34" charset="-120"/>
              </a:rPr>
              <a:t>Evaluasi yang tepat untuk data tidak seimbang</a:t>
            </a:r>
            <a:endParaRPr lang="en-US" sz="1600" dirty="0"/>
          </a:p>
          <a:p>
            <a:pPr marL="228600" indent="-228600">
              <a:spcAft>
                <a:spcPts val="1000"/>
              </a:spcAft>
              <a:buSzPct val="100000"/>
              <a:buChar char="•"/>
            </a:pPr>
            <a:r>
              <a:rPr lang="en-US" sz="1600" dirty="0">
                <a:solidFill>
                  <a:srgbClr val="E6EDF3"/>
                </a:solidFill>
                <a:latin typeface="Calibri" pitchFamily="34" charset="0"/>
                <a:ea typeface="Calibri" pitchFamily="34" charset="-122"/>
                <a:cs typeface="Calibri" pitchFamily="34" charset="-120"/>
              </a:rPr>
              <a:t>Aplikasi web yang nyaman di HP &amp; PC</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200" b="1" spc="300" kern="0" dirty="0">
                <a:solidFill>
                  <a:srgbClr val="F5A623"/>
                </a:solidFill>
                <a:latin typeface="Calibri" pitchFamily="34" charset="0"/>
                <a:ea typeface="Calibri" pitchFamily="34" charset="-122"/>
                <a:cs typeface="Calibri" pitchFamily="34" charset="-120"/>
              </a:rPr>
              <a:t>OBJEK PENELITIAN</a:t>
            </a:r>
            <a:endParaRPr lang="en-US" sz="1200" dirty="0"/>
          </a:p>
        </p:txBody>
      </p:sp>
      <p:sp>
        <p:nvSpPr>
          <p:cNvPr id="3" name="Text 1"/>
          <p:cNvSpPr txBox="1"/>
          <p:nvPr/>
        </p:nvSpPr>
        <p:spPr>
          <a:xfrm>
            <a:off x="548640" y="685800"/>
            <a:ext cx="11091672" cy="731520"/>
          </a:xfrm>
          <a:prstGeom prst="rect">
            <a:avLst/>
          </a:prstGeom>
          <a:noFill/>
          <a:ln/>
        </p:spPr>
        <p:txBody>
          <a:bodyPr wrap="square" lIns="0" tIns="0" rIns="0" bIns="0" rtlCol="0" anchor="ctr"/>
          <a:lstStyle/>
          <a:p>
            <a:pPr indent="0" marL="0">
              <a:buNone/>
            </a:pPr>
            <a:r>
              <a:rPr lang="en-US" sz="3200" b="1" dirty="0">
                <a:solidFill>
                  <a:srgbClr val="E6EDF3"/>
                </a:solidFill>
                <a:latin typeface="Cambria" pitchFamily="34" charset="0"/>
                <a:ea typeface="Cambria" pitchFamily="34" charset="-122"/>
                <a:cs typeface="Cambria" pitchFamily="34" charset="-120"/>
              </a:rPr>
              <a:t>Aturan dua banner terbatas</a:t>
            </a:r>
            <a:endParaRPr lang="en-US" sz="32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ZZZ Gacha Predictor · Kelompok 6 · A11.4502</a:t>
            </a:r>
            <a:endParaRPr lang="en-US" sz="1000" dirty="0"/>
          </a:p>
        </p:txBody>
      </p:sp>
      <p:sp>
        <p:nvSpPr>
          <p:cNvPr id="5" name="Text 3"/>
          <p:cNvSpPr txBox="1"/>
          <p:nvPr/>
        </p:nvSpPr>
        <p:spPr>
          <a:xfrm>
            <a:off x="10725912" y="6400800"/>
            <a:ext cx="914400" cy="228600"/>
          </a:xfrm>
          <a:prstGeom prst="rect">
            <a:avLst/>
          </a:prstGeom>
          <a:noFill/>
          <a:ln/>
        </p:spPr>
        <p:txBody>
          <a:bodyPr wrap="square" lIns="0" tIns="0" rIns="0" bIns="0" rtlCol="0" anchor="ctr"/>
          <a:lstStyle/>
          <a:p>
            <a:pPr algn="r" indent="0" marL="0">
              <a:buNone/>
            </a:pPr>
            <a:r>
              <a:rPr lang="en-US" sz="1000" dirty="0">
                <a:solidFill>
                  <a:srgbClr val="8B949E"/>
                </a:solidFill>
                <a:latin typeface="Calibri" pitchFamily="34" charset="0"/>
                <a:ea typeface="Calibri" pitchFamily="34" charset="-122"/>
                <a:cs typeface="Calibri" pitchFamily="34" charset="-120"/>
              </a:rPr>
              <a:t>7</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6766560" cy="914400"/>
        </p:xfrm>
        <a:graphic>
          <a:graphicData uri="http://schemas.openxmlformats.org/drawingml/2006/table">
            <a:tbl>
              <a:tblPr/>
              <a:tblGrid>
                <a:gridCol w="2194560"/>
                <a:gridCol w="1645920"/>
                <a:gridCol w="1737360"/>
                <a:gridCol w="1188720"/>
              </a:tblGrid>
              <a:tr h="457200">
                <a:tc>
                  <a:txBody>
                    <a:bodyPr/>
                    <a:lstStyle/>
                    <a:p>
                      <a:pPr algn="l" indent="0" marL="0">
                        <a:buNone/>
                      </a:pPr>
                      <a:r>
                        <a:rPr lang="en-US" sz="1300" b="1" dirty="0">
                          <a:solidFill>
                            <a:srgbClr val="F5A623"/>
                          </a:solidFill>
                          <a:latin typeface="Calibri" pitchFamily="34" charset="0"/>
                          <a:ea typeface="Calibri" pitchFamily="34" charset="-122"/>
                          <a:cs typeface="Calibri" pitchFamily="34" charset="-120"/>
                        </a:rPr>
                        <a:t>Parameter</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algn="ctr" indent="0" marL="0">
                        <a:buNone/>
                      </a:pPr>
                      <a:r>
                        <a:rPr lang="en-US" sz="1300" b="1" dirty="0">
                          <a:solidFill>
                            <a:srgbClr val="F5A623"/>
                          </a:solidFill>
                          <a:latin typeface="Calibri" pitchFamily="34" charset="0"/>
                          <a:ea typeface="Calibri" pitchFamily="34" charset="-122"/>
                          <a:cs typeface="Calibri" pitchFamily="34" charset="-120"/>
                        </a:rPr>
                        <a:t>Agent Terbatas</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algn="ctr" indent="0" marL="0">
                        <a:buNone/>
                      </a:pPr>
                      <a:r>
                        <a:rPr lang="en-US" sz="1300" b="1" dirty="0">
                          <a:solidFill>
                            <a:srgbClr val="F5A623"/>
                          </a:solidFill>
                          <a:latin typeface="Calibri" pitchFamily="34" charset="0"/>
                          <a:ea typeface="Calibri" pitchFamily="34" charset="-122"/>
                          <a:cs typeface="Calibri" pitchFamily="34" charset="-120"/>
                        </a:rPr>
                        <a:t>W-Engine Terbatas</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algn="ctr" indent="0" marL="0">
                        <a:buNone/>
                      </a:pPr>
                      <a:r>
                        <a:rPr lang="en-US" sz="1300" b="1" dirty="0">
                          <a:solidFill>
                            <a:srgbClr val="F5A623"/>
                          </a:solidFill>
                          <a:latin typeface="Calibri" pitchFamily="34" charset="0"/>
                          <a:ea typeface="Calibri" pitchFamily="34" charset="-122"/>
                          <a:cs typeface="Calibri" pitchFamily="34" charset="-120"/>
                        </a:rPr>
                        <a:t>Sumber</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r>
              <a:tr h="457200">
                <a:tc>
                  <a:txBody>
                    <a:bodyPr/>
                    <a:lstStyle/>
                    <a:p>
                      <a:pPr algn="l" indent="0" marL="0">
                        <a:buNone/>
                      </a:pPr>
                      <a:r>
                        <a:rPr lang="en-US" sz="1300" dirty="0">
                          <a:solidFill>
                            <a:srgbClr val="E6EDF3"/>
                          </a:solidFill>
                          <a:latin typeface="Calibri" pitchFamily="34" charset="0"/>
                          <a:ea typeface="Calibri" pitchFamily="34" charset="-122"/>
                          <a:cs typeface="Calibri" pitchFamily="34" charset="-120"/>
                        </a:rPr>
                        <a:t>Rate dasar S-Rank</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r>
                        <a:rPr lang="en-US" sz="1300" dirty="0">
                          <a:solidFill>
                            <a:srgbClr val="E6EDF3"/>
                          </a:solidFill>
                          <a:latin typeface="Calibri" pitchFamily="34" charset="0"/>
                          <a:ea typeface="Calibri" pitchFamily="34" charset="-122"/>
                          <a:cs typeface="Calibri" pitchFamily="34" charset="-120"/>
                        </a:rPr>
                        <a:t>0,6%</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r>
                        <a:rPr lang="en-US" sz="1300" dirty="0">
                          <a:solidFill>
                            <a:srgbClr val="E6EDF3"/>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r>
                        <a:rPr lang="en-US" sz="1300" dirty="0">
                          <a:solidFill>
                            <a:srgbClr val="E6EDF3"/>
                          </a:solidFill>
                          <a:latin typeface="Calibri" pitchFamily="34" charset="0"/>
                          <a:ea typeface="Calibri" pitchFamily="34" charset="-122"/>
                          <a:cs typeface="Calibri" pitchFamily="34" charset="-120"/>
                        </a:rPr>
                        <a:t>Resmi</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r>
              <a:tr h="457200">
                <a:tc>
                  <a:txBody>
                    <a:bodyPr/>
                    <a:lstStyle/>
                    <a:p>
                      <a:pPr algn="l" indent="0" marL="0">
                        <a:buNone/>
                      </a:pPr>
                      <a:r>
                        <a:rPr lang="en-US" sz="1300" dirty="0">
                          <a:solidFill>
                            <a:srgbClr val="E6EDF3"/>
                          </a:solidFill>
                          <a:latin typeface="Calibri" pitchFamily="34" charset="0"/>
                          <a:ea typeface="Calibri" pitchFamily="34" charset="-122"/>
                          <a:cs typeface="Calibri" pitchFamily="34" charset="-120"/>
                        </a:rPr>
                        <a:t>Rate gabungan</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c>
                  <a:txBody>
                    <a:bodyPr/>
                    <a:lstStyle/>
                    <a:p>
                      <a:pPr algn="ctr" indent="0" marL="0">
                        <a:buNone/>
                      </a:pPr>
                      <a:r>
                        <a:rPr lang="en-US" sz="1300" dirty="0">
                          <a:solidFill>
                            <a:srgbClr val="E6EDF3"/>
                          </a:solidFill>
                          <a:latin typeface="Calibri" pitchFamily="34" charset="0"/>
                          <a:ea typeface="Calibri" pitchFamily="34" charset="-122"/>
                          <a:cs typeface="Calibri" pitchFamily="34" charset="-120"/>
                        </a:rPr>
                        <a:t>1,6%</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c>
                  <a:txBody>
                    <a:bodyPr/>
                    <a:lstStyle/>
                    <a:p>
                      <a:pPr algn="ctr" indent="0" marL="0">
                        <a:buNone/>
                      </a:pPr>
                      <a:r>
                        <a:rPr lang="en-US" sz="1300" dirty="0">
                          <a:solidFill>
                            <a:srgbClr val="E6EDF3"/>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c>
                  <a:txBody>
                    <a:bodyPr/>
                    <a:lstStyle/>
                    <a:p>
                      <a:pPr algn="ctr" indent="0" marL="0">
                        <a:buNone/>
                      </a:pPr>
                      <a:r>
                        <a:rPr lang="en-US" sz="1300" dirty="0">
                          <a:solidFill>
                            <a:srgbClr val="E6EDF3"/>
                          </a:solidFill>
                          <a:latin typeface="Calibri" pitchFamily="34" charset="0"/>
                          <a:ea typeface="Calibri" pitchFamily="34" charset="-122"/>
                          <a:cs typeface="Calibri" pitchFamily="34" charset="-120"/>
                        </a:rPr>
                        <a:t>Resmi</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r>
              <a:tr h="457200">
                <a:tc>
                  <a:txBody>
                    <a:bodyPr/>
                    <a:lstStyle/>
                    <a:p>
                      <a:pPr algn="l" indent="0" marL="0">
                        <a:buNone/>
                      </a:pPr>
                      <a:r>
                        <a:rPr lang="en-US" sz="1300" dirty="0">
                          <a:solidFill>
                            <a:srgbClr val="E6EDF3"/>
                          </a:solidFill>
                          <a:latin typeface="Calibri" pitchFamily="34" charset="0"/>
                          <a:ea typeface="Calibri" pitchFamily="34" charset="-122"/>
                          <a:cs typeface="Calibri" pitchFamily="34" charset="-120"/>
                        </a:rPr>
                        <a:t>Hard pity</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r>
                        <a:rPr lang="en-US" sz="1300" dirty="0">
                          <a:solidFill>
                            <a:srgbClr val="E6EDF3"/>
                          </a:solidFill>
                          <a:latin typeface="Calibri" pitchFamily="34" charset="0"/>
                          <a:ea typeface="Calibri" pitchFamily="34" charset="-122"/>
                          <a:cs typeface="Calibri" pitchFamily="34" charset="-120"/>
                        </a:rPr>
                        <a:t>90</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r>
                        <a:rPr lang="en-US" sz="1300" dirty="0">
                          <a:solidFill>
                            <a:srgbClr val="E6EDF3"/>
                          </a:solidFill>
                          <a:latin typeface="Calibri" pitchFamily="34" charset="0"/>
                          <a:ea typeface="Calibri" pitchFamily="34" charset="-122"/>
                          <a:cs typeface="Calibri" pitchFamily="34" charset="-120"/>
                        </a:rPr>
                        <a:t>80</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r>
                        <a:rPr lang="en-US" sz="1300" dirty="0">
                          <a:solidFill>
                            <a:srgbClr val="E6EDF3"/>
                          </a:solidFill>
                          <a:latin typeface="Calibri" pitchFamily="34" charset="0"/>
                          <a:ea typeface="Calibri" pitchFamily="34" charset="-122"/>
                          <a:cs typeface="Calibri" pitchFamily="34" charset="-120"/>
                        </a:rPr>
                        <a:t>Resmi</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r>
              <a:tr h="457200">
                <a:tc>
                  <a:txBody>
                    <a:bodyPr/>
                    <a:lstStyle/>
                    <a:p>
                      <a:pPr algn="l" indent="0" marL="0">
                        <a:buNone/>
                      </a:pPr>
                      <a:r>
                        <a:rPr lang="en-US" sz="1300" dirty="0">
                          <a:solidFill>
                            <a:srgbClr val="E6EDF3"/>
                          </a:solidFill>
                          <a:latin typeface="Calibri" pitchFamily="34" charset="0"/>
                          <a:ea typeface="Calibri" pitchFamily="34" charset="-122"/>
                          <a:cs typeface="Calibri" pitchFamily="34" charset="-120"/>
                        </a:rPr>
                        <a:t>Peluang rate-up</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c>
                  <a:txBody>
                    <a:bodyPr/>
                    <a:lstStyle/>
                    <a:p>
                      <a:pPr algn="ctr" indent="0" marL="0">
                        <a:buNone/>
                      </a:pPr>
                      <a:r>
                        <a:rPr lang="en-US" sz="1300" dirty="0">
                          <a:solidFill>
                            <a:srgbClr val="E6EDF3"/>
                          </a:solidFill>
                          <a:latin typeface="Calibri" pitchFamily="34" charset="0"/>
                          <a:ea typeface="Calibri" pitchFamily="34" charset="-122"/>
                          <a:cs typeface="Calibri" pitchFamily="34" charset="-120"/>
                        </a:rPr>
                        <a:t>50% (50/50)</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c>
                  <a:txBody>
                    <a:bodyPr/>
                    <a:lstStyle/>
                    <a:p>
                      <a:pPr algn="ctr" indent="0" marL="0">
                        <a:buNone/>
                      </a:pPr>
                      <a:r>
                        <a:rPr lang="en-US" sz="1300" dirty="0">
                          <a:solidFill>
                            <a:srgbClr val="E6EDF3"/>
                          </a:solidFill>
                          <a:latin typeface="Calibri" pitchFamily="34" charset="0"/>
                          <a:ea typeface="Calibri" pitchFamily="34" charset="-122"/>
                          <a:cs typeface="Calibri" pitchFamily="34" charset="-120"/>
                        </a:rPr>
                        <a:t>75% (75/25)</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c>
                  <a:txBody>
                    <a:bodyPr/>
                    <a:lstStyle/>
                    <a:p>
                      <a:pPr algn="ctr" indent="0" marL="0">
                        <a:buNone/>
                      </a:pPr>
                      <a:r>
                        <a:rPr lang="en-US" sz="1300" dirty="0">
                          <a:solidFill>
                            <a:srgbClr val="E6EDF3"/>
                          </a:solidFill>
                          <a:latin typeface="Calibri" pitchFamily="34" charset="0"/>
                          <a:ea typeface="Calibri" pitchFamily="34" charset="-122"/>
                          <a:cs typeface="Calibri" pitchFamily="34" charset="-120"/>
                        </a:rPr>
                        <a:t>Resmi</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r>
              <a:tr h="457200">
                <a:tc>
                  <a:txBody>
                    <a:bodyPr/>
                    <a:lstStyle/>
                    <a:p>
                      <a:pPr algn="l" indent="0" marL="0">
                        <a:buNone/>
                      </a:pPr>
                      <a:r>
                        <a:rPr lang="en-US" sz="1300" dirty="0">
                          <a:solidFill>
                            <a:srgbClr val="E6EDF3"/>
                          </a:solidFill>
                          <a:latin typeface="Calibri" pitchFamily="34" charset="0"/>
                          <a:ea typeface="Calibri" pitchFamily="34" charset="-122"/>
                          <a:cs typeface="Calibri" pitchFamily="34" charset="-120"/>
                        </a:rPr>
                        <a:t>Soft pity mulai</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r>
                        <a:rPr lang="en-US" sz="1300" dirty="0">
                          <a:solidFill>
                            <a:srgbClr val="E6EDF3"/>
                          </a:solidFill>
                          <a:latin typeface="Calibri" pitchFamily="34" charset="0"/>
                          <a:ea typeface="Calibri" pitchFamily="34" charset="-122"/>
                          <a:cs typeface="Calibri" pitchFamily="34" charset="-120"/>
                        </a:rPr>
                        <a:t>± pull 74</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r>
                        <a:rPr lang="en-US" sz="1300" dirty="0">
                          <a:solidFill>
                            <a:srgbClr val="E6EDF3"/>
                          </a:solidFill>
                          <a:latin typeface="Calibri" pitchFamily="34" charset="0"/>
                          <a:ea typeface="Calibri" pitchFamily="34" charset="-122"/>
                          <a:cs typeface="Calibri" pitchFamily="34" charset="-120"/>
                        </a:rPr>
                        <a:t>± pull 65</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r>
                        <a:rPr lang="en-US" sz="1300" dirty="0">
                          <a:solidFill>
                            <a:srgbClr val="E6EDF3"/>
                          </a:solidFill>
                          <a:latin typeface="Calibri" pitchFamily="34" charset="0"/>
                          <a:ea typeface="Calibri" pitchFamily="34" charset="-122"/>
                          <a:cs typeface="Calibri" pitchFamily="34" charset="-120"/>
                        </a:rPr>
                        <a:t>Estimasi</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r>
            </a:tbl>
          </a:graphicData>
        </a:graphic>
      </p:graphicFrame>
      <p:sp>
        <p:nvSpPr>
          <p:cNvPr id="7" name="Shape 4"/>
          <p:cNvSpPr/>
          <p:nvPr/>
        </p:nvSpPr>
        <p:spPr>
          <a:xfrm>
            <a:off x="7680960" y="1645920"/>
            <a:ext cx="3931920" cy="2743200"/>
          </a:xfrm>
          <a:prstGeom prst="roundRect">
            <a:avLst>
              <a:gd name="adj" fmla="val 2667"/>
            </a:avLst>
          </a:prstGeom>
          <a:solidFill>
            <a:srgbClr val="1C2230"/>
          </a:solidFill>
          <a:ln w="9525">
            <a:solidFill>
              <a:srgbClr val="30363D"/>
            </a:solidFill>
            <a:prstDash val="solid"/>
          </a:ln>
        </p:spPr>
      </p:sp>
      <p:sp>
        <p:nvSpPr>
          <p:cNvPr id="8" name="Text 5"/>
          <p:cNvSpPr txBox="1"/>
          <p:nvPr/>
        </p:nvSpPr>
        <p:spPr>
          <a:xfrm>
            <a:off x="7909560" y="1874520"/>
            <a:ext cx="3474720" cy="411480"/>
          </a:xfrm>
          <a:prstGeom prst="rect">
            <a:avLst/>
          </a:prstGeom>
          <a:noFill/>
          <a:ln/>
        </p:spPr>
        <p:txBody>
          <a:bodyPr wrap="square" lIns="0" tIns="0" rIns="0" bIns="0" rtlCol="0" anchor="t"/>
          <a:lstStyle/>
          <a:p>
            <a:pPr indent="0" marL="0">
              <a:buNone/>
            </a:pPr>
            <a:r>
              <a:rPr lang="en-US" sz="1800" b="1" dirty="0">
                <a:solidFill>
                  <a:srgbClr val="58A6FF"/>
                </a:solidFill>
                <a:latin typeface="Cambria" pitchFamily="34" charset="0"/>
                <a:ea typeface="Cambria" pitchFamily="34" charset="-122"/>
                <a:cs typeface="Cambria" pitchFamily="34" charset="-120"/>
              </a:rPr>
              <a:t>Guaranteed</a:t>
            </a:r>
            <a:endParaRPr lang="en-US" sz="1800" dirty="0"/>
          </a:p>
        </p:txBody>
      </p:sp>
      <p:sp>
        <p:nvSpPr>
          <p:cNvPr id="9" name="Text 6"/>
          <p:cNvSpPr txBox="1"/>
          <p:nvPr/>
        </p:nvSpPr>
        <p:spPr>
          <a:xfrm>
            <a:off x="7909560" y="2331720"/>
            <a:ext cx="3474720" cy="1874520"/>
          </a:xfrm>
          <a:prstGeom prst="rect">
            <a:avLst/>
          </a:prstGeom>
          <a:noFill/>
          <a:ln/>
        </p:spPr>
        <p:txBody>
          <a:bodyPr wrap="square" lIns="0" tIns="0" rIns="0" bIns="0" rtlCol="0" anchor="t"/>
          <a:lstStyle/>
          <a:p>
            <a:pPr indent="0" marL="0">
              <a:spcAft>
                <a:spcPts val="400"/>
              </a:spcAft>
              <a:buNone/>
            </a:pPr>
            <a:r>
              <a:rPr lang="en-US" sz="1500" dirty="0">
                <a:solidFill>
                  <a:srgbClr val="A9B4C2"/>
                </a:solidFill>
                <a:latin typeface="Calibri" pitchFamily="34" charset="0"/>
                <a:ea typeface="Calibri" pitchFamily="34" charset="-122"/>
                <a:cs typeface="Calibri" pitchFamily="34" charset="-120"/>
              </a:rPr>
              <a:t>Kalah 50/50 (dapat S standar) → S-Rank berikutnya pasti rate-up.</a:t>
            </a:r>
            <a:endParaRPr lang="en-US" sz="1500" dirty="0"/>
          </a:p>
        </p:txBody>
      </p:sp>
      <p:sp>
        <p:nvSpPr>
          <p:cNvPr id="10" name="Shape 7"/>
          <p:cNvSpPr/>
          <p:nvPr/>
        </p:nvSpPr>
        <p:spPr>
          <a:xfrm>
            <a:off x="7680960" y="4572000"/>
            <a:ext cx="3931920" cy="1463040"/>
          </a:xfrm>
          <a:prstGeom prst="roundRect">
            <a:avLst>
              <a:gd name="adj" fmla="val 5000"/>
            </a:avLst>
          </a:prstGeom>
          <a:solidFill>
            <a:srgbClr val="1C2230"/>
          </a:solidFill>
          <a:ln w="9525">
            <a:solidFill>
              <a:srgbClr val="30363D"/>
            </a:solidFill>
            <a:prstDash val="solid"/>
          </a:ln>
        </p:spPr>
      </p:sp>
      <p:sp>
        <p:nvSpPr>
          <p:cNvPr id="11" name="Text 8"/>
          <p:cNvSpPr txBox="1"/>
          <p:nvPr/>
        </p:nvSpPr>
        <p:spPr>
          <a:xfrm>
            <a:off x="7909560" y="4800600"/>
            <a:ext cx="3474720" cy="411480"/>
          </a:xfrm>
          <a:prstGeom prst="rect">
            <a:avLst/>
          </a:prstGeom>
          <a:noFill/>
          <a:ln/>
        </p:spPr>
        <p:txBody>
          <a:bodyPr wrap="square" lIns="0" tIns="0" rIns="0" bIns="0" rtlCol="0" anchor="t"/>
          <a:lstStyle/>
          <a:p>
            <a:pPr indent="0" marL="0">
              <a:buNone/>
            </a:pPr>
            <a:r>
              <a:rPr lang="en-US" sz="1800" b="1" dirty="0">
                <a:solidFill>
                  <a:srgbClr val="8B949E"/>
                </a:solidFill>
                <a:latin typeface="Cambria" pitchFamily="34" charset="0"/>
                <a:ea typeface="Cambria" pitchFamily="34" charset="-122"/>
                <a:cs typeface="Cambria" pitchFamily="34" charset="-120"/>
              </a:rPr>
              <a:t>Batasan</a:t>
            </a:r>
            <a:endParaRPr lang="en-US" sz="1800" dirty="0"/>
          </a:p>
        </p:txBody>
      </p:sp>
      <p:sp>
        <p:nvSpPr>
          <p:cNvPr id="12" name="Text 9"/>
          <p:cNvSpPr txBox="1"/>
          <p:nvPr/>
        </p:nvSpPr>
        <p:spPr>
          <a:xfrm>
            <a:off x="7909560" y="5257800"/>
            <a:ext cx="3474720" cy="594360"/>
          </a:xfrm>
          <a:prstGeom prst="rect">
            <a:avLst/>
          </a:prstGeom>
          <a:noFill/>
          <a:ln/>
        </p:spPr>
        <p:txBody>
          <a:bodyPr wrap="square" lIns="0" tIns="0" rIns="0" bIns="0" rtlCol="0" anchor="t"/>
          <a:lstStyle/>
          <a:p>
            <a:pPr indent="0" marL="0">
              <a:spcAft>
                <a:spcPts val="400"/>
              </a:spcAft>
              <a:buNone/>
            </a:pPr>
            <a:r>
              <a:rPr lang="en-US" sz="1400" dirty="0">
                <a:solidFill>
                  <a:srgbClr val="A9B4C2"/>
                </a:solidFill>
                <a:latin typeface="Calibri" pitchFamily="34" charset="0"/>
                <a:ea typeface="Calibri" pitchFamily="34" charset="-122"/>
                <a:cs typeface="Calibri" pitchFamily="34" charset="-120"/>
              </a:rPr>
              <a:t>Banner standar &amp; Bangboo tidak dibahas.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200" b="1" spc="300" kern="0" dirty="0">
                <a:solidFill>
                  <a:srgbClr val="F5A623"/>
                </a:solidFill>
                <a:latin typeface="Calibri" pitchFamily="34" charset="0"/>
                <a:ea typeface="Calibri" pitchFamily="34" charset="-122"/>
                <a:cs typeface="Calibri" pitchFamily="34" charset="-120"/>
              </a:rPr>
              <a:t>LANDASAN TEORI</a:t>
            </a:r>
            <a:endParaRPr lang="en-US" sz="1200" dirty="0"/>
          </a:p>
        </p:txBody>
      </p:sp>
      <p:sp>
        <p:nvSpPr>
          <p:cNvPr id="3" name="Text 1"/>
          <p:cNvSpPr txBox="1"/>
          <p:nvPr/>
        </p:nvSpPr>
        <p:spPr>
          <a:xfrm>
            <a:off x="548640" y="685800"/>
            <a:ext cx="11091672" cy="731520"/>
          </a:xfrm>
          <a:prstGeom prst="rect">
            <a:avLst/>
          </a:prstGeom>
          <a:noFill/>
          <a:ln/>
        </p:spPr>
        <p:txBody>
          <a:bodyPr wrap="square" lIns="0" tIns="0" rIns="0" bIns="0" rtlCol="0" anchor="ctr"/>
          <a:lstStyle/>
          <a:p>
            <a:pPr indent="0" marL="0">
              <a:buNone/>
            </a:pPr>
            <a:r>
              <a:rPr lang="en-US" sz="3200" b="1" dirty="0">
                <a:solidFill>
                  <a:srgbClr val="E6EDF3"/>
                </a:solidFill>
                <a:latin typeface="Cambria" pitchFamily="34" charset="0"/>
                <a:ea typeface="Cambria" pitchFamily="34" charset="-122"/>
                <a:cs typeface="Cambria" pitchFamily="34" charset="-120"/>
              </a:rPr>
              <a:t>Markov Chain: peluang dari aturan banner</a:t>
            </a:r>
            <a:endParaRPr lang="en-US" sz="32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ZZZ Gacha Predictor · Kelompok 6 · A11.4502</a:t>
            </a:r>
            <a:endParaRPr lang="en-US" sz="1000" dirty="0"/>
          </a:p>
        </p:txBody>
      </p:sp>
      <p:sp>
        <p:nvSpPr>
          <p:cNvPr id="5" name="Text 3"/>
          <p:cNvSpPr txBox="1"/>
          <p:nvPr/>
        </p:nvSpPr>
        <p:spPr>
          <a:xfrm>
            <a:off x="10725912" y="6400800"/>
            <a:ext cx="914400" cy="228600"/>
          </a:xfrm>
          <a:prstGeom prst="rect">
            <a:avLst/>
          </a:prstGeom>
          <a:noFill/>
          <a:ln/>
        </p:spPr>
        <p:txBody>
          <a:bodyPr wrap="square" lIns="0" tIns="0" rIns="0" bIns="0" rtlCol="0" anchor="ctr"/>
          <a:lstStyle/>
          <a:p>
            <a:pPr algn="r" indent="0" marL="0">
              <a:buNone/>
            </a:pPr>
            <a:r>
              <a:rPr lang="en-US" sz="1000" dirty="0">
                <a:solidFill>
                  <a:srgbClr val="8B949E"/>
                </a:solidFill>
                <a:latin typeface="Calibri" pitchFamily="34" charset="0"/>
                <a:ea typeface="Calibri" pitchFamily="34" charset="-122"/>
                <a:cs typeface="Calibri" pitchFamily="34" charset="-120"/>
              </a:rPr>
              <a:t>8</a:t>
            </a:r>
            <a:endParaRPr lang="en-US" sz="1000" dirty="0"/>
          </a:p>
        </p:txBody>
      </p:sp>
      <p:sp>
        <p:nvSpPr>
          <p:cNvPr id="6" name="Shape 4"/>
          <p:cNvSpPr/>
          <p:nvPr/>
        </p:nvSpPr>
        <p:spPr>
          <a:xfrm>
            <a:off x="438912" y="1554480"/>
            <a:ext cx="5705856" cy="2194560"/>
          </a:xfrm>
          <a:prstGeom prst="roundRect">
            <a:avLst>
              <a:gd name="adj" fmla="val 2500"/>
            </a:avLst>
          </a:prstGeom>
          <a:solidFill>
            <a:srgbClr val="FFFFFF"/>
          </a:solidFill>
          <a:ln w="12700">
            <a:solidFill>
              <a:srgbClr val="30363D"/>
            </a:solidFill>
            <a:prstDash val="solid"/>
          </a:ln>
        </p:spPr>
      </p:sp>
      <p:pic>
        <p:nvPicPr>
          <p:cNvPr id="7" name="Image 0" descr="fig_markov.png">    </p:cNvPr>
          <p:cNvPicPr>
            <a:picLocks noChangeAspect="1"/>
          </p:cNvPicPr>
          <p:nvPr/>
        </p:nvPicPr>
        <p:blipFill>
          <a:blip r:embed="rId1"/>
          <a:stretch>
            <a:fillRect/>
          </a:stretch>
        </p:blipFill>
        <p:spPr>
          <a:xfrm>
            <a:off x="548640" y="1664208"/>
            <a:ext cx="5486400" cy="1975104"/>
          </a:xfrm>
          <a:prstGeom prst="rect">
            <a:avLst/>
          </a:prstGeom>
        </p:spPr>
      </p:pic>
      <p:sp>
        <p:nvSpPr>
          <p:cNvPr id="8" name="Shape 5"/>
          <p:cNvSpPr/>
          <p:nvPr/>
        </p:nvSpPr>
        <p:spPr>
          <a:xfrm>
            <a:off x="775796" y="3822192"/>
            <a:ext cx="5032088" cy="2505456"/>
          </a:xfrm>
          <a:prstGeom prst="roundRect">
            <a:avLst>
              <a:gd name="adj" fmla="val 2190"/>
            </a:avLst>
          </a:prstGeom>
          <a:solidFill>
            <a:srgbClr val="FFFFFF"/>
          </a:solidFill>
          <a:ln w="12700">
            <a:solidFill>
              <a:srgbClr val="30363D"/>
            </a:solidFill>
            <a:prstDash val="solid"/>
          </a:ln>
        </p:spPr>
      </p:sp>
      <p:pic>
        <p:nvPicPr>
          <p:cNvPr id="9" name="Image 1" descr="fig_hazard.png">    </p:cNvPr>
          <p:cNvPicPr>
            <a:picLocks noChangeAspect="1"/>
          </p:cNvPicPr>
          <p:nvPr/>
        </p:nvPicPr>
        <p:blipFill>
          <a:blip r:embed="rId2"/>
          <a:stretch>
            <a:fillRect/>
          </a:stretch>
        </p:blipFill>
        <p:spPr>
          <a:xfrm>
            <a:off x="885524" y="3931920"/>
            <a:ext cx="4812632" cy="2286000"/>
          </a:xfrm>
          <a:prstGeom prst="rect">
            <a:avLst/>
          </a:prstGeom>
        </p:spPr>
      </p:pic>
      <p:sp>
        <p:nvSpPr>
          <p:cNvPr id="10" name="Text 6"/>
          <p:cNvSpPr txBox="1"/>
          <p:nvPr/>
        </p:nvSpPr>
        <p:spPr>
          <a:xfrm>
            <a:off x="6492240" y="1737360"/>
            <a:ext cx="5120640" cy="4389120"/>
          </a:xfrm>
          <a:prstGeom prst="rect">
            <a:avLst/>
          </a:prstGeom>
          <a:noFill/>
          <a:ln/>
        </p:spPr>
        <p:txBody>
          <a:bodyPr wrap="square" lIns="0" tIns="0" rIns="0" bIns="0" rtlCol="0" anchor="t"/>
          <a:lstStyle/>
          <a:p>
            <a:pPr marL="228600" indent="-228600">
              <a:spcAft>
                <a:spcPts val="1200"/>
              </a:spcAft>
              <a:buSzPct val="100000"/>
              <a:buChar char="•"/>
            </a:pPr>
            <a:r>
              <a:rPr lang="en-US" sz="1600" dirty="0">
                <a:solidFill>
                  <a:srgbClr val="E6EDF3"/>
                </a:solidFill>
                <a:latin typeface="Calibri" pitchFamily="34" charset="0"/>
                <a:ea typeface="Calibri" pitchFamily="34" charset="-122"/>
                <a:cs typeface="Calibri" pitchFamily="34" charset="-120"/>
              </a:rPr>
              <a:t>Peluang S di pull ke-n hanya bergantung pada pity → cocok dimodelkan Markov Chain.</a:t>
            </a:r>
            <a:endParaRPr lang="en-US" sz="1600" dirty="0"/>
          </a:p>
          <a:p>
            <a:pPr marL="228600" indent="-228600">
              <a:spcAft>
                <a:spcPts val="1200"/>
              </a:spcAft>
              <a:buSzPct val="100000"/>
              <a:buChar char="•"/>
            </a:pPr>
            <a:r>
              <a:rPr lang="en-US" sz="1600" dirty="0">
                <a:solidFill>
                  <a:srgbClr val="E6EDF3"/>
                </a:solidFill>
                <a:latin typeface="Calibri" pitchFamily="34" charset="0"/>
                <a:ea typeface="Calibri" pitchFamily="34" charset="-122"/>
                <a:cs typeface="Calibri" pitchFamily="34" charset="-120"/>
              </a:rPr>
              <a:t>h(n) = rate dasar, lalu naik k per pull setelah soft pity, dan = 1 di hard pity.</a:t>
            </a:r>
            <a:endParaRPr lang="en-US" sz="1600" dirty="0"/>
          </a:p>
          <a:p>
            <a:pPr marL="228600" indent="-228600">
              <a:spcAft>
                <a:spcPts val="1200"/>
              </a:spcAft>
              <a:buSzPct val="100000"/>
              <a:buChar char="•"/>
            </a:pPr>
            <a:r>
              <a:rPr lang="en-US" sz="1600" dirty="0">
                <a:solidFill>
                  <a:srgbClr val="E6EDF3"/>
                </a:solidFill>
                <a:latin typeface="Calibri" pitchFamily="34" charset="0"/>
                <a:ea typeface="Calibri" pitchFamily="34" charset="-122"/>
                <a:cs typeface="Calibri" pitchFamily="34" charset="-120"/>
              </a:rPr>
              <a:t>k dicari dengan metode biseksi supaya rata-rata = rate gabungan resmi (k ≈ 5,3% Agent, 5,5% W-Engine).</a:t>
            </a:r>
            <a:endParaRPr lang="en-US" sz="1600" dirty="0"/>
          </a:p>
          <a:p>
            <a:pPr marL="228600" indent="-228600">
              <a:spcAft>
                <a:spcPts val="1200"/>
              </a:spcAft>
              <a:buSzPct val="100000"/>
              <a:buChar char="•"/>
            </a:pPr>
            <a:r>
              <a:rPr lang="en-US" sz="1600" dirty="0">
                <a:solidFill>
                  <a:srgbClr val="E6EDF3"/>
                </a:solidFill>
                <a:latin typeface="Calibri" pitchFamily="34" charset="0"/>
                <a:ea typeface="Calibri" pitchFamily="34" charset="-122"/>
                <a:cs typeface="Calibri" pitchFamily="34" charset="-120"/>
              </a:rPr>
              <a:t>Hasil: peluang dapat S / S rate-up dalam N pull dihitung langsung, tanpa simulasi.</a:t>
            </a:r>
            <a:endParaRPr lang="en-US" sz="1600" dirty="0"/>
          </a:p>
          <a:p>
            <a:pPr marL="228600" indent="-228600">
              <a:spcAft>
                <a:spcPts val="1200"/>
              </a:spcAft>
              <a:buSzPct val="100000"/>
              <a:buChar char="•"/>
            </a:pPr>
            <a:r>
              <a:rPr lang="en-US" sz="1600" dirty="0">
                <a:solidFill>
                  <a:srgbClr val="E6EDF3"/>
                </a:solidFill>
                <a:latin typeface="Calibri" pitchFamily="34" charset="0"/>
                <a:ea typeface="Calibri" pitchFamily="34" charset="-122"/>
                <a:cs typeface="Calibri" pitchFamily="34" charset="-120"/>
              </a:rPr>
              <a:t>Catatan: titik soft pity bukan angka resmi → diperiksa dengan data asli.</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200" b="1" spc="300" kern="0" dirty="0">
                <a:solidFill>
                  <a:srgbClr val="F5A623"/>
                </a:solidFill>
                <a:latin typeface="Calibri" pitchFamily="34" charset="0"/>
                <a:ea typeface="Calibri" pitchFamily="34" charset="-122"/>
                <a:cs typeface="Calibri" pitchFamily="34" charset="-120"/>
              </a:rPr>
              <a:t>LANDASAN TEORI</a:t>
            </a:r>
            <a:endParaRPr lang="en-US" sz="1200" dirty="0"/>
          </a:p>
        </p:txBody>
      </p:sp>
      <p:sp>
        <p:nvSpPr>
          <p:cNvPr id="3" name="Text 1"/>
          <p:cNvSpPr txBox="1"/>
          <p:nvPr/>
        </p:nvSpPr>
        <p:spPr>
          <a:xfrm>
            <a:off x="548640" y="685800"/>
            <a:ext cx="11091672" cy="731520"/>
          </a:xfrm>
          <a:prstGeom prst="rect">
            <a:avLst/>
          </a:prstGeom>
          <a:noFill/>
          <a:ln/>
        </p:spPr>
        <p:txBody>
          <a:bodyPr wrap="square" lIns="0" tIns="0" rIns="0" bIns="0" rtlCol="0" anchor="ctr"/>
          <a:lstStyle/>
          <a:p>
            <a:pPr indent="0" marL="0">
              <a:buNone/>
            </a:pPr>
            <a:r>
              <a:rPr lang="en-US" sz="3200" b="1" dirty="0">
                <a:solidFill>
                  <a:srgbClr val="E6EDF3"/>
                </a:solidFill>
                <a:latin typeface="Cambria" pitchFamily="34" charset="0"/>
                <a:ea typeface="Cambria" pitchFamily="34" charset="-122"/>
                <a:cs typeface="Cambria" pitchFamily="34" charset="-120"/>
              </a:rPr>
              <a:t>Enam algoritma klasifikasi yang dibandingkan</a:t>
            </a:r>
            <a:endParaRPr lang="en-US" sz="32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ZZZ Gacha Predictor · Kelompok 6 · A11.4502</a:t>
            </a:r>
            <a:endParaRPr lang="en-US" sz="1000" dirty="0"/>
          </a:p>
        </p:txBody>
      </p:sp>
      <p:sp>
        <p:nvSpPr>
          <p:cNvPr id="5" name="Text 3"/>
          <p:cNvSpPr txBox="1"/>
          <p:nvPr/>
        </p:nvSpPr>
        <p:spPr>
          <a:xfrm>
            <a:off x="10725912" y="6400800"/>
            <a:ext cx="914400" cy="228600"/>
          </a:xfrm>
          <a:prstGeom prst="rect">
            <a:avLst/>
          </a:prstGeom>
          <a:noFill/>
          <a:ln/>
        </p:spPr>
        <p:txBody>
          <a:bodyPr wrap="square" lIns="0" tIns="0" rIns="0" bIns="0" rtlCol="0" anchor="ctr"/>
          <a:lstStyle/>
          <a:p>
            <a:pPr algn="r" indent="0" marL="0">
              <a:buNone/>
            </a:pPr>
            <a:r>
              <a:rPr lang="en-US" sz="1000" dirty="0">
                <a:solidFill>
                  <a:srgbClr val="8B949E"/>
                </a:solidFill>
                <a:latin typeface="Calibri" pitchFamily="34" charset="0"/>
                <a:ea typeface="Calibri" pitchFamily="34" charset="-122"/>
                <a:cs typeface="Calibri" pitchFamily="34" charset="-120"/>
              </a:rPr>
              <a:t>9</a:t>
            </a:r>
            <a:endParaRPr lang="en-US" sz="1000" dirty="0"/>
          </a:p>
        </p:txBody>
      </p:sp>
      <p:sp>
        <p:nvSpPr>
          <p:cNvPr id="6" name="Shape 4"/>
          <p:cNvSpPr/>
          <p:nvPr/>
        </p:nvSpPr>
        <p:spPr>
          <a:xfrm>
            <a:off x="548640" y="1554480"/>
            <a:ext cx="3566160" cy="1828800"/>
          </a:xfrm>
          <a:prstGeom prst="roundRect">
            <a:avLst>
              <a:gd name="adj" fmla="val 4000"/>
            </a:avLst>
          </a:prstGeom>
          <a:solidFill>
            <a:srgbClr val="1C2230"/>
          </a:solidFill>
          <a:ln w="9525">
            <a:solidFill>
              <a:srgbClr val="30363D"/>
            </a:solidFill>
            <a:prstDash val="solid"/>
          </a:ln>
        </p:spPr>
      </p:sp>
      <p:sp>
        <p:nvSpPr>
          <p:cNvPr id="7" name="Text 5"/>
          <p:cNvSpPr txBox="1"/>
          <p:nvPr/>
        </p:nvSpPr>
        <p:spPr>
          <a:xfrm>
            <a:off x="777240" y="1783080"/>
            <a:ext cx="3108960" cy="411480"/>
          </a:xfrm>
          <a:prstGeom prst="rect">
            <a:avLst/>
          </a:prstGeom>
          <a:noFill/>
          <a:ln/>
        </p:spPr>
        <p:txBody>
          <a:bodyPr wrap="square" lIns="0" tIns="0" rIns="0" bIns="0" rtlCol="0" anchor="t"/>
          <a:lstStyle/>
          <a:p>
            <a:pPr indent="0" marL="0">
              <a:buNone/>
            </a:pPr>
            <a:r>
              <a:rPr lang="en-US" sz="2000" b="1" dirty="0">
                <a:solidFill>
                  <a:srgbClr val="BC8CFF"/>
                </a:solidFill>
                <a:latin typeface="Cambria" pitchFamily="34" charset="0"/>
                <a:ea typeface="Cambria" pitchFamily="34" charset="-122"/>
                <a:cs typeface="Cambria" pitchFamily="34" charset="-120"/>
              </a:rPr>
              <a:t>Naive Bayes</a:t>
            </a:r>
            <a:endParaRPr lang="en-US" sz="2000" dirty="0"/>
          </a:p>
        </p:txBody>
      </p:sp>
      <p:sp>
        <p:nvSpPr>
          <p:cNvPr id="8" name="Text 6"/>
          <p:cNvSpPr txBox="1"/>
          <p:nvPr/>
        </p:nvSpPr>
        <p:spPr>
          <a:xfrm>
            <a:off x="777240" y="2240280"/>
            <a:ext cx="3108960" cy="960120"/>
          </a:xfrm>
          <a:prstGeom prst="rect">
            <a:avLst/>
          </a:prstGeom>
          <a:noFill/>
          <a:ln/>
        </p:spPr>
        <p:txBody>
          <a:bodyPr wrap="square" lIns="0" tIns="0" rIns="0" bIns="0" rtlCol="0" anchor="t"/>
          <a:lstStyle/>
          <a:p>
            <a:pPr indent="0" marL="0">
              <a:spcAft>
                <a:spcPts val="400"/>
              </a:spcAft>
              <a:buNone/>
            </a:pPr>
            <a:r>
              <a:rPr lang="en-US" sz="1500" dirty="0">
                <a:solidFill>
                  <a:srgbClr val="A9B4C2"/>
                </a:solidFill>
                <a:latin typeface="Calibri" pitchFamily="34" charset="0"/>
                <a:ea typeface="Calibri" pitchFamily="34" charset="-122"/>
                <a:cs typeface="Calibri" pitchFamily="34" charset="-120"/>
              </a:rPr>
              <a:t>Probabilistik, asumsi fitur saling bebas &amp; berdistribusi normal.</a:t>
            </a:r>
            <a:endParaRPr lang="en-US" sz="1500" dirty="0"/>
          </a:p>
        </p:txBody>
      </p:sp>
      <p:sp>
        <p:nvSpPr>
          <p:cNvPr id="9" name="Shape 7"/>
          <p:cNvSpPr/>
          <p:nvPr/>
        </p:nvSpPr>
        <p:spPr>
          <a:xfrm>
            <a:off x="4297680" y="1554480"/>
            <a:ext cx="3566160" cy="1828800"/>
          </a:xfrm>
          <a:prstGeom prst="roundRect">
            <a:avLst>
              <a:gd name="adj" fmla="val 4000"/>
            </a:avLst>
          </a:prstGeom>
          <a:solidFill>
            <a:srgbClr val="1C2230"/>
          </a:solidFill>
          <a:ln w="9525">
            <a:solidFill>
              <a:srgbClr val="30363D"/>
            </a:solidFill>
            <a:prstDash val="solid"/>
          </a:ln>
        </p:spPr>
      </p:sp>
      <p:sp>
        <p:nvSpPr>
          <p:cNvPr id="10" name="Text 8"/>
          <p:cNvSpPr txBox="1"/>
          <p:nvPr/>
        </p:nvSpPr>
        <p:spPr>
          <a:xfrm>
            <a:off x="4526280" y="1783080"/>
            <a:ext cx="3108960" cy="411480"/>
          </a:xfrm>
          <a:prstGeom prst="rect">
            <a:avLst/>
          </a:prstGeom>
          <a:noFill/>
          <a:ln/>
        </p:spPr>
        <p:txBody>
          <a:bodyPr wrap="square" lIns="0" tIns="0" rIns="0" bIns="0" rtlCol="0" anchor="t"/>
          <a:lstStyle/>
          <a:p>
            <a:pPr indent="0" marL="0">
              <a:buNone/>
            </a:pPr>
            <a:r>
              <a:rPr lang="en-US" sz="2000" b="1" dirty="0">
                <a:solidFill>
                  <a:srgbClr val="FF7EB6"/>
                </a:solidFill>
                <a:latin typeface="Cambria" pitchFamily="34" charset="0"/>
                <a:ea typeface="Cambria" pitchFamily="34" charset="-122"/>
                <a:cs typeface="Cambria" pitchFamily="34" charset="-120"/>
              </a:rPr>
              <a:t>KNN</a:t>
            </a:r>
            <a:endParaRPr lang="en-US" sz="2000" dirty="0"/>
          </a:p>
        </p:txBody>
      </p:sp>
      <p:sp>
        <p:nvSpPr>
          <p:cNvPr id="11" name="Text 9"/>
          <p:cNvSpPr txBox="1"/>
          <p:nvPr/>
        </p:nvSpPr>
        <p:spPr>
          <a:xfrm>
            <a:off x="4526280" y="2240280"/>
            <a:ext cx="3108960" cy="960120"/>
          </a:xfrm>
          <a:prstGeom prst="rect">
            <a:avLst/>
          </a:prstGeom>
          <a:noFill/>
          <a:ln/>
        </p:spPr>
        <p:txBody>
          <a:bodyPr wrap="square" lIns="0" tIns="0" rIns="0" bIns="0" rtlCol="0" anchor="t"/>
          <a:lstStyle/>
          <a:p>
            <a:pPr indent="0" marL="0">
              <a:spcAft>
                <a:spcPts val="400"/>
              </a:spcAft>
              <a:buNone/>
            </a:pPr>
            <a:r>
              <a:rPr lang="en-US" sz="1500" dirty="0">
                <a:solidFill>
                  <a:srgbClr val="A9B4C2"/>
                </a:solidFill>
                <a:latin typeface="Calibri" pitchFamily="34" charset="0"/>
                <a:ea typeface="Calibri" pitchFamily="34" charset="-122"/>
                <a:cs typeface="Calibri" pitchFamily="34" charset="-120"/>
              </a:rPr>
              <a:t>Menebak dari k data latih terdekat (fitur dinormalisasi).</a:t>
            </a:r>
            <a:endParaRPr lang="en-US" sz="1500" dirty="0"/>
          </a:p>
        </p:txBody>
      </p:sp>
      <p:sp>
        <p:nvSpPr>
          <p:cNvPr id="12" name="Shape 10"/>
          <p:cNvSpPr/>
          <p:nvPr/>
        </p:nvSpPr>
        <p:spPr>
          <a:xfrm>
            <a:off x="8046720" y="1554480"/>
            <a:ext cx="3566160" cy="1828800"/>
          </a:xfrm>
          <a:prstGeom prst="roundRect">
            <a:avLst>
              <a:gd name="adj" fmla="val 4000"/>
            </a:avLst>
          </a:prstGeom>
          <a:solidFill>
            <a:srgbClr val="1C2230"/>
          </a:solidFill>
          <a:ln w="9525">
            <a:solidFill>
              <a:srgbClr val="30363D"/>
            </a:solidFill>
            <a:prstDash val="solid"/>
          </a:ln>
        </p:spPr>
      </p:sp>
      <p:sp>
        <p:nvSpPr>
          <p:cNvPr id="13" name="Text 11"/>
          <p:cNvSpPr txBox="1"/>
          <p:nvPr/>
        </p:nvSpPr>
        <p:spPr>
          <a:xfrm>
            <a:off x="8275320" y="1783080"/>
            <a:ext cx="3108960" cy="411480"/>
          </a:xfrm>
          <a:prstGeom prst="rect">
            <a:avLst/>
          </a:prstGeom>
          <a:noFill/>
          <a:ln/>
        </p:spPr>
        <p:txBody>
          <a:bodyPr wrap="square" lIns="0" tIns="0" rIns="0" bIns="0" rtlCol="0" anchor="t"/>
          <a:lstStyle/>
          <a:p>
            <a:pPr indent="0" marL="0">
              <a:buNone/>
            </a:pPr>
            <a:r>
              <a:rPr lang="en-US" sz="2000" b="1" dirty="0">
                <a:solidFill>
                  <a:srgbClr val="58A6FF"/>
                </a:solidFill>
                <a:latin typeface="Cambria" pitchFamily="34" charset="0"/>
                <a:ea typeface="Cambria" pitchFamily="34" charset="-122"/>
                <a:cs typeface="Cambria" pitchFamily="34" charset="-120"/>
              </a:rPr>
              <a:t>Logistic Regression</a:t>
            </a:r>
            <a:endParaRPr lang="en-US" sz="2000" dirty="0"/>
          </a:p>
        </p:txBody>
      </p:sp>
      <p:sp>
        <p:nvSpPr>
          <p:cNvPr id="14" name="Text 12"/>
          <p:cNvSpPr txBox="1"/>
          <p:nvPr/>
        </p:nvSpPr>
        <p:spPr>
          <a:xfrm>
            <a:off x="8275320" y="2240280"/>
            <a:ext cx="3108960" cy="960120"/>
          </a:xfrm>
          <a:prstGeom prst="rect">
            <a:avLst/>
          </a:prstGeom>
          <a:noFill/>
          <a:ln/>
        </p:spPr>
        <p:txBody>
          <a:bodyPr wrap="square" lIns="0" tIns="0" rIns="0" bIns="0" rtlCol="0" anchor="t"/>
          <a:lstStyle/>
          <a:p>
            <a:pPr indent="0" marL="0">
              <a:spcAft>
                <a:spcPts val="400"/>
              </a:spcAft>
              <a:buNone/>
            </a:pPr>
            <a:r>
              <a:rPr lang="en-US" sz="1500" dirty="0">
                <a:solidFill>
                  <a:srgbClr val="A9B4C2"/>
                </a:solidFill>
                <a:latin typeface="Calibri" pitchFamily="34" charset="0"/>
                <a:ea typeface="Calibri" pitchFamily="34" charset="-122"/>
                <a:cs typeface="Calibri" pitchFamily="34" charset="-120"/>
              </a:rPr>
              <a:t>Kurva sigmoid dari kombinasi linear fitur.</a:t>
            </a:r>
            <a:endParaRPr lang="en-US" sz="1500" dirty="0"/>
          </a:p>
        </p:txBody>
      </p:sp>
      <p:sp>
        <p:nvSpPr>
          <p:cNvPr id="15" name="Shape 13"/>
          <p:cNvSpPr/>
          <p:nvPr/>
        </p:nvSpPr>
        <p:spPr>
          <a:xfrm>
            <a:off x="548640" y="3566160"/>
            <a:ext cx="3566160" cy="1828800"/>
          </a:xfrm>
          <a:prstGeom prst="roundRect">
            <a:avLst>
              <a:gd name="adj" fmla="val 4000"/>
            </a:avLst>
          </a:prstGeom>
          <a:solidFill>
            <a:srgbClr val="1C2230"/>
          </a:solidFill>
          <a:ln w="9525">
            <a:solidFill>
              <a:srgbClr val="30363D"/>
            </a:solidFill>
            <a:prstDash val="solid"/>
          </a:ln>
        </p:spPr>
      </p:sp>
      <p:sp>
        <p:nvSpPr>
          <p:cNvPr id="16" name="Text 14"/>
          <p:cNvSpPr txBox="1"/>
          <p:nvPr/>
        </p:nvSpPr>
        <p:spPr>
          <a:xfrm>
            <a:off x="777240" y="3794760"/>
            <a:ext cx="3108960" cy="411480"/>
          </a:xfrm>
          <a:prstGeom prst="rect">
            <a:avLst/>
          </a:prstGeom>
          <a:noFill/>
          <a:ln/>
        </p:spPr>
        <p:txBody>
          <a:bodyPr wrap="square" lIns="0" tIns="0" rIns="0" bIns="0" rtlCol="0" anchor="t"/>
          <a:lstStyle/>
          <a:p>
            <a:pPr indent="0" marL="0">
              <a:buNone/>
            </a:pPr>
            <a:r>
              <a:rPr lang="en-US" sz="2000" b="1" dirty="0">
                <a:solidFill>
                  <a:srgbClr val="F5A623"/>
                </a:solidFill>
                <a:latin typeface="Cambria" pitchFamily="34" charset="0"/>
                <a:ea typeface="Cambria" pitchFamily="34" charset="-122"/>
                <a:cs typeface="Cambria" pitchFamily="34" charset="-120"/>
              </a:rPr>
              <a:t>Decision Tree</a:t>
            </a:r>
            <a:endParaRPr lang="en-US" sz="2000" dirty="0"/>
          </a:p>
        </p:txBody>
      </p:sp>
      <p:sp>
        <p:nvSpPr>
          <p:cNvPr id="17" name="Text 15"/>
          <p:cNvSpPr txBox="1"/>
          <p:nvPr/>
        </p:nvSpPr>
        <p:spPr>
          <a:xfrm>
            <a:off x="777240" y="4251960"/>
            <a:ext cx="3108960" cy="960120"/>
          </a:xfrm>
          <a:prstGeom prst="rect">
            <a:avLst/>
          </a:prstGeom>
          <a:noFill/>
          <a:ln/>
        </p:spPr>
        <p:txBody>
          <a:bodyPr wrap="square" lIns="0" tIns="0" rIns="0" bIns="0" rtlCol="0" anchor="t"/>
          <a:lstStyle/>
          <a:p>
            <a:pPr indent="0" marL="0">
              <a:spcAft>
                <a:spcPts val="400"/>
              </a:spcAft>
              <a:buNone/>
            </a:pPr>
            <a:r>
              <a:rPr lang="en-US" sz="1500" dirty="0">
                <a:solidFill>
                  <a:srgbClr val="A9B4C2"/>
                </a:solidFill>
                <a:latin typeface="Calibri" pitchFamily="34" charset="0"/>
                <a:ea typeface="Calibri" pitchFamily="34" charset="-122"/>
                <a:cs typeface="Calibri" pitchFamily="34" charset="-120"/>
              </a:rPr>
              <a:t>Aturan jika–maka yang mudah dibaca manusia.</a:t>
            </a:r>
            <a:endParaRPr lang="en-US" sz="1500" dirty="0"/>
          </a:p>
        </p:txBody>
      </p:sp>
      <p:sp>
        <p:nvSpPr>
          <p:cNvPr id="18" name="Shape 16"/>
          <p:cNvSpPr/>
          <p:nvPr/>
        </p:nvSpPr>
        <p:spPr>
          <a:xfrm>
            <a:off x="4297680" y="3566160"/>
            <a:ext cx="3566160" cy="1828800"/>
          </a:xfrm>
          <a:prstGeom prst="roundRect">
            <a:avLst>
              <a:gd name="adj" fmla="val 4000"/>
            </a:avLst>
          </a:prstGeom>
          <a:solidFill>
            <a:srgbClr val="1C2230"/>
          </a:solidFill>
          <a:ln w="9525">
            <a:solidFill>
              <a:srgbClr val="30363D"/>
            </a:solidFill>
            <a:prstDash val="solid"/>
          </a:ln>
        </p:spPr>
      </p:sp>
      <p:sp>
        <p:nvSpPr>
          <p:cNvPr id="19" name="Text 17"/>
          <p:cNvSpPr txBox="1"/>
          <p:nvPr/>
        </p:nvSpPr>
        <p:spPr>
          <a:xfrm>
            <a:off x="4526280" y="3794760"/>
            <a:ext cx="3108960" cy="411480"/>
          </a:xfrm>
          <a:prstGeom prst="rect">
            <a:avLst/>
          </a:prstGeom>
          <a:noFill/>
          <a:ln/>
        </p:spPr>
        <p:txBody>
          <a:bodyPr wrap="square" lIns="0" tIns="0" rIns="0" bIns="0" rtlCol="0" anchor="t"/>
          <a:lstStyle/>
          <a:p>
            <a:pPr indent="0" marL="0">
              <a:buNone/>
            </a:pPr>
            <a:r>
              <a:rPr lang="en-US" sz="2000" b="1" dirty="0">
                <a:solidFill>
                  <a:srgbClr val="F85149"/>
                </a:solidFill>
                <a:latin typeface="Cambria" pitchFamily="34" charset="0"/>
                <a:ea typeface="Cambria" pitchFamily="34" charset="-122"/>
                <a:cs typeface="Cambria" pitchFamily="34" charset="-120"/>
              </a:rPr>
              <a:t>Random Forest</a:t>
            </a:r>
            <a:endParaRPr lang="en-US" sz="2000" dirty="0"/>
          </a:p>
        </p:txBody>
      </p:sp>
      <p:sp>
        <p:nvSpPr>
          <p:cNvPr id="20" name="Text 18"/>
          <p:cNvSpPr txBox="1"/>
          <p:nvPr/>
        </p:nvSpPr>
        <p:spPr>
          <a:xfrm>
            <a:off x="4526280" y="4251960"/>
            <a:ext cx="3108960" cy="960120"/>
          </a:xfrm>
          <a:prstGeom prst="rect">
            <a:avLst/>
          </a:prstGeom>
          <a:noFill/>
          <a:ln/>
        </p:spPr>
        <p:txBody>
          <a:bodyPr wrap="square" lIns="0" tIns="0" rIns="0" bIns="0" rtlCol="0" anchor="t"/>
          <a:lstStyle/>
          <a:p>
            <a:pPr indent="0" marL="0">
              <a:spcAft>
                <a:spcPts val="400"/>
              </a:spcAft>
              <a:buNone/>
            </a:pPr>
            <a:r>
              <a:rPr lang="en-US" sz="1500" dirty="0">
                <a:solidFill>
                  <a:srgbClr val="A9B4C2"/>
                </a:solidFill>
                <a:latin typeface="Calibri" pitchFamily="34" charset="0"/>
                <a:ea typeface="Calibri" pitchFamily="34" charset="-122"/>
                <a:cs typeface="Calibri" pitchFamily="34" charset="-120"/>
              </a:rPr>
              <a:t>150 pohon acak, hasil dirata-rata (bagging).</a:t>
            </a:r>
            <a:endParaRPr lang="en-US" sz="1500" dirty="0"/>
          </a:p>
        </p:txBody>
      </p:sp>
      <p:sp>
        <p:nvSpPr>
          <p:cNvPr id="21" name="Shape 19"/>
          <p:cNvSpPr/>
          <p:nvPr/>
        </p:nvSpPr>
        <p:spPr>
          <a:xfrm>
            <a:off x="8046720" y="3566160"/>
            <a:ext cx="3566160" cy="1828800"/>
          </a:xfrm>
          <a:prstGeom prst="roundRect">
            <a:avLst>
              <a:gd name="adj" fmla="val 4000"/>
            </a:avLst>
          </a:prstGeom>
          <a:solidFill>
            <a:srgbClr val="1C2230"/>
          </a:solidFill>
          <a:ln w="9525">
            <a:solidFill>
              <a:srgbClr val="30363D"/>
            </a:solidFill>
            <a:prstDash val="solid"/>
          </a:ln>
        </p:spPr>
      </p:sp>
      <p:sp>
        <p:nvSpPr>
          <p:cNvPr id="22" name="Text 20"/>
          <p:cNvSpPr txBox="1"/>
          <p:nvPr/>
        </p:nvSpPr>
        <p:spPr>
          <a:xfrm>
            <a:off x="8275320" y="3794760"/>
            <a:ext cx="3108960" cy="411480"/>
          </a:xfrm>
          <a:prstGeom prst="rect">
            <a:avLst/>
          </a:prstGeom>
          <a:noFill/>
          <a:ln/>
        </p:spPr>
        <p:txBody>
          <a:bodyPr wrap="square" lIns="0" tIns="0" rIns="0" bIns="0" rtlCol="0" anchor="t"/>
          <a:lstStyle/>
          <a:p>
            <a:pPr indent="0" marL="0">
              <a:buNone/>
            </a:pPr>
            <a:r>
              <a:rPr lang="en-US" sz="2000" b="1" dirty="0">
                <a:solidFill>
                  <a:srgbClr val="3FB950"/>
                </a:solidFill>
                <a:latin typeface="Cambria" pitchFamily="34" charset="0"/>
                <a:ea typeface="Cambria" pitchFamily="34" charset="-122"/>
                <a:cs typeface="Cambria" pitchFamily="34" charset="-120"/>
              </a:rPr>
              <a:t>XGBoost</a:t>
            </a:r>
            <a:endParaRPr lang="en-US" sz="2000" dirty="0"/>
          </a:p>
        </p:txBody>
      </p:sp>
      <p:sp>
        <p:nvSpPr>
          <p:cNvPr id="23" name="Text 21"/>
          <p:cNvSpPr txBox="1"/>
          <p:nvPr/>
        </p:nvSpPr>
        <p:spPr>
          <a:xfrm>
            <a:off x="8275320" y="4251960"/>
            <a:ext cx="3108960" cy="960120"/>
          </a:xfrm>
          <a:prstGeom prst="rect">
            <a:avLst/>
          </a:prstGeom>
          <a:noFill/>
          <a:ln/>
        </p:spPr>
        <p:txBody>
          <a:bodyPr wrap="square" lIns="0" tIns="0" rIns="0" bIns="0" rtlCol="0" anchor="t"/>
          <a:lstStyle/>
          <a:p>
            <a:pPr indent="0" marL="0">
              <a:spcAft>
                <a:spcPts val="400"/>
              </a:spcAft>
              <a:buNone/>
            </a:pPr>
            <a:r>
              <a:rPr lang="en-US" sz="1500" dirty="0">
                <a:solidFill>
                  <a:srgbClr val="A9B4C2"/>
                </a:solidFill>
                <a:latin typeface="Calibri" pitchFamily="34" charset="0"/>
                <a:ea typeface="Calibri" pitchFamily="34" charset="-122"/>
                <a:cs typeface="Calibri" pitchFamily="34" charset="-120"/>
              </a:rPr>
              <a:t>300 pohon berurutan memperbaiki kesalahan (boosting).</a:t>
            </a:r>
            <a:endParaRPr lang="en-US" sz="1500" dirty="0"/>
          </a:p>
        </p:txBody>
      </p:sp>
      <p:sp>
        <p:nvSpPr>
          <p:cNvPr id="24" name="Text 22"/>
          <p:cNvSpPr txBox="1"/>
          <p:nvPr/>
        </p:nvSpPr>
        <p:spPr>
          <a:xfrm>
            <a:off x="548640" y="5669280"/>
            <a:ext cx="11064240" cy="457200"/>
          </a:xfrm>
          <a:prstGeom prst="rect">
            <a:avLst/>
          </a:prstGeom>
          <a:noFill/>
          <a:ln/>
        </p:spPr>
        <p:txBody>
          <a:bodyPr wrap="square" lIns="0" tIns="0" rIns="0" bIns="0" rtlCol="0" anchor="ctr"/>
          <a:lstStyle/>
          <a:p>
            <a:pPr indent="0" marL="0">
              <a:buNone/>
            </a:pPr>
            <a:r>
              <a:rPr lang="en-US" sz="1500" dirty="0">
                <a:solidFill>
                  <a:srgbClr val="A9B4C2"/>
                </a:solidFill>
                <a:latin typeface="Calibri" pitchFamily="34" charset="0"/>
                <a:ea typeface="Calibri" pitchFamily="34" charset="-122"/>
                <a:cs typeface="Calibri" pitchFamily="34" charset="-120"/>
              </a:rPr>
              <a:t>Hyperparameter (k, var_smoothing, C, kedalaman pohon, learning rate) dipilih dengan grid search, bukan ditebak.</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200" b="1" spc="300" kern="0" dirty="0">
                <a:solidFill>
                  <a:srgbClr val="F5A623"/>
                </a:solidFill>
                <a:latin typeface="Calibri" pitchFamily="34" charset="0"/>
                <a:ea typeface="Calibri" pitchFamily="34" charset="-122"/>
                <a:cs typeface="Calibri" pitchFamily="34" charset="-120"/>
              </a:rPr>
              <a:t>LANDASAN TEORI</a:t>
            </a:r>
            <a:endParaRPr lang="en-US" sz="1200" dirty="0"/>
          </a:p>
        </p:txBody>
      </p:sp>
      <p:sp>
        <p:nvSpPr>
          <p:cNvPr id="3" name="Text 1"/>
          <p:cNvSpPr txBox="1"/>
          <p:nvPr/>
        </p:nvSpPr>
        <p:spPr>
          <a:xfrm>
            <a:off x="548640" y="685800"/>
            <a:ext cx="11091672" cy="731520"/>
          </a:xfrm>
          <a:prstGeom prst="rect">
            <a:avLst/>
          </a:prstGeom>
          <a:noFill/>
          <a:ln/>
        </p:spPr>
        <p:txBody>
          <a:bodyPr wrap="square" lIns="0" tIns="0" rIns="0" bIns="0" rtlCol="0" anchor="ctr"/>
          <a:lstStyle/>
          <a:p>
            <a:pPr indent="0" marL="0">
              <a:buNone/>
            </a:pPr>
            <a:r>
              <a:rPr lang="en-US" sz="3200" b="1" dirty="0">
                <a:solidFill>
                  <a:srgbClr val="E6EDF3"/>
                </a:solidFill>
                <a:latin typeface="Cambria" pitchFamily="34" charset="0"/>
                <a:ea typeface="Cambria" pitchFamily="34" charset="-122"/>
                <a:cs typeface="Cambria" pitchFamily="34" charset="-120"/>
              </a:rPr>
              <a:t>Evaluasi: akurasi saja tidak cukup</a:t>
            </a:r>
            <a:endParaRPr lang="en-US" sz="32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ZZZ Gacha Predictor · Kelompok 6 · A11.4502</a:t>
            </a:r>
            <a:endParaRPr lang="en-US" sz="1000" dirty="0"/>
          </a:p>
        </p:txBody>
      </p:sp>
      <p:sp>
        <p:nvSpPr>
          <p:cNvPr id="5" name="Text 3"/>
          <p:cNvSpPr txBox="1"/>
          <p:nvPr/>
        </p:nvSpPr>
        <p:spPr>
          <a:xfrm>
            <a:off x="10725912" y="6400800"/>
            <a:ext cx="914400" cy="228600"/>
          </a:xfrm>
          <a:prstGeom prst="rect">
            <a:avLst/>
          </a:prstGeom>
          <a:noFill/>
          <a:ln/>
        </p:spPr>
        <p:txBody>
          <a:bodyPr wrap="square" lIns="0" tIns="0" rIns="0" bIns="0" rtlCol="0" anchor="ctr"/>
          <a:lstStyle/>
          <a:p>
            <a:pPr algn="r" indent="0" marL="0">
              <a:buNone/>
            </a:pPr>
            <a:r>
              <a:rPr lang="en-US" sz="1000" dirty="0">
                <a:solidFill>
                  <a:srgbClr val="8B949E"/>
                </a:solidFill>
                <a:latin typeface="Calibri" pitchFamily="34" charset="0"/>
                <a:ea typeface="Calibri" pitchFamily="34" charset="-122"/>
                <a:cs typeface="Calibri" pitchFamily="34" charset="-120"/>
              </a:rPr>
              <a:t>10</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6400800" cy="914400"/>
        </p:xfrm>
        <a:graphic>
          <a:graphicData uri="http://schemas.openxmlformats.org/drawingml/2006/table">
            <a:tbl>
              <a:tblPr/>
              <a:tblGrid>
                <a:gridCol w="2194560"/>
                <a:gridCol w="4206240"/>
              </a:tblGrid>
              <a:tr h="502920">
                <a:tc>
                  <a:txBody>
                    <a:bodyPr/>
                    <a:lstStyle/>
                    <a:p>
                      <a:pPr algn="l" indent="0" marL="0">
                        <a:buNone/>
                      </a:pPr>
                      <a:r>
                        <a:rPr lang="en-US" sz="1400" b="1" dirty="0">
                          <a:solidFill>
                            <a:srgbClr val="F5A623"/>
                          </a:solidFill>
                          <a:latin typeface="Calibri" pitchFamily="34" charset="0"/>
                          <a:ea typeface="Calibri" pitchFamily="34" charset="-122"/>
                          <a:cs typeface="Calibri" pitchFamily="34" charset="-120"/>
                        </a:rPr>
                        <a:t>Metrik</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algn="ctr" indent="0" marL="0">
                        <a:buNone/>
                      </a:pPr>
                      <a:r>
                        <a:rPr lang="en-US" sz="1400" b="1" dirty="0">
                          <a:solidFill>
                            <a:srgbClr val="F5A623"/>
                          </a:solidFill>
                          <a:latin typeface="Calibri" pitchFamily="34" charset="0"/>
                          <a:ea typeface="Calibri" pitchFamily="34" charset="-122"/>
                          <a:cs typeface="Calibri" pitchFamily="34" charset="-120"/>
                        </a:rPr>
                        <a:t>Arti</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r>
              <a:tr h="502920">
                <a:tc>
                  <a:txBody>
                    <a:bodyPr/>
                    <a:lstStyle/>
                    <a:p>
                      <a:pPr algn="l" indent="0" marL="0">
                        <a:buNone/>
                      </a:pPr>
                      <a:r>
                        <a:rPr lang="en-US" sz="1400" dirty="0">
                          <a:solidFill>
                            <a:srgbClr val="E6EDF3"/>
                          </a:solidFill>
                          <a:latin typeface="Calibri" pitchFamily="34" charset="0"/>
                          <a:ea typeface="Calibri" pitchFamily="34" charset="-122"/>
                          <a:cs typeface="Calibri" pitchFamily="34" charset="-120"/>
                        </a:rPr>
                        <a:t>Accuracy</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r>
                        <a:rPr lang="en-US" sz="1400" dirty="0">
                          <a:solidFill>
                            <a:srgbClr val="E6EDF3"/>
                          </a:solidFill>
                          <a:latin typeface="Calibri" pitchFamily="34" charset="0"/>
                          <a:ea typeface="Calibri" pitchFamily="34" charset="-122"/>
                          <a:cs typeface="Calibri" pitchFamily="34" charset="-120"/>
                        </a:rPr>
                        <a:t>(TP + TN) / semua data</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r>
              <a:tr h="502920">
                <a:tc>
                  <a:txBody>
                    <a:bodyPr/>
                    <a:lstStyle/>
                    <a:p>
                      <a:pPr algn="l" indent="0" marL="0">
                        <a:buNone/>
                      </a:pPr>
                      <a:r>
                        <a:rPr lang="en-US" sz="1400" dirty="0">
                          <a:solidFill>
                            <a:srgbClr val="E6EDF3"/>
                          </a:solidFill>
                          <a:latin typeface="Calibri" pitchFamily="34" charset="0"/>
                          <a:ea typeface="Calibri" pitchFamily="34" charset="-122"/>
                          <a:cs typeface="Calibri" pitchFamily="34" charset="-120"/>
                        </a:rPr>
                        <a:t>Precision / Recall</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c>
                  <a:txBody>
                    <a:bodyPr/>
                    <a:lstStyle/>
                    <a:p>
                      <a:pPr algn="ctr" indent="0" marL="0">
                        <a:buNone/>
                      </a:pPr>
                      <a:r>
                        <a:rPr lang="en-US" sz="1400" dirty="0">
                          <a:solidFill>
                            <a:srgbClr val="E6EDF3"/>
                          </a:solidFill>
                          <a:latin typeface="Calibri" pitchFamily="34" charset="0"/>
                          <a:ea typeface="Calibri" pitchFamily="34" charset="-122"/>
                          <a:cs typeface="Calibri" pitchFamily="34" charset="-120"/>
                        </a:rPr>
                        <a:t>kualitas tebakan pada kelas "dapat S"</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r>
              <a:tr h="502920">
                <a:tc>
                  <a:txBody>
                    <a:bodyPr/>
                    <a:lstStyle/>
                    <a:p>
                      <a:pPr algn="l" indent="0" marL="0">
                        <a:buNone/>
                      </a:pPr>
                      <a:r>
                        <a:rPr lang="en-US" sz="1400" dirty="0">
                          <a:solidFill>
                            <a:srgbClr val="E6EDF3"/>
                          </a:solidFill>
                          <a:latin typeface="Calibri" pitchFamily="34" charset="0"/>
                          <a:ea typeface="Calibri" pitchFamily="34" charset="-122"/>
                          <a:cs typeface="Calibri" pitchFamily="34" charset="-120"/>
                        </a:rPr>
                        <a:t>F1-score</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r>
                        <a:rPr lang="en-US" sz="1400" dirty="0">
                          <a:solidFill>
                            <a:srgbClr val="E6EDF3"/>
                          </a:solidFill>
                          <a:latin typeface="Calibri" pitchFamily="34" charset="0"/>
                          <a:ea typeface="Calibri" pitchFamily="34" charset="-122"/>
                          <a:cs typeface="Calibri" pitchFamily="34" charset="-120"/>
                        </a:rPr>
                        <a:t>rata-rata harmonik precision &amp; recall</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r>
              <a:tr h="502920">
                <a:tc>
                  <a:txBody>
                    <a:bodyPr/>
                    <a:lstStyle/>
                    <a:p>
                      <a:pPr algn="l" indent="0" marL="0">
                        <a:buNone/>
                      </a:pPr>
                      <a:r>
                        <a:rPr lang="en-US" sz="1400" dirty="0">
                          <a:solidFill>
                            <a:srgbClr val="E6EDF3"/>
                          </a:solidFill>
                          <a:latin typeface="Calibri" pitchFamily="34" charset="0"/>
                          <a:ea typeface="Calibri" pitchFamily="34" charset="-122"/>
                          <a:cs typeface="Calibri" pitchFamily="34" charset="-120"/>
                        </a:rPr>
                        <a:t>Balanced Accuracy</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c>
                  <a:txBody>
                    <a:bodyPr/>
                    <a:lstStyle/>
                    <a:p>
                      <a:pPr algn="ctr" indent="0" marL="0">
                        <a:buNone/>
                      </a:pPr>
                      <a:r>
                        <a:rPr lang="en-US" sz="1400" dirty="0">
                          <a:solidFill>
                            <a:srgbClr val="E6EDF3"/>
                          </a:solidFill>
                          <a:latin typeface="Calibri" pitchFamily="34" charset="0"/>
                          <a:ea typeface="Calibri" pitchFamily="34" charset="-122"/>
                          <a:cs typeface="Calibri" pitchFamily="34" charset="-120"/>
                        </a:rPr>
                        <a:t>rata-rata recall dua kelas</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r>
              <a:tr h="502920">
                <a:tc>
                  <a:txBody>
                    <a:bodyPr/>
                    <a:lstStyle/>
                    <a:p>
                      <a:pPr algn="l" indent="0" marL="0">
                        <a:buNone/>
                      </a:pPr>
                      <a:r>
                        <a:rPr lang="en-US" sz="1400" dirty="0">
                          <a:solidFill>
                            <a:srgbClr val="E6EDF3"/>
                          </a:solidFill>
                          <a:latin typeface="Calibri" pitchFamily="34" charset="0"/>
                          <a:ea typeface="Calibri" pitchFamily="34" charset="-122"/>
                          <a:cs typeface="Calibri" pitchFamily="34" charset="-120"/>
                        </a:rPr>
                        <a:t>ROC-AUC</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r>
                        <a:rPr lang="en-US" sz="1400" dirty="0">
                          <a:solidFill>
                            <a:srgbClr val="E6EDF3"/>
                          </a:solidFill>
                          <a:latin typeface="Calibri" pitchFamily="34" charset="0"/>
                          <a:ea typeface="Calibri" pitchFamily="34" charset="-122"/>
                          <a:cs typeface="Calibri" pitchFamily="34" charset="-120"/>
                        </a:rPr>
                        <a:t>kemampuan membedakan kelas</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r>
              <a:tr h="502920">
                <a:tc>
                  <a:txBody>
                    <a:bodyPr/>
                    <a:lstStyle/>
                    <a:p>
                      <a:pPr algn="l" indent="0" marL="0">
                        <a:buNone/>
                      </a:pPr>
                      <a:r>
                        <a:rPr lang="en-US" sz="1400" dirty="0">
                          <a:solidFill>
                            <a:srgbClr val="E6EDF3"/>
                          </a:solidFill>
                          <a:latin typeface="Calibri" pitchFamily="34" charset="0"/>
                          <a:ea typeface="Calibri" pitchFamily="34" charset="-122"/>
                          <a:cs typeface="Calibri" pitchFamily="34" charset="-120"/>
                        </a:rPr>
                        <a:t>Log Loss</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c>
                  <a:txBody>
                    <a:bodyPr/>
                    <a:lstStyle/>
                    <a:p>
                      <a:pPr algn="ctr" indent="0" marL="0">
                        <a:buNone/>
                      </a:pPr>
                      <a:r>
                        <a:rPr lang="en-US" sz="1400" dirty="0">
                          <a:solidFill>
                            <a:srgbClr val="E6EDF3"/>
                          </a:solidFill>
                          <a:latin typeface="Calibri" pitchFamily="34" charset="0"/>
                          <a:ea typeface="Calibri" pitchFamily="34" charset="-122"/>
                          <a:cs typeface="Calibri" pitchFamily="34" charset="-120"/>
                        </a:rPr>
                        <a:t>ketepatan angka peluang (kecil = baik)</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r>
            </a:tbl>
          </a:graphicData>
        </a:graphic>
      </p:graphicFrame>
      <p:sp>
        <p:nvSpPr>
          <p:cNvPr id="7" name="Shape 4"/>
          <p:cNvSpPr/>
          <p:nvPr/>
        </p:nvSpPr>
        <p:spPr>
          <a:xfrm>
            <a:off x="7315200" y="1645920"/>
            <a:ext cx="4297680" cy="4114800"/>
          </a:xfrm>
          <a:prstGeom prst="roundRect">
            <a:avLst>
              <a:gd name="adj" fmla="val 1778"/>
            </a:avLst>
          </a:prstGeom>
          <a:solidFill>
            <a:srgbClr val="1C2230"/>
          </a:solidFill>
          <a:ln w="9525">
            <a:solidFill>
              <a:srgbClr val="30363D"/>
            </a:solidFill>
            <a:prstDash val="solid"/>
          </a:ln>
        </p:spPr>
      </p:sp>
      <p:sp>
        <p:nvSpPr>
          <p:cNvPr id="8" name="Text 5"/>
          <p:cNvSpPr txBox="1"/>
          <p:nvPr/>
        </p:nvSpPr>
        <p:spPr>
          <a:xfrm>
            <a:off x="7543800" y="1874520"/>
            <a:ext cx="3840480" cy="411480"/>
          </a:xfrm>
          <a:prstGeom prst="rect">
            <a:avLst/>
          </a:prstGeom>
          <a:noFill/>
          <a:ln/>
        </p:spPr>
        <p:txBody>
          <a:bodyPr wrap="square" lIns="0" tIns="0" rIns="0" bIns="0" rtlCol="0" anchor="t"/>
          <a:lstStyle/>
          <a:p>
            <a:pPr indent="0" marL="0">
              <a:buNone/>
            </a:pPr>
            <a:r>
              <a:rPr lang="en-US" sz="1800" b="1" dirty="0">
                <a:solidFill>
                  <a:srgbClr val="F5A623"/>
                </a:solidFill>
                <a:latin typeface="Cambria" pitchFamily="34" charset="0"/>
                <a:ea typeface="Cambria" pitchFamily="34" charset="-122"/>
                <a:cs typeface="Cambria" pitchFamily="34" charset="-120"/>
              </a:rPr>
              <a:t>Kenapa?</a:t>
            </a:r>
            <a:endParaRPr lang="en-US" sz="1800" dirty="0"/>
          </a:p>
        </p:txBody>
      </p:sp>
      <p:sp>
        <p:nvSpPr>
          <p:cNvPr id="9" name="Text 6"/>
          <p:cNvSpPr txBox="1"/>
          <p:nvPr/>
        </p:nvSpPr>
        <p:spPr>
          <a:xfrm>
            <a:off x="7543800" y="2331720"/>
            <a:ext cx="3840480" cy="3246120"/>
          </a:xfrm>
          <a:prstGeom prst="rect">
            <a:avLst/>
          </a:prstGeom>
          <a:noFill/>
          <a:ln/>
        </p:spPr>
        <p:txBody>
          <a:bodyPr wrap="square" lIns="0" tIns="0" rIns="0" bIns="0" rtlCol="0" anchor="t"/>
          <a:lstStyle/>
          <a:p>
            <a:pPr indent="0" marL="0">
              <a:spcAft>
                <a:spcPts val="400"/>
              </a:spcAft>
              <a:buNone/>
            </a:pPr>
            <a:r>
              <a:rPr lang="en-US" sz="1600" dirty="0">
                <a:solidFill>
                  <a:srgbClr val="A9B4C2"/>
                </a:solidFill>
                <a:latin typeface="Calibri" pitchFamily="34" charset="0"/>
                <a:ea typeface="Calibri" pitchFamily="34" charset="-122"/>
                <a:cs typeface="Calibri" pitchFamily="34" charset="-120"/>
              </a:rPr>
              <a:t>Kalau S-Rank hanya ±1,7%, model yang SELALU menebak "tidak dapat S" sudah benar 98% dari waktu. Akurasinya tinggi, tetapi tidak berguna. Karena itu metrik lain wajib ditampilkan, dan semuanya dihitung dari confusion matrix.</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200" b="1" spc="300" kern="0" dirty="0">
                <a:solidFill>
                  <a:srgbClr val="F5A623"/>
                </a:solidFill>
                <a:latin typeface="Calibri" pitchFamily="34" charset="0"/>
                <a:ea typeface="Calibri" pitchFamily="34" charset="-122"/>
                <a:cs typeface="Calibri" pitchFamily="34" charset="-120"/>
              </a:rPr>
              <a:t>METODE</a:t>
            </a:r>
            <a:endParaRPr lang="en-US" sz="1200" dirty="0"/>
          </a:p>
        </p:txBody>
      </p:sp>
      <p:sp>
        <p:nvSpPr>
          <p:cNvPr id="3" name="Text 1"/>
          <p:cNvSpPr txBox="1"/>
          <p:nvPr/>
        </p:nvSpPr>
        <p:spPr>
          <a:xfrm>
            <a:off x="548640" y="685800"/>
            <a:ext cx="11091672" cy="731520"/>
          </a:xfrm>
          <a:prstGeom prst="rect">
            <a:avLst/>
          </a:prstGeom>
          <a:noFill/>
          <a:ln/>
        </p:spPr>
        <p:txBody>
          <a:bodyPr wrap="square" lIns="0" tIns="0" rIns="0" bIns="0" rtlCol="0" anchor="ctr"/>
          <a:lstStyle/>
          <a:p>
            <a:pPr indent="0" marL="0">
              <a:buNone/>
            </a:pPr>
            <a:r>
              <a:rPr lang="en-US" sz="3200" b="1" dirty="0">
                <a:solidFill>
                  <a:srgbClr val="E6EDF3"/>
                </a:solidFill>
                <a:latin typeface="Cambria" pitchFamily="34" charset="0"/>
                <a:ea typeface="Cambria" pitchFamily="34" charset="-122"/>
                <a:cs typeface="Cambria" pitchFamily="34" charset="-120"/>
              </a:rPr>
              <a:t>Metodologi: CRISP-DM</a:t>
            </a:r>
            <a:endParaRPr lang="en-US" sz="32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ZZZ Gacha Predictor · Kelompok 6 · A11.4502</a:t>
            </a:r>
            <a:endParaRPr lang="en-US" sz="1000" dirty="0"/>
          </a:p>
        </p:txBody>
      </p:sp>
      <p:sp>
        <p:nvSpPr>
          <p:cNvPr id="5" name="Text 3"/>
          <p:cNvSpPr txBox="1"/>
          <p:nvPr/>
        </p:nvSpPr>
        <p:spPr>
          <a:xfrm>
            <a:off x="10725912" y="6400800"/>
            <a:ext cx="914400" cy="228600"/>
          </a:xfrm>
          <a:prstGeom prst="rect">
            <a:avLst/>
          </a:prstGeom>
          <a:noFill/>
          <a:ln/>
        </p:spPr>
        <p:txBody>
          <a:bodyPr wrap="square" lIns="0" tIns="0" rIns="0" bIns="0" rtlCol="0" anchor="ctr"/>
          <a:lstStyle/>
          <a:p>
            <a:pPr algn="r" indent="0" marL="0">
              <a:buNone/>
            </a:pPr>
            <a:r>
              <a:rPr lang="en-US" sz="1000" dirty="0">
                <a:solidFill>
                  <a:srgbClr val="8B949E"/>
                </a:solidFill>
                <a:latin typeface="Calibri" pitchFamily="34" charset="0"/>
                <a:ea typeface="Calibri" pitchFamily="34" charset="-122"/>
                <a:cs typeface="Calibri" pitchFamily="34" charset="-120"/>
              </a:rPr>
              <a:t>11</a:t>
            </a:r>
            <a:endParaRPr lang="en-US" sz="1000" dirty="0"/>
          </a:p>
        </p:txBody>
      </p:sp>
      <p:sp>
        <p:nvSpPr>
          <p:cNvPr id="6" name="Shape 4"/>
          <p:cNvSpPr/>
          <p:nvPr/>
        </p:nvSpPr>
        <p:spPr>
          <a:xfrm>
            <a:off x="548640" y="2103120"/>
            <a:ext cx="1645920" cy="1463040"/>
          </a:xfrm>
          <a:prstGeom prst="roundRect">
            <a:avLst>
              <a:gd name="adj" fmla="val 5000"/>
            </a:avLst>
          </a:prstGeom>
          <a:solidFill>
            <a:srgbClr val="1C2230"/>
          </a:solidFill>
          <a:ln w="12700">
            <a:solidFill>
              <a:srgbClr val="30363D"/>
            </a:solidFill>
            <a:prstDash val="solid"/>
          </a:ln>
        </p:spPr>
      </p:sp>
      <p:sp>
        <p:nvSpPr>
          <p:cNvPr id="7" name="Text 5"/>
          <p:cNvSpPr txBox="1"/>
          <p:nvPr/>
        </p:nvSpPr>
        <p:spPr>
          <a:xfrm>
            <a:off x="594360" y="2194560"/>
            <a:ext cx="1554480" cy="914400"/>
          </a:xfrm>
          <a:prstGeom prst="rect">
            <a:avLst/>
          </a:prstGeom>
          <a:noFill/>
          <a:ln/>
        </p:spPr>
        <p:txBody>
          <a:bodyPr wrap="square" lIns="0" tIns="0" rIns="0" bIns="0" rtlCol="0" anchor="ctr"/>
          <a:lstStyle/>
          <a:p>
            <a:pPr algn="ctr" indent="0" marL="0">
              <a:buNone/>
            </a:pPr>
            <a:r>
              <a:rPr lang="en-US" sz="1200" b="1" dirty="0">
                <a:solidFill>
                  <a:srgbClr val="E6EDF3"/>
                </a:solidFill>
                <a:latin typeface="Calibri" pitchFamily="34" charset="0"/>
                <a:ea typeface="Calibri" pitchFamily="34" charset="-122"/>
                <a:cs typeface="Calibri" pitchFamily="34" charset="-120"/>
              </a:rPr>
              <a:t>Business</a:t>
            </a:r>
            <a:endParaRPr lang="en-US" sz="1200" dirty="0"/>
          </a:p>
          <a:p>
            <a:pPr algn="ctr" indent="0" marL="0">
              <a:buNone/>
            </a:pPr>
            <a:r>
              <a:rPr lang="en-US" sz="1200" b="1" dirty="0">
                <a:solidFill>
                  <a:srgbClr val="E6EDF3"/>
                </a:solidFill>
                <a:latin typeface="Calibri" pitchFamily="34" charset="0"/>
                <a:ea typeface="Calibri" pitchFamily="34" charset="-122"/>
                <a:cs typeface="Calibri" pitchFamily="34" charset="-120"/>
              </a:rPr>
              <a:t>Understanding</a:t>
            </a:r>
            <a:endParaRPr lang="en-US" sz="1200" dirty="0"/>
          </a:p>
        </p:txBody>
      </p:sp>
      <p:sp>
        <p:nvSpPr>
          <p:cNvPr id="8" name="Text 6"/>
          <p:cNvSpPr txBox="1"/>
          <p:nvPr/>
        </p:nvSpPr>
        <p:spPr>
          <a:xfrm>
            <a:off x="640080" y="3154680"/>
            <a:ext cx="1463040" cy="320040"/>
          </a:xfrm>
          <a:prstGeom prst="rect">
            <a:avLst/>
          </a:prstGeom>
          <a:noFill/>
          <a:ln/>
        </p:spPr>
        <p:txBody>
          <a:bodyPr wrap="square" lIns="0" tIns="0" rIns="0" bIns="0" rtlCol="0" anchor="ctr"/>
          <a:lstStyle/>
          <a:p>
            <a:pPr algn="ctr" indent="0" marL="0">
              <a:buNone/>
            </a:pPr>
            <a:r>
              <a:rPr lang="en-US" sz="1200" b="1" dirty="0">
                <a:solidFill>
                  <a:srgbClr val="F5A623"/>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548640" y="3749040"/>
            <a:ext cx="1645920" cy="731520"/>
          </a:xfrm>
          <a:prstGeom prst="rect">
            <a:avLst/>
          </a:prstGeom>
          <a:noFill/>
          <a:ln/>
        </p:spPr>
        <p:txBody>
          <a:bodyPr wrap="square" lIns="0" tIns="0" rIns="0" bIns="0" rtlCol="0" anchor="t"/>
          <a:lstStyle/>
          <a:p>
            <a:pPr algn="ctr" indent="0" marL="0">
              <a:buNone/>
            </a:pPr>
            <a:r>
              <a:rPr lang="en-US" sz="1300" dirty="0">
                <a:solidFill>
                  <a:srgbClr val="A9B4C2"/>
                </a:solidFill>
                <a:latin typeface="Calibri" pitchFamily="34" charset="0"/>
                <a:ea typeface="Calibri" pitchFamily="34" charset="-122"/>
                <a:cs typeface="Calibri" pitchFamily="34" charset="-120"/>
              </a:rPr>
              <a:t>Kebutuhan pemain</a:t>
            </a:r>
            <a:endParaRPr lang="en-US" sz="1300" dirty="0"/>
          </a:p>
        </p:txBody>
      </p:sp>
      <p:sp>
        <p:nvSpPr>
          <p:cNvPr id="10" name="Shape 8"/>
          <p:cNvSpPr/>
          <p:nvPr/>
        </p:nvSpPr>
        <p:spPr>
          <a:xfrm>
            <a:off x="2221992" y="2715768"/>
            <a:ext cx="182880" cy="237744"/>
          </a:xfrm>
          <a:prstGeom prst="rightArrow">
            <a:avLst/>
          </a:prstGeom>
          <a:solidFill>
            <a:srgbClr val="F5A623"/>
          </a:solidFill>
          <a:ln w="12700">
            <a:solidFill>
              <a:srgbClr val="F5A623"/>
            </a:solidFill>
            <a:prstDash val="solid"/>
          </a:ln>
        </p:spPr>
      </p:sp>
      <p:sp>
        <p:nvSpPr>
          <p:cNvPr id="11" name="Shape 9"/>
          <p:cNvSpPr/>
          <p:nvPr/>
        </p:nvSpPr>
        <p:spPr>
          <a:xfrm>
            <a:off x="2423160" y="2103120"/>
            <a:ext cx="1645920" cy="1463040"/>
          </a:xfrm>
          <a:prstGeom prst="roundRect">
            <a:avLst>
              <a:gd name="adj" fmla="val 5000"/>
            </a:avLst>
          </a:prstGeom>
          <a:solidFill>
            <a:srgbClr val="1C2230"/>
          </a:solidFill>
          <a:ln w="12700">
            <a:solidFill>
              <a:srgbClr val="30363D"/>
            </a:solidFill>
            <a:prstDash val="solid"/>
          </a:ln>
        </p:spPr>
      </p:sp>
      <p:sp>
        <p:nvSpPr>
          <p:cNvPr id="12" name="Text 10"/>
          <p:cNvSpPr txBox="1"/>
          <p:nvPr/>
        </p:nvSpPr>
        <p:spPr>
          <a:xfrm>
            <a:off x="2468880" y="2194560"/>
            <a:ext cx="1554480" cy="914400"/>
          </a:xfrm>
          <a:prstGeom prst="rect">
            <a:avLst/>
          </a:prstGeom>
          <a:noFill/>
          <a:ln/>
        </p:spPr>
        <p:txBody>
          <a:bodyPr wrap="square" lIns="0" tIns="0" rIns="0" bIns="0" rtlCol="0" anchor="ctr"/>
          <a:lstStyle/>
          <a:p>
            <a:pPr algn="ctr" indent="0" marL="0">
              <a:buNone/>
            </a:pPr>
            <a:r>
              <a:rPr lang="en-US" sz="1200" b="1" dirty="0">
                <a:solidFill>
                  <a:srgbClr val="E6EDF3"/>
                </a:solidFill>
                <a:latin typeface="Calibri" pitchFamily="34" charset="0"/>
                <a:ea typeface="Calibri" pitchFamily="34" charset="-122"/>
                <a:cs typeface="Calibri" pitchFamily="34" charset="-120"/>
              </a:rPr>
              <a:t>Data</a:t>
            </a:r>
            <a:endParaRPr lang="en-US" sz="1200" dirty="0"/>
          </a:p>
          <a:p>
            <a:pPr algn="ctr" indent="0" marL="0">
              <a:buNone/>
            </a:pPr>
            <a:r>
              <a:rPr lang="en-US" sz="1200" b="1" dirty="0">
                <a:solidFill>
                  <a:srgbClr val="E6EDF3"/>
                </a:solidFill>
                <a:latin typeface="Calibri" pitchFamily="34" charset="0"/>
                <a:ea typeface="Calibri" pitchFamily="34" charset="-122"/>
                <a:cs typeface="Calibri" pitchFamily="34" charset="-120"/>
              </a:rPr>
              <a:t>Understanding</a:t>
            </a:r>
            <a:endParaRPr lang="en-US" sz="1200" dirty="0"/>
          </a:p>
        </p:txBody>
      </p:sp>
      <p:sp>
        <p:nvSpPr>
          <p:cNvPr id="13" name="Text 11"/>
          <p:cNvSpPr txBox="1"/>
          <p:nvPr/>
        </p:nvSpPr>
        <p:spPr>
          <a:xfrm>
            <a:off x="2514600" y="3154680"/>
            <a:ext cx="1463040" cy="320040"/>
          </a:xfrm>
          <a:prstGeom prst="rect">
            <a:avLst/>
          </a:prstGeom>
          <a:noFill/>
          <a:ln/>
        </p:spPr>
        <p:txBody>
          <a:bodyPr wrap="square" lIns="0" tIns="0" rIns="0" bIns="0" rtlCol="0" anchor="ctr"/>
          <a:lstStyle/>
          <a:p>
            <a:pPr algn="ctr" indent="0" marL="0">
              <a:buNone/>
            </a:pPr>
            <a:r>
              <a:rPr lang="en-US" sz="1200" b="1" dirty="0">
                <a:solidFill>
                  <a:srgbClr val="F5A623"/>
                </a:solidFill>
                <a:latin typeface="Calibri" pitchFamily="34" charset="0"/>
                <a:ea typeface="Calibri" pitchFamily="34" charset="-122"/>
                <a:cs typeface="Calibri" pitchFamily="34" charset="-120"/>
              </a:rPr>
              <a:t>2</a:t>
            </a:r>
            <a:endParaRPr lang="en-US" sz="1200" dirty="0"/>
          </a:p>
        </p:txBody>
      </p:sp>
      <p:sp>
        <p:nvSpPr>
          <p:cNvPr id="14" name="Text 12"/>
          <p:cNvSpPr txBox="1"/>
          <p:nvPr/>
        </p:nvSpPr>
        <p:spPr>
          <a:xfrm>
            <a:off x="2423160" y="3749040"/>
            <a:ext cx="1645920" cy="731520"/>
          </a:xfrm>
          <a:prstGeom prst="rect">
            <a:avLst/>
          </a:prstGeom>
          <a:noFill/>
          <a:ln/>
        </p:spPr>
        <p:txBody>
          <a:bodyPr wrap="square" lIns="0" tIns="0" rIns="0" bIns="0" rtlCol="0" anchor="t"/>
          <a:lstStyle/>
          <a:p>
            <a:pPr algn="ctr" indent="0" marL="0">
              <a:buNone/>
            </a:pPr>
            <a:r>
              <a:rPr lang="en-US" sz="1300" dirty="0">
                <a:solidFill>
                  <a:srgbClr val="A9B4C2"/>
                </a:solidFill>
                <a:latin typeface="Calibri" pitchFamily="34" charset="0"/>
                <a:ea typeface="Calibri" pitchFamily="34" charset="-122"/>
                <a:cs typeface="Calibri" pitchFamily="34" charset="-120"/>
              </a:rPr>
              <a:t>Struktur riwayat gacha</a:t>
            </a:r>
            <a:endParaRPr lang="en-US" sz="1300" dirty="0"/>
          </a:p>
        </p:txBody>
      </p:sp>
      <p:sp>
        <p:nvSpPr>
          <p:cNvPr id="15" name="Shape 13"/>
          <p:cNvSpPr/>
          <p:nvPr/>
        </p:nvSpPr>
        <p:spPr>
          <a:xfrm>
            <a:off x="4096512" y="2715768"/>
            <a:ext cx="182880" cy="237744"/>
          </a:xfrm>
          <a:prstGeom prst="rightArrow">
            <a:avLst/>
          </a:prstGeom>
          <a:solidFill>
            <a:srgbClr val="F5A623"/>
          </a:solidFill>
          <a:ln w="12700">
            <a:solidFill>
              <a:srgbClr val="F5A623"/>
            </a:solidFill>
            <a:prstDash val="solid"/>
          </a:ln>
        </p:spPr>
      </p:sp>
      <p:sp>
        <p:nvSpPr>
          <p:cNvPr id="16" name="Shape 14"/>
          <p:cNvSpPr/>
          <p:nvPr/>
        </p:nvSpPr>
        <p:spPr>
          <a:xfrm>
            <a:off x="4297680" y="2103120"/>
            <a:ext cx="1645920" cy="1463040"/>
          </a:xfrm>
          <a:prstGeom prst="roundRect">
            <a:avLst>
              <a:gd name="adj" fmla="val 5000"/>
            </a:avLst>
          </a:prstGeom>
          <a:solidFill>
            <a:srgbClr val="1C2230"/>
          </a:solidFill>
          <a:ln w="12700">
            <a:solidFill>
              <a:srgbClr val="30363D"/>
            </a:solidFill>
            <a:prstDash val="solid"/>
          </a:ln>
        </p:spPr>
      </p:sp>
      <p:sp>
        <p:nvSpPr>
          <p:cNvPr id="17" name="Text 15"/>
          <p:cNvSpPr txBox="1"/>
          <p:nvPr/>
        </p:nvSpPr>
        <p:spPr>
          <a:xfrm>
            <a:off x="4343400" y="2194560"/>
            <a:ext cx="1554480" cy="914400"/>
          </a:xfrm>
          <a:prstGeom prst="rect">
            <a:avLst/>
          </a:prstGeom>
          <a:noFill/>
          <a:ln/>
        </p:spPr>
        <p:txBody>
          <a:bodyPr wrap="square" lIns="0" tIns="0" rIns="0" bIns="0" rtlCol="0" anchor="ctr"/>
          <a:lstStyle/>
          <a:p>
            <a:pPr algn="ctr" indent="0" marL="0">
              <a:buNone/>
            </a:pPr>
            <a:r>
              <a:rPr lang="en-US" sz="1200" b="1" dirty="0">
                <a:solidFill>
                  <a:srgbClr val="E6EDF3"/>
                </a:solidFill>
                <a:latin typeface="Calibri" pitchFamily="34" charset="0"/>
                <a:ea typeface="Calibri" pitchFamily="34" charset="-122"/>
                <a:cs typeface="Calibri" pitchFamily="34" charset="-120"/>
              </a:rPr>
              <a:t>Data</a:t>
            </a:r>
            <a:endParaRPr lang="en-US" sz="1200" dirty="0"/>
          </a:p>
          <a:p>
            <a:pPr algn="ctr" indent="0" marL="0">
              <a:buNone/>
            </a:pPr>
            <a:r>
              <a:rPr lang="en-US" sz="1200" b="1" dirty="0">
                <a:solidFill>
                  <a:srgbClr val="E6EDF3"/>
                </a:solidFill>
                <a:latin typeface="Calibri" pitchFamily="34" charset="0"/>
                <a:ea typeface="Calibri" pitchFamily="34" charset="-122"/>
                <a:cs typeface="Calibri" pitchFamily="34" charset="-120"/>
              </a:rPr>
              <a:t>Preparation</a:t>
            </a:r>
            <a:endParaRPr lang="en-US" sz="1200" dirty="0"/>
          </a:p>
        </p:txBody>
      </p:sp>
      <p:sp>
        <p:nvSpPr>
          <p:cNvPr id="18" name="Text 16"/>
          <p:cNvSpPr txBox="1"/>
          <p:nvPr/>
        </p:nvSpPr>
        <p:spPr>
          <a:xfrm>
            <a:off x="4389120" y="3154680"/>
            <a:ext cx="1463040" cy="320040"/>
          </a:xfrm>
          <a:prstGeom prst="rect">
            <a:avLst/>
          </a:prstGeom>
          <a:noFill/>
          <a:ln/>
        </p:spPr>
        <p:txBody>
          <a:bodyPr wrap="square" lIns="0" tIns="0" rIns="0" bIns="0" rtlCol="0" anchor="ctr"/>
          <a:lstStyle/>
          <a:p>
            <a:pPr algn="ctr" indent="0" marL="0">
              <a:buNone/>
            </a:pPr>
            <a:r>
              <a:rPr lang="en-US" sz="1200" b="1" dirty="0">
                <a:solidFill>
                  <a:srgbClr val="F5A623"/>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4297680" y="3749040"/>
            <a:ext cx="1645920" cy="731520"/>
          </a:xfrm>
          <a:prstGeom prst="rect">
            <a:avLst/>
          </a:prstGeom>
          <a:noFill/>
          <a:ln/>
        </p:spPr>
        <p:txBody>
          <a:bodyPr wrap="square" lIns="0" tIns="0" rIns="0" bIns="0" rtlCol="0" anchor="t"/>
          <a:lstStyle/>
          <a:p>
            <a:pPr algn="ctr" indent="0" marL="0">
              <a:buNone/>
            </a:pPr>
            <a:r>
              <a:rPr lang="en-US" sz="1300" dirty="0">
                <a:solidFill>
                  <a:srgbClr val="A9B4C2"/>
                </a:solidFill>
                <a:latin typeface="Calibri" pitchFamily="34" charset="0"/>
                <a:ea typeface="Calibri" pitchFamily="34" charset="-122"/>
                <a:cs typeface="Calibri" pitchFamily="34" charset="-120"/>
              </a:rPr>
              <a:t>Pity, guaranteed, fitur</a:t>
            </a:r>
            <a:endParaRPr lang="en-US" sz="1300" dirty="0"/>
          </a:p>
        </p:txBody>
      </p:sp>
      <p:sp>
        <p:nvSpPr>
          <p:cNvPr id="20" name="Shape 18"/>
          <p:cNvSpPr/>
          <p:nvPr/>
        </p:nvSpPr>
        <p:spPr>
          <a:xfrm>
            <a:off x="5971032" y="2715768"/>
            <a:ext cx="182880" cy="237744"/>
          </a:xfrm>
          <a:prstGeom prst="rightArrow">
            <a:avLst/>
          </a:prstGeom>
          <a:solidFill>
            <a:srgbClr val="F5A623"/>
          </a:solidFill>
          <a:ln w="12700">
            <a:solidFill>
              <a:srgbClr val="F5A623"/>
            </a:solidFill>
            <a:prstDash val="solid"/>
          </a:ln>
        </p:spPr>
      </p:sp>
      <p:sp>
        <p:nvSpPr>
          <p:cNvPr id="21" name="Shape 19"/>
          <p:cNvSpPr/>
          <p:nvPr/>
        </p:nvSpPr>
        <p:spPr>
          <a:xfrm>
            <a:off x="6172200" y="2103120"/>
            <a:ext cx="1645920" cy="1463040"/>
          </a:xfrm>
          <a:prstGeom prst="roundRect">
            <a:avLst>
              <a:gd name="adj" fmla="val 5000"/>
            </a:avLst>
          </a:prstGeom>
          <a:solidFill>
            <a:srgbClr val="1C2230"/>
          </a:solidFill>
          <a:ln w="12700">
            <a:solidFill>
              <a:srgbClr val="F5A623"/>
            </a:solidFill>
            <a:prstDash val="solid"/>
          </a:ln>
        </p:spPr>
      </p:sp>
      <p:sp>
        <p:nvSpPr>
          <p:cNvPr id="22" name="Text 20"/>
          <p:cNvSpPr txBox="1"/>
          <p:nvPr/>
        </p:nvSpPr>
        <p:spPr>
          <a:xfrm>
            <a:off x="6217920" y="2194560"/>
            <a:ext cx="1554480" cy="914400"/>
          </a:xfrm>
          <a:prstGeom prst="rect">
            <a:avLst/>
          </a:prstGeom>
          <a:noFill/>
          <a:ln/>
        </p:spPr>
        <p:txBody>
          <a:bodyPr wrap="square" lIns="0" tIns="0" rIns="0" bIns="0" rtlCol="0" anchor="ctr"/>
          <a:lstStyle/>
          <a:p>
            <a:pPr algn="ctr" indent="0" marL="0">
              <a:buNone/>
            </a:pPr>
            <a:r>
              <a:rPr lang="en-US" sz="1200" b="1" dirty="0">
                <a:solidFill>
                  <a:srgbClr val="E6EDF3"/>
                </a:solidFill>
                <a:latin typeface="Calibri" pitchFamily="34" charset="0"/>
                <a:ea typeface="Calibri" pitchFamily="34" charset="-122"/>
                <a:cs typeface="Calibri" pitchFamily="34" charset="-120"/>
              </a:rPr>
              <a:t>Modeling</a:t>
            </a:r>
            <a:endParaRPr lang="en-US" sz="1200" dirty="0"/>
          </a:p>
        </p:txBody>
      </p:sp>
      <p:sp>
        <p:nvSpPr>
          <p:cNvPr id="23" name="Text 21"/>
          <p:cNvSpPr txBox="1"/>
          <p:nvPr/>
        </p:nvSpPr>
        <p:spPr>
          <a:xfrm>
            <a:off x="6263640" y="3154680"/>
            <a:ext cx="1463040" cy="320040"/>
          </a:xfrm>
          <a:prstGeom prst="rect">
            <a:avLst/>
          </a:prstGeom>
          <a:noFill/>
          <a:ln/>
        </p:spPr>
        <p:txBody>
          <a:bodyPr wrap="square" lIns="0" tIns="0" rIns="0" bIns="0" rtlCol="0" anchor="ctr"/>
          <a:lstStyle/>
          <a:p>
            <a:pPr algn="ctr" indent="0" marL="0">
              <a:buNone/>
            </a:pPr>
            <a:r>
              <a:rPr lang="en-US" sz="1200" b="1" dirty="0">
                <a:solidFill>
                  <a:srgbClr val="F5A623"/>
                </a:solidFill>
                <a:latin typeface="Calibri" pitchFamily="34" charset="0"/>
                <a:ea typeface="Calibri" pitchFamily="34" charset="-122"/>
                <a:cs typeface="Calibri" pitchFamily="34" charset="-120"/>
              </a:rPr>
              <a:t>4</a:t>
            </a:r>
            <a:endParaRPr lang="en-US" sz="1200" dirty="0"/>
          </a:p>
        </p:txBody>
      </p:sp>
      <p:sp>
        <p:nvSpPr>
          <p:cNvPr id="24" name="Text 22"/>
          <p:cNvSpPr txBox="1"/>
          <p:nvPr/>
        </p:nvSpPr>
        <p:spPr>
          <a:xfrm>
            <a:off x="6172200" y="3749040"/>
            <a:ext cx="1645920" cy="731520"/>
          </a:xfrm>
          <a:prstGeom prst="rect">
            <a:avLst/>
          </a:prstGeom>
          <a:noFill/>
          <a:ln/>
        </p:spPr>
        <p:txBody>
          <a:bodyPr wrap="square" lIns="0" tIns="0" rIns="0" bIns="0" rtlCol="0" anchor="t"/>
          <a:lstStyle/>
          <a:p>
            <a:pPr algn="ctr" indent="0" marL="0">
              <a:buNone/>
            </a:pPr>
            <a:r>
              <a:rPr lang="en-US" sz="1300" dirty="0">
                <a:solidFill>
                  <a:srgbClr val="A9B4C2"/>
                </a:solidFill>
                <a:latin typeface="Calibri" pitchFamily="34" charset="0"/>
                <a:ea typeface="Calibri" pitchFamily="34" charset="-122"/>
                <a:cs typeface="Calibri" pitchFamily="34" charset="-120"/>
              </a:rPr>
              <a:t>6 algoritma + Markov</a:t>
            </a:r>
            <a:endParaRPr lang="en-US" sz="1300" dirty="0"/>
          </a:p>
        </p:txBody>
      </p:sp>
      <p:sp>
        <p:nvSpPr>
          <p:cNvPr id="25" name="Shape 23"/>
          <p:cNvSpPr/>
          <p:nvPr/>
        </p:nvSpPr>
        <p:spPr>
          <a:xfrm>
            <a:off x="7845552" y="2715768"/>
            <a:ext cx="182880" cy="237744"/>
          </a:xfrm>
          <a:prstGeom prst="rightArrow">
            <a:avLst/>
          </a:prstGeom>
          <a:solidFill>
            <a:srgbClr val="F5A623"/>
          </a:solidFill>
          <a:ln w="12700">
            <a:solidFill>
              <a:srgbClr val="F5A623"/>
            </a:solidFill>
            <a:prstDash val="solid"/>
          </a:ln>
        </p:spPr>
      </p:sp>
      <p:sp>
        <p:nvSpPr>
          <p:cNvPr id="26" name="Shape 24"/>
          <p:cNvSpPr/>
          <p:nvPr/>
        </p:nvSpPr>
        <p:spPr>
          <a:xfrm>
            <a:off x="8046720" y="2103120"/>
            <a:ext cx="1645920" cy="1463040"/>
          </a:xfrm>
          <a:prstGeom prst="roundRect">
            <a:avLst>
              <a:gd name="adj" fmla="val 5000"/>
            </a:avLst>
          </a:prstGeom>
          <a:solidFill>
            <a:srgbClr val="1C2230"/>
          </a:solidFill>
          <a:ln w="12700">
            <a:solidFill>
              <a:srgbClr val="30363D"/>
            </a:solidFill>
            <a:prstDash val="solid"/>
          </a:ln>
        </p:spPr>
      </p:sp>
      <p:sp>
        <p:nvSpPr>
          <p:cNvPr id="27" name="Text 25"/>
          <p:cNvSpPr txBox="1"/>
          <p:nvPr/>
        </p:nvSpPr>
        <p:spPr>
          <a:xfrm>
            <a:off x="8092440" y="2194560"/>
            <a:ext cx="1554480" cy="914400"/>
          </a:xfrm>
          <a:prstGeom prst="rect">
            <a:avLst/>
          </a:prstGeom>
          <a:noFill/>
          <a:ln/>
        </p:spPr>
        <p:txBody>
          <a:bodyPr wrap="square" lIns="0" tIns="0" rIns="0" bIns="0" rtlCol="0" anchor="ctr"/>
          <a:lstStyle/>
          <a:p>
            <a:pPr algn="ctr" indent="0" marL="0">
              <a:buNone/>
            </a:pPr>
            <a:r>
              <a:rPr lang="en-US" sz="1200" b="1" dirty="0">
                <a:solidFill>
                  <a:srgbClr val="E6EDF3"/>
                </a:solidFill>
                <a:latin typeface="Calibri" pitchFamily="34" charset="0"/>
                <a:ea typeface="Calibri" pitchFamily="34" charset="-122"/>
                <a:cs typeface="Calibri" pitchFamily="34" charset="-120"/>
              </a:rPr>
              <a:t>Evaluation</a:t>
            </a:r>
            <a:endParaRPr lang="en-US" sz="1200" dirty="0"/>
          </a:p>
        </p:txBody>
      </p:sp>
      <p:sp>
        <p:nvSpPr>
          <p:cNvPr id="28" name="Text 26"/>
          <p:cNvSpPr txBox="1"/>
          <p:nvPr/>
        </p:nvSpPr>
        <p:spPr>
          <a:xfrm>
            <a:off x="8138160" y="3154680"/>
            <a:ext cx="1463040" cy="320040"/>
          </a:xfrm>
          <a:prstGeom prst="rect">
            <a:avLst/>
          </a:prstGeom>
          <a:noFill/>
          <a:ln/>
        </p:spPr>
        <p:txBody>
          <a:bodyPr wrap="square" lIns="0" tIns="0" rIns="0" bIns="0" rtlCol="0" anchor="ctr"/>
          <a:lstStyle/>
          <a:p>
            <a:pPr algn="ctr" indent="0" marL="0">
              <a:buNone/>
            </a:pPr>
            <a:r>
              <a:rPr lang="en-US" sz="1200" b="1" dirty="0">
                <a:solidFill>
                  <a:srgbClr val="F5A623"/>
                </a:solidFill>
                <a:latin typeface="Calibri" pitchFamily="34" charset="0"/>
                <a:ea typeface="Calibri" pitchFamily="34" charset="-122"/>
                <a:cs typeface="Calibri" pitchFamily="34" charset="-120"/>
              </a:rPr>
              <a:t>5</a:t>
            </a:r>
            <a:endParaRPr lang="en-US" sz="1200" dirty="0"/>
          </a:p>
        </p:txBody>
      </p:sp>
      <p:sp>
        <p:nvSpPr>
          <p:cNvPr id="29" name="Text 27"/>
          <p:cNvSpPr txBox="1"/>
          <p:nvPr/>
        </p:nvSpPr>
        <p:spPr>
          <a:xfrm>
            <a:off x="8046720" y="3749040"/>
            <a:ext cx="1645920" cy="731520"/>
          </a:xfrm>
          <a:prstGeom prst="rect">
            <a:avLst/>
          </a:prstGeom>
          <a:noFill/>
          <a:ln/>
        </p:spPr>
        <p:txBody>
          <a:bodyPr wrap="square" lIns="0" tIns="0" rIns="0" bIns="0" rtlCol="0" anchor="t"/>
          <a:lstStyle/>
          <a:p>
            <a:pPr algn="ctr" indent="0" marL="0">
              <a:buNone/>
            </a:pPr>
            <a:r>
              <a:rPr lang="en-US" sz="1300" dirty="0">
                <a:solidFill>
                  <a:srgbClr val="A9B4C2"/>
                </a:solidFill>
                <a:latin typeface="Calibri" pitchFamily="34" charset="0"/>
                <a:ea typeface="Calibri" pitchFamily="34" charset="-122"/>
                <a:cs typeface="Calibri" pitchFamily="34" charset="-120"/>
              </a:rPr>
              <a:t>5-fold CV + data asli</a:t>
            </a:r>
            <a:endParaRPr lang="en-US" sz="1300" dirty="0"/>
          </a:p>
        </p:txBody>
      </p:sp>
      <p:sp>
        <p:nvSpPr>
          <p:cNvPr id="30" name="Shape 28"/>
          <p:cNvSpPr/>
          <p:nvPr/>
        </p:nvSpPr>
        <p:spPr>
          <a:xfrm>
            <a:off x="9720072" y="2715768"/>
            <a:ext cx="182880" cy="237744"/>
          </a:xfrm>
          <a:prstGeom prst="rightArrow">
            <a:avLst/>
          </a:prstGeom>
          <a:solidFill>
            <a:srgbClr val="F5A623"/>
          </a:solidFill>
          <a:ln w="12700">
            <a:solidFill>
              <a:srgbClr val="F5A623"/>
            </a:solidFill>
            <a:prstDash val="solid"/>
          </a:ln>
        </p:spPr>
      </p:sp>
      <p:sp>
        <p:nvSpPr>
          <p:cNvPr id="31" name="Shape 29"/>
          <p:cNvSpPr/>
          <p:nvPr/>
        </p:nvSpPr>
        <p:spPr>
          <a:xfrm>
            <a:off x="9921240" y="2103120"/>
            <a:ext cx="1645920" cy="1463040"/>
          </a:xfrm>
          <a:prstGeom prst="roundRect">
            <a:avLst>
              <a:gd name="adj" fmla="val 5000"/>
            </a:avLst>
          </a:prstGeom>
          <a:solidFill>
            <a:srgbClr val="1C2230"/>
          </a:solidFill>
          <a:ln w="12700">
            <a:solidFill>
              <a:srgbClr val="30363D"/>
            </a:solidFill>
            <a:prstDash val="solid"/>
          </a:ln>
        </p:spPr>
      </p:sp>
      <p:sp>
        <p:nvSpPr>
          <p:cNvPr id="32" name="Text 30"/>
          <p:cNvSpPr txBox="1"/>
          <p:nvPr/>
        </p:nvSpPr>
        <p:spPr>
          <a:xfrm>
            <a:off x="9966960" y="2194560"/>
            <a:ext cx="1554480" cy="914400"/>
          </a:xfrm>
          <a:prstGeom prst="rect">
            <a:avLst/>
          </a:prstGeom>
          <a:noFill/>
          <a:ln/>
        </p:spPr>
        <p:txBody>
          <a:bodyPr wrap="square" lIns="0" tIns="0" rIns="0" bIns="0" rtlCol="0" anchor="ctr"/>
          <a:lstStyle/>
          <a:p>
            <a:pPr algn="ctr" indent="0" marL="0">
              <a:buNone/>
            </a:pPr>
            <a:r>
              <a:rPr lang="en-US" sz="1200" b="1" dirty="0">
                <a:solidFill>
                  <a:srgbClr val="E6EDF3"/>
                </a:solidFill>
                <a:latin typeface="Calibri" pitchFamily="34" charset="0"/>
                <a:ea typeface="Calibri" pitchFamily="34" charset="-122"/>
                <a:cs typeface="Calibri" pitchFamily="34" charset="-120"/>
              </a:rPr>
              <a:t>Deployment</a:t>
            </a:r>
            <a:endParaRPr lang="en-US" sz="1200" dirty="0"/>
          </a:p>
        </p:txBody>
      </p:sp>
      <p:sp>
        <p:nvSpPr>
          <p:cNvPr id="33" name="Text 31"/>
          <p:cNvSpPr txBox="1"/>
          <p:nvPr/>
        </p:nvSpPr>
        <p:spPr>
          <a:xfrm>
            <a:off x="10012680" y="3154680"/>
            <a:ext cx="1463040" cy="320040"/>
          </a:xfrm>
          <a:prstGeom prst="rect">
            <a:avLst/>
          </a:prstGeom>
          <a:noFill/>
          <a:ln/>
        </p:spPr>
        <p:txBody>
          <a:bodyPr wrap="square" lIns="0" tIns="0" rIns="0" bIns="0" rtlCol="0" anchor="ctr"/>
          <a:lstStyle/>
          <a:p>
            <a:pPr algn="ctr" indent="0" marL="0">
              <a:buNone/>
            </a:pPr>
            <a:r>
              <a:rPr lang="en-US" sz="1200" b="1" dirty="0">
                <a:solidFill>
                  <a:srgbClr val="F5A623"/>
                </a:solidFill>
                <a:latin typeface="Calibri" pitchFamily="34" charset="0"/>
                <a:ea typeface="Calibri" pitchFamily="34" charset="-122"/>
                <a:cs typeface="Calibri" pitchFamily="34" charset="-120"/>
              </a:rPr>
              <a:t>6</a:t>
            </a:r>
            <a:endParaRPr lang="en-US" sz="1200" dirty="0"/>
          </a:p>
        </p:txBody>
      </p:sp>
      <p:sp>
        <p:nvSpPr>
          <p:cNvPr id="34" name="Text 32"/>
          <p:cNvSpPr txBox="1"/>
          <p:nvPr/>
        </p:nvSpPr>
        <p:spPr>
          <a:xfrm>
            <a:off x="9921240" y="3749040"/>
            <a:ext cx="1645920" cy="731520"/>
          </a:xfrm>
          <a:prstGeom prst="rect">
            <a:avLst/>
          </a:prstGeom>
          <a:noFill/>
          <a:ln/>
        </p:spPr>
        <p:txBody>
          <a:bodyPr wrap="square" lIns="0" tIns="0" rIns="0" bIns="0" rtlCol="0" anchor="t"/>
          <a:lstStyle/>
          <a:p>
            <a:pPr algn="ctr" indent="0" marL="0">
              <a:buNone/>
            </a:pPr>
            <a:r>
              <a:rPr lang="en-US" sz="1300" dirty="0">
                <a:solidFill>
                  <a:srgbClr val="A9B4C2"/>
                </a:solidFill>
                <a:latin typeface="Calibri" pitchFamily="34" charset="0"/>
                <a:ea typeface="Calibri" pitchFamily="34" charset="-122"/>
                <a:cs typeface="Calibri" pitchFamily="34" charset="-120"/>
              </a:rPr>
              <a:t>Web Streamlit</a:t>
            </a:r>
            <a:endParaRPr lang="en-US" sz="1300" dirty="0"/>
          </a:p>
        </p:txBody>
      </p:sp>
      <p:sp>
        <p:nvSpPr>
          <p:cNvPr id="35" name="Text 33"/>
          <p:cNvSpPr txBox="1"/>
          <p:nvPr/>
        </p:nvSpPr>
        <p:spPr>
          <a:xfrm>
            <a:off x="548640" y="5029200"/>
            <a:ext cx="10972800" cy="548640"/>
          </a:xfrm>
          <a:prstGeom prst="rect">
            <a:avLst/>
          </a:prstGeom>
          <a:noFill/>
          <a:ln/>
        </p:spPr>
        <p:txBody>
          <a:bodyPr wrap="square" lIns="0" tIns="0" rIns="0" bIns="0" rtlCol="0" anchor="ctr"/>
          <a:lstStyle/>
          <a:p>
            <a:pPr indent="0" marL="0">
              <a:buNone/>
            </a:pPr>
            <a:r>
              <a:rPr lang="en-US" sz="1500" dirty="0">
                <a:solidFill>
                  <a:srgbClr val="A9B4C2"/>
                </a:solidFill>
                <a:latin typeface="Calibri" pitchFamily="34" charset="0"/>
                <a:ea typeface="Calibri" pitchFamily="34" charset="-122"/>
                <a:cs typeface="Calibri" pitchFamily="34" charset="-120"/>
              </a:rPr>
              <a:t>Kerangka standar proses data mining (Chapman et al., 2000), diterapkan dari pemahaman masalah sampai aplikasi web.</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200" b="1" spc="300" kern="0" dirty="0">
                <a:solidFill>
                  <a:srgbClr val="F5A623"/>
                </a:solidFill>
                <a:latin typeface="Calibri" pitchFamily="34" charset="0"/>
                <a:ea typeface="Calibri" pitchFamily="34" charset="-122"/>
                <a:cs typeface="Calibri" pitchFamily="34" charset="-120"/>
              </a:rPr>
              <a:t>DATA</a:t>
            </a:r>
            <a:endParaRPr lang="en-US" sz="1200" dirty="0"/>
          </a:p>
        </p:txBody>
      </p:sp>
      <p:sp>
        <p:nvSpPr>
          <p:cNvPr id="3" name="Text 1"/>
          <p:cNvSpPr txBox="1"/>
          <p:nvPr/>
        </p:nvSpPr>
        <p:spPr>
          <a:xfrm>
            <a:off x="548640" y="685800"/>
            <a:ext cx="11091672" cy="731520"/>
          </a:xfrm>
          <a:prstGeom prst="rect">
            <a:avLst/>
          </a:prstGeom>
          <a:noFill/>
          <a:ln/>
        </p:spPr>
        <p:txBody>
          <a:bodyPr wrap="square" lIns="0" tIns="0" rIns="0" bIns="0" rtlCol="0" anchor="ctr"/>
          <a:lstStyle/>
          <a:p>
            <a:pPr indent="0" marL="0">
              <a:buNone/>
            </a:pPr>
            <a:r>
              <a:rPr lang="en-US" sz="3200" b="1" dirty="0">
                <a:solidFill>
                  <a:srgbClr val="E6EDF3"/>
                </a:solidFill>
                <a:latin typeface="Cambria" pitchFamily="34" charset="0"/>
                <a:ea typeface="Cambria" pitchFamily="34" charset="-122"/>
                <a:cs typeface="Cambria" pitchFamily="34" charset="-120"/>
              </a:rPr>
              <a:t>Data: simulasi + data asli pemain</a:t>
            </a:r>
            <a:endParaRPr lang="en-US" sz="32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ZZZ Gacha Predictor · Kelompok 6 · A11.4502</a:t>
            </a:r>
            <a:endParaRPr lang="en-US" sz="1000" dirty="0"/>
          </a:p>
        </p:txBody>
      </p:sp>
      <p:sp>
        <p:nvSpPr>
          <p:cNvPr id="5" name="Text 3"/>
          <p:cNvSpPr txBox="1"/>
          <p:nvPr/>
        </p:nvSpPr>
        <p:spPr>
          <a:xfrm>
            <a:off x="10725912" y="6400800"/>
            <a:ext cx="914400" cy="228600"/>
          </a:xfrm>
          <a:prstGeom prst="rect">
            <a:avLst/>
          </a:prstGeom>
          <a:noFill/>
          <a:ln/>
        </p:spPr>
        <p:txBody>
          <a:bodyPr wrap="square" lIns="0" tIns="0" rIns="0" bIns="0" rtlCol="0" anchor="ctr"/>
          <a:lstStyle/>
          <a:p>
            <a:pPr algn="r" indent="0" marL="0">
              <a:buNone/>
            </a:pPr>
            <a:r>
              <a:rPr lang="en-US" sz="1000" dirty="0">
                <a:solidFill>
                  <a:srgbClr val="8B949E"/>
                </a:solidFill>
                <a:latin typeface="Calibri" pitchFamily="34" charset="0"/>
                <a:ea typeface="Calibri" pitchFamily="34" charset="-122"/>
                <a:cs typeface="Calibri" pitchFamily="34" charset="-120"/>
              </a:rPr>
              <a:t>12</a:t>
            </a:r>
            <a:endParaRPr lang="en-US" sz="1000" dirty="0"/>
          </a:p>
        </p:txBody>
      </p:sp>
      <p:sp>
        <p:nvSpPr>
          <p:cNvPr id="6" name="Shape 4"/>
          <p:cNvSpPr/>
          <p:nvPr/>
        </p:nvSpPr>
        <p:spPr>
          <a:xfrm>
            <a:off x="548640" y="1645920"/>
            <a:ext cx="5394960" cy="2194560"/>
          </a:xfrm>
          <a:prstGeom prst="roundRect">
            <a:avLst>
              <a:gd name="adj" fmla="val 3333"/>
            </a:avLst>
          </a:prstGeom>
          <a:solidFill>
            <a:srgbClr val="1C2230"/>
          </a:solidFill>
          <a:ln w="9525">
            <a:solidFill>
              <a:srgbClr val="30363D"/>
            </a:solidFill>
            <a:prstDash val="solid"/>
          </a:ln>
        </p:spPr>
      </p:sp>
      <p:sp>
        <p:nvSpPr>
          <p:cNvPr id="7" name="Text 5"/>
          <p:cNvSpPr txBox="1"/>
          <p:nvPr/>
        </p:nvSpPr>
        <p:spPr>
          <a:xfrm>
            <a:off x="777240" y="1874520"/>
            <a:ext cx="4937760" cy="411480"/>
          </a:xfrm>
          <a:prstGeom prst="rect">
            <a:avLst/>
          </a:prstGeom>
          <a:noFill/>
          <a:ln/>
        </p:spPr>
        <p:txBody>
          <a:bodyPr wrap="square" lIns="0" tIns="0" rIns="0" bIns="0" rtlCol="0" anchor="t"/>
          <a:lstStyle/>
          <a:p>
            <a:pPr indent="0" marL="0">
              <a:buNone/>
            </a:pPr>
            <a:r>
              <a:rPr lang="en-US" sz="1800" b="1" dirty="0">
                <a:solidFill>
                  <a:srgbClr val="58A6FF"/>
                </a:solidFill>
                <a:latin typeface="Cambria" pitchFamily="34" charset="0"/>
                <a:ea typeface="Cambria" pitchFamily="34" charset="-122"/>
                <a:cs typeface="Cambria" pitchFamily="34" charset="-120"/>
              </a:rPr>
              <a:t>Simulasi Monte Carlo</a:t>
            </a:r>
            <a:endParaRPr lang="en-US" sz="1800" dirty="0"/>
          </a:p>
        </p:txBody>
      </p:sp>
      <p:sp>
        <p:nvSpPr>
          <p:cNvPr id="8" name="Text 6"/>
          <p:cNvSpPr txBox="1"/>
          <p:nvPr/>
        </p:nvSpPr>
        <p:spPr>
          <a:xfrm>
            <a:off x="777240" y="2331720"/>
            <a:ext cx="4937760" cy="1325880"/>
          </a:xfrm>
          <a:prstGeom prst="rect">
            <a:avLst/>
          </a:prstGeom>
          <a:noFill/>
          <a:ln/>
        </p:spPr>
        <p:txBody>
          <a:bodyPr wrap="square" lIns="0" tIns="0" rIns="0" bIns="0" rtlCol="0" anchor="t"/>
          <a:lstStyle/>
          <a:p>
            <a:pPr indent="0" marL="0">
              <a:spcAft>
                <a:spcPts val="400"/>
              </a:spcAft>
              <a:buNone/>
            </a:pPr>
            <a:r>
              <a:rPr lang="en-US" sz="1600" dirty="0">
                <a:solidFill>
                  <a:srgbClr val="A9B4C2"/>
                </a:solidFill>
                <a:latin typeface="Calibri" pitchFamily="34" charset="0"/>
                <a:ea typeface="Calibri" pitchFamily="34" charset="-122"/>
                <a:cs typeface="Calibri" pitchFamily="34" charset="-120"/>
              </a:rPr>
              <a:t>400 akun virtual · ±314 ribu pull · dibangkitkan dari model Markov (seed 42), jadi memuat asumsi soft pity. Dipakai untuk melatih dan menguji.</a:t>
            </a:r>
            <a:endParaRPr lang="en-US" sz="1600" dirty="0"/>
          </a:p>
        </p:txBody>
      </p:sp>
      <p:sp>
        <p:nvSpPr>
          <p:cNvPr id="9" name="Shape 7"/>
          <p:cNvSpPr/>
          <p:nvPr/>
        </p:nvSpPr>
        <p:spPr>
          <a:xfrm>
            <a:off x="6217920" y="1645920"/>
            <a:ext cx="5394960" cy="2194560"/>
          </a:xfrm>
          <a:prstGeom prst="roundRect">
            <a:avLst>
              <a:gd name="adj" fmla="val 3333"/>
            </a:avLst>
          </a:prstGeom>
          <a:solidFill>
            <a:srgbClr val="1C2230"/>
          </a:solidFill>
          <a:ln w="9525">
            <a:solidFill>
              <a:srgbClr val="30363D"/>
            </a:solidFill>
            <a:prstDash val="solid"/>
          </a:ln>
        </p:spPr>
      </p:sp>
      <p:sp>
        <p:nvSpPr>
          <p:cNvPr id="10" name="Text 8"/>
          <p:cNvSpPr txBox="1"/>
          <p:nvPr/>
        </p:nvSpPr>
        <p:spPr>
          <a:xfrm>
            <a:off x="6446520" y="1874520"/>
            <a:ext cx="4937760" cy="411480"/>
          </a:xfrm>
          <a:prstGeom prst="rect">
            <a:avLst/>
          </a:prstGeom>
          <a:noFill/>
          <a:ln/>
        </p:spPr>
        <p:txBody>
          <a:bodyPr wrap="square" lIns="0" tIns="0" rIns="0" bIns="0" rtlCol="0" anchor="t"/>
          <a:lstStyle/>
          <a:p>
            <a:pPr indent="0" marL="0">
              <a:buNone/>
            </a:pPr>
            <a:r>
              <a:rPr lang="en-US" sz="1800" b="1" dirty="0">
                <a:solidFill>
                  <a:srgbClr val="3FB950"/>
                </a:solidFill>
                <a:latin typeface="Cambria" pitchFamily="34" charset="0"/>
                <a:ea typeface="Cambria" pitchFamily="34" charset="-122"/>
                <a:cs typeface="Cambria" pitchFamily="34" charset="-120"/>
              </a:rPr>
              <a:t>Data asli (2 akun)</a:t>
            </a:r>
            <a:endParaRPr lang="en-US" sz="1800" dirty="0"/>
          </a:p>
        </p:txBody>
      </p:sp>
      <p:sp>
        <p:nvSpPr>
          <p:cNvPr id="11" name="Text 9"/>
          <p:cNvSpPr txBox="1"/>
          <p:nvPr/>
        </p:nvSpPr>
        <p:spPr>
          <a:xfrm>
            <a:off x="6446520" y="2331720"/>
            <a:ext cx="4937760" cy="1325880"/>
          </a:xfrm>
          <a:prstGeom prst="rect">
            <a:avLst/>
          </a:prstGeom>
          <a:noFill/>
          <a:ln/>
        </p:spPr>
        <p:txBody>
          <a:bodyPr wrap="square" lIns="0" tIns="0" rIns="0" bIns="0" rtlCol="0" anchor="t"/>
          <a:lstStyle/>
          <a:p>
            <a:pPr indent="0" marL="0">
              <a:spcAft>
                <a:spcPts val="400"/>
              </a:spcAft>
              <a:buNone/>
            </a:pPr>
            <a:r>
              <a:rPr lang="en-US" sz="1600" dirty="0">
                <a:solidFill>
                  <a:srgbClr val="A9B4C2"/>
                </a:solidFill>
                <a:latin typeface="Calibri" pitchFamily="34" charset="0"/>
                <a:ea typeface="Calibri" pitchFamily="34" charset="-122"/>
                <a:cs typeface="Calibri" pitchFamily="34" charset="-120"/>
              </a:rPr>
              <a:t>1.441 pull · 22 S-Rank · anonim. Dipakai untuk menguji model, memeriksa pola soft pity, dan melatih + menguji sendiri (1.209 baris).</a:t>
            </a:r>
            <a:endParaRPr lang="en-US" sz="1600" dirty="0"/>
          </a:p>
        </p:txBody>
      </p:sp>
      <p:sp>
        <p:nvSpPr>
          <p:cNvPr id="12" name="Text 10"/>
          <p:cNvSpPr txBox="1"/>
          <p:nvPr/>
        </p:nvSpPr>
        <p:spPr>
          <a:xfrm>
            <a:off x="548640" y="4160520"/>
            <a:ext cx="10972800" cy="365760"/>
          </a:xfrm>
          <a:prstGeom prst="rect">
            <a:avLst/>
          </a:prstGeom>
          <a:noFill/>
          <a:ln/>
        </p:spPr>
        <p:txBody>
          <a:bodyPr wrap="square" lIns="0" tIns="0" rIns="0" bIns="0" rtlCol="0" anchor="ctr"/>
          <a:lstStyle/>
          <a:p>
            <a:pPr indent="0" marL="0">
              <a:buNone/>
            </a:pPr>
            <a:r>
              <a:rPr lang="en-US" sz="1600" b="1" dirty="0">
                <a:solidFill>
                  <a:srgbClr val="E6EDF3"/>
                </a:solidFill>
                <a:latin typeface="Calibri" pitchFamily="34" charset="0"/>
                <a:ea typeface="Calibri" pitchFamily="34" charset="-122"/>
                <a:cs typeface="Calibri" pitchFamily="34" charset="-120"/>
              </a:rPr>
              <a:t>Cara ambil data asli:</a:t>
            </a:r>
            <a:endParaRPr lang="en-US" sz="1600" dirty="0"/>
          </a:p>
        </p:txBody>
      </p:sp>
      <p:sp>
        <p:nvSpPr>
          <p:cNvPr id="13" name="Text 11"/>
          <p:cNvSpPr txBox="1"/>
          <p:nvPr/>
        </p:nvSpPr>
        <p:spPr>
          <a:xfrm>
            <a:off x="548640" y="4572000"/>
            <a:ext cx="10972800" cy="164592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E6EDF3"/>
                </a:solidFill>
                <a:latin typeface="Calibri" pitchFamily="34" charset="0"/>
                <a:ea typeface="Calibri" pitchFamily="34" charset="-122"/>
                <a:cs typeface="Calibri" pitchFamily="34" charset="-120"/>
              </a:rPr>
              <a:t>Script PowerShell membaca URL riwayat dari cache game di PC (Steam/HoYoPlay) → server HoYoverse</a:t>
            </a:r>
            <a:endParaRPr lang="en-US" sz="1500" dirty="0"/>
          </a:p>
          <a:p>
            <a:pPr marL="228600" indent="-228600">
              <a:spcAft>
                <a:spcPts val="1000"/>
              </a:spcAft>
              <a:buSzPct val="100000"/>
              <a:buChar char="•"/>
            </a:pPr>
            <a:r>
              <a:rPr lang="en-US" sz="1500" dirty="0">
                <a:solidFill>
                  <a:srgbClr val="E6EDF3"/>
                </a:solidFill>
                <a:latin typeface="Calibri" pitchFamily="34" charset="0"/>
                <a:ea typeface="Calibri" pitchFamily="34" charset="-122"/>
                <a:cs typeface="Calibri" pitchFamily="34" charset="-120"/>
              </a:rPr>
              <a:t>Upload file UIGF v4 (cocok untuk HP) atau input manual pity</a:t>
            </a:r>
            <a:endParaRPr lang="en-US" sz="1500" dirty="0"/>
          </a:p>
          <a:p>
            <a:pPr marL="228600" indent="-228600">
              <a:spcAft>
                <a:spcPts val="1000"/>
              </a:spcAft>
              <a:buSzPct val="100000"/>
              <a:buChar char="•"/>
            </a:pPr>
            <a:r>
              <a:rPr lang="en-US" sz="1500" dirty="0">
                <a:solidFill>
                  <a:srgbClr val="E6EDF3"/>
                </a:solidFill>
                <a:latin typeface="Calibri" pitchFamily="34" charset="0"/>
                <a:ea typeface="Calibri" pitchFamily="34" charset="-122"/>
                <a:cs typeface="Calibri" pitchFamily="34" charset="-120"/>
              </a:rPr>
              <a:t>Pra-pemrosesan: buang duplikat, urutkan per akun, hitung pity &amp; guaranteed, buang segmen pertama yang tidak lengkap</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200" b="1" spc="300" kern="0" dirty="0">
                <a:solidFill>
                  <a:srgbClr val="F5A623"/>
                </a:solidFill>
                <a:latin typeface="Calibri" pitchFamily="34" charset="0"/>
                <a:ea typeface="Calibri" pitchFamily="34" charset="-122"/>
                <a:cs typeface="Calibri" pitchFamily="34" charset="-120"/>
              </a:rPr>
              <a:t>DATA PREPARATION</a:t>
            </a:r>
            <a:endParaRPr lang="en-US" sz="1200" dirty="0"/>
          </a:p>
        </p:txBody>
      </p:sp>
      <p:sp>
        <p:nvSpPr>
          <p:cNvPr id="3" name="Text 1"/>
          <p:cNvSpPr txBox="1"/>
          <p:nvPr/>
        </p:nvSpPr>
        <p:spPr>
          <a:xfrm>
            <a:off x="548640" y="685800"/>
            <a:ext cx="11091672" cy="731520"/>
          </a:xfrm>
          <a:prstGeom prst="rect">
            <a:avLst/>
          </a:prstGeom>
          <a:noFill/>
          <a:ln/>
        </p:spPr>
        <p:txBody>
          <a:bodyPr wrap="square" lIns="0" tIns="0" rIns="0" bIns="0" rtlCol="0" anchor="ctr"/>
          <a:lstStyle/>
          <a:p>
            <a:pPr indent="0" marL="0">
              <a:buNone/>
            </a:pPr>
            <a:r>
              <a:rPr lang="en-US" sz="3200" b="1" dirty="0">
                <a:solidFill>
                  <a:srgbClr val="E6EDF3"/>
                </a:solidFill>
                <a:latin typeface="Cambria" pitchFamily="34" charset="0"/>
                <a:ea typeface="Cambria" pitchFamily="34" charset="-122"/>
                <a:cs typeface="Cambria" pitchFamily="34" charset="-120"/>
              </a:rPr>
              <a:t>Fitur dan target</a:t>
            </a:r>
            <a:endParaRPr lang="en-US" sz="32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ZZZ Gacha Predictor · Kelompok 6 · A11.4502</a:t>
            </a:r>
            <a:endParaRPr lang="en-US" sz="1000" dirty="0"/>
          </a:p>
        </p:txBody>
      </p:sp>
      <p:sp>
        <p:nvSpPr>
          <p:cNvPr id="5" name="Text 3"/>
          <p:cNvSpPr txBox="1"/>
          <p:nvPr/>
        </p:nvSpPr>
        <p:spPr>
          <a:xfrm>
            <a:off x="10725912" y="6400800"/>
            <a:ext cx="914400" cy="228600"/>
          </a:xfrm>
          <a:prstGeom prst="rect">
            <a:avLst/>
          </a:prstGeom>
          <a:noFill/>
          <a:ln/>
        </p:spPr>
        <p:txBody>
          <a:bodyPr wrap="square" lIns="0" tIns="0" rIns="0" bIns="0" rtlCol="0" anchor="ctr"/>
          <a:lstStyle/>
          <a:p>
            <a:pPr algn="r" indent="0" marL="0">
              <a:buNone/>
            </a:pPr>
            <a:r>
              <a:rPr lang="en-US" sz="1000" dirty="0">
                <a:solidFill>
                  <a:srgbClr val="8B949E"/>
                </a:solidFill>
                <a:latin typeface="Calibri" pitchFamily="34" charset="0"/>
                <a:ea typeface="Calibri" pitchFamily="34" charset="-122"/>
                <a:cs typeface="Calibri" pitchFamily="34" charset="-120"/>
              </a:rPr>
              <a:t>13</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6035040" cy="914400"/>
        </p:xfrm>
        <a:graphic>
          <a:graphicData uri="http://schemas.openxmlformats.org/drawingml/2006/table">
            <a:tbl>
              <a:tblPr/>
              <a:tblGrid>
                <a:gridCol w="1828800"/>
                <a:gridCol w="4206240"/>
              </a:tblGrid>
              <a:tr h="548640">
                <a:tc>
                  <a:txBody>
                    <a:bodyPr/>
                    <a:lstStyle/>
                    <a:p>
                      <a:pPr algn="l" indent="0" marL="0">
                        <a:buNone/>
                      </a:pPr>
                      <a:r>
                        <a:rPr lang="en-US" sz="1500" b="1" dirty="0">
                          <a:solidFill>
                            <a:srgbClr val="F5A623"/>
                          </a:solidFill>
                          <a:latin typeface="Calibri" pitchFamily="34" charset="0"/>
                          <a:ea typeface="Calibri" pitchFamily="34" charset="-122"/>
                          <a:cs typeface="Calibri" pitchFamily="34" charset="-120"/>
                        </a:rPr>
                        <a:t>Fitur</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algn="ctr" indent="0" marL="0">
                        <a:buNone/>
                      </a:pPr>
                      <a:r>
                        <a:rPr lang="en-US" sz="1500" b="1" dirty="0">
                          <a:solidFill>
                            <a:srgbClr val="F5A623"/>
                          </a:solidFill>
                          <a:latin typeface="Calibri" pitchFamily="34" charset="0"/>
                          <a:ea typeface="Calibri" pitchFamily="34" charset="-122"/>
                          <a:cs typeface="Calibri" pitchFamily="34" charset="-120"/>
                        </a:rPr>
                        <a:t>Keterangan</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r>
              <a:tr h="548640">
                <a:tc>
                  <a:txBody>
                    <a:bodyPr/>
                    <a:lstStyle/>
                    <a:p>
                      <a:pPr algn="l" indent="0" marL="0">
                        <a:buNone/>
                      </a:pPr>
                      <a:r>
                        <a:rPr lang="en-US" sz="1500" dirty="0">
                          <a:solidFill>
                            <a:srgbClr val="E6EDF3"/>
                          </a:solidFill>
                          <a:latin typeface="Calibri" pitchFamily="34" charset="0"/>
                          <a:ea typeface="Calibri" pitchFamily="34" charset="-122"/>
                          <a:cs typeface="Calibri" pitchFamily="34" charset="-120"/>
                        </a:rPr>
                        <a:t>pity</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r>
                        <a:rPr lang="en-US" sz="1500" dirty="0">
                          <a:solidFill>
                            <a:srgbClr val="E6EDF3"/>
                          </a:solidFill>
                          <a:latin typeface="Calibri" pitchFamily="34" charset="0"/>
                          <a:ea typeface="Calibri" pitchFamily="34" charset="-122"/>
                          <a:cs typeface="Calibri" pitchFamily="34" charset="-120"/>
                        </a:rPr>
                        <a:t>pull sejak S-Rank terakhir (0 – 89)</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r>
              <a:tr h="548640">
                <a:tc>
                  <a:txBody>
                    <a:bodyPr/>
                    <a:lstStyle/>
                    <a:p>
                      <a:pPr algn="l" indent="0" marL="0">
                        <a:buNone/>
                      </a:pPr>
                      <a:r>
                        <a:rPr lang="en-US" sz="1500" dirty="0">
                          <a:solidFill>
                            <a:srgbClr val="E6EDF3"/>
                          </a:solidFill>
                          <a:latin typeface="Calibri" pitchFamily="34" charset="0"/>
                          <a:ea typeface="Calibri" pitchFamily="34" charset="-122"/>
                          <a:cs typeface="Calibri" pitchFamily="34" charset="-120"/>
                        </a:rPr>
                        <a:t>pity_ratio</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c>
                  <a:txBody>
                    <a:bodyPr/>
                    <a:lstStyle/>
                    <a:p>
                      <a:pPr algn="ctr" indent="0" marL="0">
                        <a:buNone/>
                      </a:pPr>
                      <a:r>
                        <a:rPr lang="en-US" sz="1500" dirty="0">
                          <a:solidFill>
                            <a:srgbClr val="E6EDF3"/>
                          </a:solidFill>
                          <a:latin typeface="Calibri" pitchFamily="34" charset="0"/>
                          <a:ea typeface="Calibri" pitchFamily="34" charset="-122"/>
                          <a:cs typeface="Calibri" pitchFamily="34" charset="-120"/>
                        </a:rPr>
                        <a:t>pity ÷ hard pity</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r>
              <a:tr h="548640">
                <a:tc>
                  <a:txBody>
                    <a:bodyPr/>
                    <a:lstStyle/>
                    <a:p>
                      <a:pPr algn="l" indent="0" marL="0">
                        <a:buNone/>
                      </a:pPr>
                      <a:r>
                        <a:rPr lang="en-US" sz="1500" dirty="0">
                          <a:solidFill>
                            <a:srgbClr val="E6EDF3"/>
                          </a:solidFill>
                          <a:latin typeface="Calibri" pitchFamily="34" charset="0"/>
                          <a:ea typeface="Calibri" pitchFamily="34" charset="-122"/>
                          <a:cs typeface="Calibri" pitchFamily="34" charset="-120"/>
                        </a:rPr>
                        <a:t>guaranteed</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r>
                        <a:rPr lang="en-US" sz="1500" dirty="0">
                          <a:solidFill>
                            <a:srgbClr val="E6EDF3"/>
                          </a:solidFill>
                          <a:latin typeface="Calibri" pitchFamily="34" charset="0"/>
                          <a:ea typeface="Calibri" pitchFamily="34" charset="-122"/>
                          <a:cs typeface="Calibri" pitchFamily="34" charset="-120"/>
                        </a:rPr>
                        <a:t>1 jika S berikutnya pasti rate-up</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r>
              <a:tr h="548640">
                <a:tc>
                  <a:txBody>
                    <a:bodyPr/>
                    <a:lstStyle/>
                    <a:p>
                      <a:pPr algn="l" indent="0" marL="0">
                        <a:buNone/>
                      </a:pPr>
                      <a:r>
                        <a:rPr lang="en-US" sz="1500" dirty="0">
                          <a:solidFill>
                            <a:srgbClr val="E6EDF3"/>
                          </a:solidFill>
                          <a:latin typeface="Calibri" pitchFamily="34" charset="0"/>
                          <a:ea typeface="Calibri" pitchFamily="34" charset="-122"/>
                          <a:cs typeface="Calibri" pitchFamily="34" charset="-120"/>
                        </a:rPr>
                        <a:t>is_wengine</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c>
                  <a:txBody>
                    <a:bodyPr/>
                    <a:lstStyle/>
                    <a:p>
                      <a:pPr algn="ctr" indent="0" marL="0">
                        <a:buNone/>
                      </a:pPr>
                      <a:r>
                        <a:rPr lang="en-US" sz="1500" dirty="0">
                          <a:solidFill>
                            <a:srgbClr val="E6EDF3"/>
                          </a:solidFill>
                          <a:latin typeface="Calibri" pitchFamily="34" charset="0"/>
                          <a:ea typeface="Calibri" pitchFamily="34" charset="-122"/>
                          <a:cs typeface="Calibri" pitchFamily="34" charset="-120"/>
                        </a:rPr>
                        <a:t>1 = W-Engine, 0 = Agent</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r>
            </a:tbl>
          </a:graphicData>
        </a:graphic>
      </p:graphicFrame>
      <p:sp>
        <p:nvSpPr>
          <p:cNvPr id="7" name="Shape 4"/>
          <p:cNvSpPr/>
          <p:nvPr/>
        </p:nvSpPr>
        <p:spPr>
          <a:xfrm>
            <a:off x="6949440" y="1645920"/>
            <a:ext cx="4663440" cy="1920240"/>
          </a:xfrm>
          <a:prstGeom prst="roundRect">
            <a:avLst>
              <a:gd name="adj" fmla="val 3810"/>
            </a:avLst>
          </a:prstGeom>
          <a:solidFill>
            <a:srgbClr val="1C2230"/>
          </a:solidFill>
          <a:ln w="9525">
            <a:solidFill>
              <a:srgbClr val="30363D"/>
            </a:solidFill>
            <a:prstDash val="solid"/>
          </a:ln>
        </p:spPr>
      </p:sp>
      <p:sp>
        <p:nvSpPr>
          <p:cNvPr id="8" name="Text 5"/>
          <p:cNvSpPr txBox="1"/>
          <p:nvPr/>
        </p:nvSpPr>
        <p:spPr>
          <a:xfrm>
            <a:off x="7178040" y="1874520"/>
            <a:ext cx="4206240" cy="411480"/>
          </a:xfrm>
          <a:prstGeom prst="rect">
            <a:avLst/>
          </a:prstGeom>
          <a:noFill/>
          <a:ln/>
        </p:spPr>
        <p:txBody>
          <a:bodyPr wrap="square" lIns="0" tIns="0" rIns="0" bIns="0" rtlCol="0" anchor="t"/>
          <a:lstStyle/>
          <a:p>
            <a:pPr indent="0" marL="0">
              <a:buNone/>
            </a:pPr>
            <a:r>
              <a:rPr lang="en-US" sz="1800" b="1" dirty="0">
                <a:solidFill>
                  <a:srgbClr val="8B949E"/>
                </a:solidFill>
                <a:latin typeface="Cambria" pitchFamily="34" charset="0"/>
                <a:ea typeface="Cambria" pitchFamily="34" charset="-122"/>
                <a:cs typeface="Cambria" pitchFamily="34" charset="-120"/>
              </a:rPr>
              <a:t>Tugas A</a:t>
            </a:r>
            <a:endParaRPr lang="en-US" sz="1800" dirty="0"/>
          </a:p>
        </p:txBody>
      </p:sp>
      <p:sp>
        <p:nvSpPr>
          <p:cNvPr id="9" name="Text 6"/>
          <p:cNvSpPr txBox="1"/>
          <p:nvPr/>
        </p:nvSpPr>
        <p:spPr>
          <a:xfrm>
            <a:off x="7178040" y="2331720"/>
            <a:ext cx="4206240" cy="1051560"/>
          </a:xfrm>
          <a:prstGeom prst="rect">
            <a:avLst/>
          </a:prstGeom>
          <a:noFill/>
          <a:ln/>
        </p:spPr>
        <p:txBody>
          <a:bodyPr wrap="square" lIns="0" tIns="0" rIns="0" bIns="0" rtlCol="0" anchor="t"/>
          <a:lstStyle/>
          <a:p>
            <a:pPr indent="0" marL="0">
              <a:spcAft>
                <a:spcPts val="400"/>
              </a:spcAft>
              <a:buNone/>
            </a:pPr>
            <a:r>
              <a:rPr lang="en-US" sz="1600" dirty="0">
                <a:solidFill>
                  <a:srgbClr val="A9B4C2"/>
                </a:solidFill>
                <a:latin typeface="Calibri" pitchFamily="34" charset="0"/>
                <a:ea typeface="Calibri" pitchFamily="34" charset="-122"/>
                <a:cs typeface="Calibri" pitchFamily="34" charset="-120"/>
              </a:rPr>
              <a:t>Dapat S-Rank di pull berikutnya? Kelas positif ±1,7%.</a:t>
            </a:r>
            <a:endParaRPr lang="en-US" sz="1600" dirty="0"/>
          </a:p>
        </p:txBody>
      </p:sp>
      <p:sp>
        <p:nvSpPr>
          <p:cNvPr id="10" name="Shape 7"/>
          <p:cNvSpPr/>
          <p:nvPr/>
        </p:nvSpPr>
        <p:spPr>
          <a:xfrm>
            <a:off x="6949440" y="3794760"/>
            <a:ext cx="4663440" cy="1920240"/>
          </a:xfrm>
          <a:prstGeom prst="roundRect">
            <a:avLst>
              <a:gd name="adj" fmla="val 3810"/>
            </a:avLst>
          </a:prstGeom>
          <a:solidFill>
            <a:srgbClr val="1C2230"/>
          </a:solidFill>
          <a:ln w="9525">
            <a:solidFill>
              <a:srgbClr val="30363D"/>
            </a:solidFill>
            <a:prstDash val="solid"/>
          </a:ln>
        </p:spPr>
      </p:sp>
      <p:sp>
        <p:nvSpPr>
          <p:cNvPr id="11" name="Text 8"/>
          <p:cNvSpPr txBox="1"/>
          <p:nvPr/>
        </p:nvSpPr>
        <p:spPr>
          <a:xfrm>
            <a:off x="7178040" y="4023360"/>
            <a:ext cx="4206240" cy="411480"/>
          </a:xfrm>
          <a:prstGeom prst="rect">
            <a:avLst/>
          </a:prstGeom>
          <a:noFill/>
          <a:ln/>
        </p:spPr>
        <p:txBody>
          <a:bodyPr wrap="square" lIns="0" tIns="0" rIns="0" bIns="0" rtlCol="0" anchor="t"/>
          <a:lstStyle/>
          <a:p>
            <a:pPr indent="0" marL="0">
              <a:buNone/>
            </a:pPr>
            <a:r>
              <a:rPr lang="en-US" sz="1800" b="1" dirty="0">
                <a:solidFill>
                  <a:srgbClr val="F5A623"/>
                </a:solidFill>
                <a:latin typeface="Cambria" pitchFamily="34" charset="0"/>
                <a:ea typeface="Cambria" pitchFamily="34" charset="-122"/>
                <a:cs typeface="Cambria" pitchFamily="34" charset="-120"/>
              </a:rPr>
              <a:t>Tugas B (utama)</a:t>
            </a:r>
            <a:endParaRPr lang="en-US" sz="1800" dirty="0"/>
          </a:p>
        </p:txBody>
      </p:sp>
      <p:sp>
        <p:nvSpPr>
          <p:cNvPr id="12" name="Text 9"/>
          <p:cNvSpPr txBox="1"/>
          <p:nvPr/>
        </p:nvSpPr>
        <p:spPr>
          <a:xfrm>
            <a:off x="7178040" y="4480560"/>
            <a:ext cx="4206240" cy="1051560"/>
          </a:xfrm>
          <a:prstGeom prst="rect">
            <a:avLst/>
          </a:prstGeom>
          <a:noFill/>
          <a:ln/>
        </p:spPr>
        <p:txBody>
          <a:bodyPr wrap="square" lIns="0" tIns="0" rIns="0" bIns="0" rtlCol="0" anchor="t"/>
          <a:lstStyle/>
          <a:p>
            <a:pPr indent="0" marL="0">
              <a:spcAft>
                <a:spcPts val="400"/>
              </a:spcAft>
              <a:buNone/>
            </a:pPr>
            <a:r>
              <a:rPr lang="en-US" sz="1600" dirty="0">
                <a:solidFill>
                  <a:srgbClr val="A9B4C2"/>
                </a:solidFill>
                <a:latin typeface="Calibri" pitchFamily="34" charset="0"/>
                <a:ea typeface="Calibri" pitchFamily="34" charset="-122"/>
                <a:cs typeface="Calibri" pitchFamily="34" charset="-120"/>
              </a:rPr>
              <a:t>Dapat S-Rank dalam 10 pull berikutnya (1x ten-pull)? Kelas positif ±16,6%.</a:t>
            </a:r>
            <a:endParaRPr lang="en-US" sz="1600" dirty="0"/>
          </a:p>
        </p:txBody>
      </p:sp>
      <p:sp>
        <p:nvSpPr>
          <p:cNvPr id="13" name="Text 10"/>
          <p:cNvSpPr txBox="1"/>
          <p:nvPr/>
        </p:nvSpPr>
        <p:spPr>
          <a:xfrm>
            <a:off x="548640" y="4754880"/>
            <a:ext cx="6035040" cy="822960"/>
          </a:xfrm>
          <a:prstGeom prst="rect">
            <a:avLst/>
          </a:prstGeom>
          <a:noFill/>
          <a:ln/>
        </p:spPr>
        <p:txBody>
          <a:bodyPr wrap="square" lIns="0" tIns="0" rIns="0" bIns="0" rtlCol="0" anchor="t"/>
          <a:lstStyle/>
          <a:p>
            <a:pPr indent="0" marL="0">
              <a:buNone/>
            </a:pPr>
            <a:r>
              <a:rPr lang="en-US" sz="1500" dirty="0">
                <a:solidFill>
                  <a:srgbClr val="A9B4C2"/>
                </a:solidFill>
                <a:latin typeface="Calibri" pitchFamily="34" charset="0"/>
                <a:ea typeface="Calibri" pitchFamily="34" charset="-122"/>
                <a:cs typeface="Calibri" pitchFamily="34" charset="-120"/>
              </a:rPr>
              <a:t>Semua fitur diketahui SEBELUM pull dilakukan → tidak ada kebocoran data.</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200" b="1" spc="300" kern="0" dirty="0">
                <a:solidFill>
                  <a:srgbClr val="F5A623"/>
                </a:solidFill>
                <a:latin typeface="Calibri" pitchFamily="34" charset="0"/>
                <a:ea typeface="Calibri" pitchFamily="34" charset="-122"/>
                <a:cs typeface="Calibri" pitchFamily="34" charset="-120"/>
              </a:rPr>
              <a:t>METODE</a:t>
            </a:r>
            <a:endParaRPr lang="en-US" sz="1200" dirty="0"/>
          </a:p>
        </p:txBody>
      </p:sp>
      <p:sp>
        <p:nvSpPr>
          <p:cNvPr id="3" name="Text 1"/>
          <p:cNvSpPr txBox="1"/>
          <p:nvPr/>
        </p:nvSpPr>
        <p:spPr>
          <a:xfrm>
            <a:off x="548640" y="685800"/>
            <a:ext cx="11091672" cy="731520"/>
          </a:xfrm>
          <a:prstGeom prst="rect">
            <a:avLst/>
          </a:prstGeom>
          <a:noFill/>
          <a:ln/>
        </p:spPr>
        <p:txBody>
          <a:bodyPr wrap="square" lIns="0" tIns="0" rIns="0" bIns="0" rtlCol="0" anchor="ctr"/>
          <a:lstStyle/>
          <a:p>
            <a:pPr indent="0" marL="0">
              <a:buNone/>
            </a:pPr>
            <a:r>
              <a:rPr lang="en-US" sz="3200" b="1" dirty="0">
                <a:solidFill>
                  <a:srgbClr val="E6EDF3"/>
                </a:solidFill>
                <a:latin typeface="Cambria" pitchFamily="34" charset="0"/>
                <a:ea typeface="Cambria" pitchFamily="34" charset="-122"/>
                <a:cs typeface="Cambria" pitchFamily="34" charset="-120"/>
              </a:rPr>
              <a:t>Skenario evaluasi</a:t>
            </a:r>
            <a:endParaRPr lang="en-US" sz="32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ZZZ Gacha Predictor · Kelompok 6 · A11.4502</a:t>
            </a:r>
            <a:endParaRPr lang="en-US" sz="1000" dirty="0"/>
          </a:p>
        </p:txBody>
      </p:sp>
      <p:sp>
        <p:nvSpPr>
          <p:cNvPr id="5" name="Text 3"/>
          <p:cNvSpPr txBox="1"/>
          <p:nvPr/>
        </p:nvSpPr>
        <p:spPr>
          <a:xfrm>
            <a:off x="10725912" y="6400800"/>
            <a:ext cx="914400" cy="228600"/>
          </a:xfrm>
          <a:prstGeom prst="rect">
            <a:avLst/>
          </a:prstGeom>
          <a:noFill/>
          <a:ln/>
        </p:spPr>
        <p:txBody>
          <a:bodyPr wrap="square" lIns="0" tIns="0" rIns="0" bIns="0" rtlCol="0" anchor="ctr"/>
          <a:lstStyle/>
          <a:p>
            <a:pPr algn="r" indent="0" marL="0">
              <a:buNone/>
            </a:pPr>
            <a:r>
              <a:rPr lang="en-US" sz="1000" dirty="0">
                <a:solidFill>
                  <a:srgbClr val="8B949E"/>
                </a:solidFill>
                <a:latin typeface="Calibri" pitchFamily="34" charset="0"/>
                <a:ea typeface="Calibri" pitchFamily="34" charset="-122"/>
                <a:cs typeface="Calibri" pitchFamily="34" charset="-120"/>
              </a:rPr>
              <a:t>14</a:t>
            </a:r>
            <a:endParaRPr lang="en-US" sz="1000" dirty="0"/>
          </a:p>
        </p:txBody>
      </p:sp>
      <p:sp>
        <p:nvSpPr>
          <p:cNvPr id="6" name="Shape 4"/>
          <p:cNvSpPr/>
          <p:nvPr/>
        </p:nvSpPr>
        <p:spPr>
          <a:xfrm>
            <a:off x="548640" y="1737360"/>
            <a:ext cx="2103120" cy="3108960"/>
          </a:xfrm>
          <a:prstGeom prst="roundRect">
            <a:avLst>
              <a:gd name="adj" fmla="val 3478"/>
            </a:avLst>
          </a:prstGeom>
          <a:solidFill>
            <a:srgbClr val="1C2230"/>
          </a:solidFill>
          <a:ln w="9525">
            <a:solidFill>
              <a:srgbClr val="30363D"/>
            </a:solidFill>
            <a:prstDash val="solid"/>
          </a:ln>
        </p:spPr>
      </p:sp>
      <p:sp>
        <p:nvSpPr>
          <p:cNvPr id="7" name="Shape 5"/>
          <p:cNvSpPr/>
          <p:nvPr/>
        </p:nvSpPr>
        <p:spPr>
          <a:xfrm>
            <a:off x="777240" y="1965960"/>
            <a:ext cx="457200" cy="457200"/>
          </a:xfrm>
          <a:prstGeom prst="ellipse">
            <a:avLst/>
          </a:prstGeom>
          <a:solidFill>
            <a:srgbClr val="F5A623"/>
          </a:solidFill>
          <a:ln/>
        </p:spPr>
      </p:sp>
      <p:sp>
        <p:nvSpPr>
          <p:cNvPr id="8" name="Text 6"/>
          <p:cNvSpPr txBox="1"/>
          <p:nvPr/>
        </p:nvSpPr>
        <p:spPr>
          <a:xfrm>
            <a:off x="777240" y="1965960"/>
            <a:ext cx="457200" cy="457200"/>
          </a:xfrm>
          <a:prstGeom prst="rect">
            <a:avLst/>
          </a:prstGeom>
          <a:noFill/>
          <a:ln/>
        </p:spPr>
        <p:txBody>
          <a:bodyPr wrap="square" lIns="0" tIns="0" rIns="0" bIns="0" rtlCol="0" anchor="ctr"/>
          <a:lstStyle/>
          <a:p>
            <a:pPr algn="ctr" indent="0" marL="0">
              <a:buNone/>
            </a:pPr>
            <a:r>
              <a:rPr lang="en-US" sz="1600" b="1" dirty="0">
                <a:solidFill>
                  <a:srgbClr val="0E1117"/>
                </a:solidFill>
                <a:latin typeface="Calibri" pitchFamily="34" charset="0"/>
                <a:ea typeface="Calibri" pitchFamily="34" charset="-122"/>
                <a:cs typeface="Calibri" pitchFamily="34" charset="-120"/>
              </a:rPr>
              <a:t>1</a:t>
            </a:r>
            <a:endParaRPr lang="en-US" sz="1600" dirty="0"/>
          </a:p>
        </p:txBody>
      </p:sp>
      <p:sp>
        <p:nvSpPr>
          <p:cNvPr id="9" name="Text 7"/>
          <p:cNvSpPr txBox="1"/>
          <p:nvPr/>
        </p:nvSpPr>
        <p:spPr>
          <a:xfrm>
            <a:off x="777240" y="2560320"/>
            <a:ext cx="1645920" cy="731520"/>
          </a:xfrm>
          <a:prstGeom prst="rect">
            <a:avLst/>
          </a:prstGeom>
          <a:noFill/>
          <a:ln/>
        </p:spPr>
        <p:txBody>
          <a:bodyPr wrap="square" lIns="0" tIns="0" rIns="0" bIns="0" rtlCol="0" anchor="t"/>
          <a:lstStyle/>
          <a:p>
            <a:pPr indent="0" marL="0">
              <a:buNone/>
            </a:pPr>
            <a:r>
              <a:rPr lang="en-US" sz="1700" b="1" dirty="0">
                <a:solidFill>
                  <a:srgbClr val="E6EDF3"/>
                </a:solidFill>
                <a:latin typeface="Cambria" pitchFamily="34" charset="0"/>
                <a:ea typeface="Cambria" pitchFamily="34" charset="-122"/>
                <a:cs typeface="Cambria" pitchFamily="34" charset="-120"/>
              </a:rPr>
              <a:t>Split per akun</a:t>
            </a:r>
            <a:endParaRPr lang="en-US" sz="1700" dirty="0"/>
          </a:p>
        </p:txBody>
      </p:sp>
      <p:sp>
        <p:nvSpPr>
          <p:cNvPr id="10" name="Text 8"/>
          <p:cNvSpPr txBox="1"/>
          <p:nvPr/>
        </p:nvSpPr>
        <p:spPr>
          <a:xfrm>
            <a:off x="777240" y="3337560"/>
            <a:ext cx="1645920" cy="1325880"/>
          </a:xfrm>
          <a:prstGeom prst="rect">
            <a:avLst/>
          </a:prstGeom>
          <a:noFill/>
          <a:ln/>
        </p:spPr>
        <p:txBody>
          <a:bodyPr wrap="square" lIns="0" tIns="0" rIns="0" bIns="0" rtlCol="0" anchor="t"/>
          <a:lstStyle/>
          <a:p>
            <a:pPr indent="0" marL="0">
              <a:spcAft>
                <a:spcPts val="400"/>
              </a:spcAft>
              <a:buNone/>
            </a:pPr>
            <a:r>
              <a:rPr lang="en-US" sz="1400" dirty="0">
                <a:solidFill>
                  <a:srgbClr val="A9B4C2"/>
                </a:solidFill>
                <a:latin typeface="Calibri" pitchFamily="34" charset="0"/>
                <a:ea typeface="Calibri" pitchFamily="34" charset="-122"/>
                <a:cs typeface="Calibri" pitchFamily="34" charset="-120"/>
              </a:rPr>
              <a:t>Pull dari satu akun tidak boleh ada di data latih dan uji sekaligus.</a:t>
            </a:r>
            <a:endParaRPr lang="en-US" sz="1400" dirty="0"/>
          </a:p>
        </p:txBody>
      </p:sp>
      <p:sp>
        <p:nvSpPr>
          <p:cNvPr id="11" name="Shape 9"/>
          <p:cNvSpPr/>
          <p:nvPr/>
        </p:nvSpPr>
        <p:spPr>
          <a:xfrm>
            <a:off x="2798064" y="1737360"/>
            <a:ext cx="2103120" cy="3108960"/>
          </a:xfrm>
          <a:prstGeom prst="roundRect">
            <a:avLst>
              <a:gd name="adj" fmla="val 3478"/>
            </a:avLst>
          </a:prstGeom>
          <a:solidFill>
            <a:srgbClr val="1C2230"/>
          </a:solidFill>
          <a:ln w="9525">
            <a:solidFill>
              <a:srgbClr val="30363D"/>
            </a:solidFill>
            <a:prstDash val="solid"/>
          </a:ln>
        </p:spPr>
      </p:sp>
      <p:sp>
        <p:nvSpPr>
          <p:cNvPr id="12" name="Shape 10"/>
          <p:cNvSpPr/>
          <p:nvPr/>
        </p:nvSpPr>
        <p:spPr>
          <a:xfrm>
            <a:off x="3026664" y="1965960"/>
            <a:ext cx="457200" cy="457200"/>
          </a:xfrm>
          <a:prstGeom prst="ellipse">
            <a:avLst/>
          </a:prstGeom>
          <a:solidFill>
            <a:srgbClr val="FF7EB6"/>
          </a:solidFill>
          <a:ln/>
        </p:spPr>
      </p:sp>
      <p:sp>
        <p:nvSpPr>
          <p:cNvPr id="13" name="Text 11"/>
          <p:cNvSpPr txBox="1"/>
          <p:nvPr/>
        </p:nvSpPr>
        <p:spPr>
          <a:xfrm>
            <a:off x="3026664" y="1965960"/>
            <a:ext cx="457200" cy="457200"/>
          </a:xfrm>
          <a:prstGeom prst="rect">
            <a:avLst/>
          </a:prstGeom>
          <a:noFill/>
          <a:ln/>
        </p:spPr>
        <p:txBody>
          <a:bodyPr wrap="square" lIns="0" tIns="0" rIns="0" bIns="0" rtlCol="0" anchor="ctr"/>
          <a:lstStyle/>
          <a:p>
            <a:pPr algn="ctr" indent="0" marL="0">
              <a:buNone/>
            </a:pPr>
            <a:r>
              <a:rPr lang="en-US" sz="1600" b="1" dirty="0">
                <a:solidFill>
                  <a:srgbClr val="0E1117"/>
                </a:solidFill>
                <a:latin typeface="Calibri" pitchFamily="34" charset="0"/>
                <a:ea typeface="Calibri" pitchFamily="34" charset="-122"/>
                <a:cs typeface="Calibri" pitchFamily="34" charset="-120"/>
              </a:rPr>
              <a:t>2</a:t>
            </a:r>
            <a:endParaRPr lang="en-US" sz="1600" dirty="0"/>
          </a:p>
        </p:txBody>
      </p:sp>
      <p:sp>
        <p:nvSpPr>
          <p:cNvPr id="14" name="Text 12"/>
          <p:cNvSpPr txBox="1"/>
          <p:nvPr/>
        </p:nvSpPr>
        <p:spPr>
          <a:xfrm>
            <a:off x="3026664" y="2560320"/>
            <a:ext cx="1645920" cy="731520"/>
          </a:xfrm>
          <a:prstGeom prst="rect">
            <a:avLst/>
          </a:prstGeom>
          <a:noFill/>
          <a:ln/>
        </p:spPr>
        <p:txBody>
          <a:bodyPr wrap="square" lIns="0" tIns="0" rIns="0" bIns="0" rtlCol="0" anchor="t"/>
          <a:lstStyle/>
          <a:p>
            <a:pPr indent="0" marL="0">
              <a:buNone/>
            </a:pPr>
            <a:r>
              <a:rPr lang="en-US" sz="1700" b="1" dirty="0">
                <a:solidFill>
                  <a:srgbClr val="E6EDF3"/>
                </a:solidFill>
                <a:latin typeface="Cambria" pitchFamily="34" charset="0"/>
                <a:ea typeface="Cambria" pitchFamily="34" charset="-122"/>
                <a:cs typeface="Cambria" pitchFamily="34" charset="-120"/>
              </a:rPr>
              <a:t>Grid search</a:t>
            </a:r>
            <a:endParaRPr lang="en-US" sz="1700" dirty="0"/>
          </a:p>
        </p:txBody>
      </p:sp>
      <p:sp>
        <p:nvSpPr>
          <p:cNvPr id="15" name="Text 13"/>
          <p:cNvSpPr txBox="1"/>
          <p:nvPr/>
        </p:nvSpPr>
        <p:spPr>
          <a:xfrm>
            <a:off x="3026664" y="3337560"/>
            <a:ext cx="1645920" cy="1325880"/>
          </a:xfrm>
          <a:prstGeom prst="rect">
            <a:avLst/>
          </a:prstGeom>
          <a:noFill/>
          <a:ln/>
        </p:spPr>
        <p:txBody>
          <a:bodyPr wrap="square" lIns="0" tIns="0" rIns="0" bIns="0" rtlCol="0" anchor="t"/>
          <a:lstStyle/>
          <a:p>
            <a:pPr indent="0" marL="0">
              <a:spcAft>
                <a:spcPts val="400"/>
              </a:spcAft>
              <a:buNone/>
            </a:pPr>
            <a:r>
              <a:rPr lang="en-US" sz="1400" dirty="0">
                <a:solidFill>
                  <a:srgbClr val="A9B4C2"/>
                </a:solidFill>
                <a:latin typeface="Calibri" pitchFamily="34" charset="0"/>
                <a:ea typeface="Calibri" pitchFamily="34" charset="-122"/>
                <a:cs typeface="Calibri" pitchFamily="34" charset="-120"/>
              </a:rPr>
              <a:t>Hyperparameter dipilih di 100 akun simulasi terpisah (tidak dipakai evaluasi).</a:t>
            </a:r>
            <a:endParaRPr lang="en-US" sz="1400" dirty="0"/>
          </a:p>
        </p:txBody>
      </p:sp>
      <p:sp>
        <p:nvSpPr>
          <p:cNvPr id="16" name="Shape 14"/>
          <p:cNvSpPr/>
          <p:nvPr/>
        </p:nvSpPr>
        <p:spPr>
          <a:xfrm>
            <a:off x="5047488" y="1737360"/>
            <a:ext cx="2103120" cy="3108960"/>
          </a:xfrm>
          <a:prstGeom prst="roundRect">
            <a:avLst>
              <a:gd name="adj" fmla="val 3478"/>
            </a:avLst>
          </a:prstGeom>
          <a:solidFill>
            <a:srgbClr val="1C2230"/>
          </a:solidFill>
          <a:ln w="9525">
            <a:solidFill>
              <a:srgbClr val="30363D"/>
            </a:solidFill>
            <a:prstDash val="solid"/>
          </a:ln>
        </p:spPr>
      </p:sp>
      <p:sp>
        <p:nvSpPr>
          <p:cNvPr id="17" name="Shape 15"/>
          <p:cNvSpPr/>
          <p:nvPr/>
        </p:nvSpPr>
        <p:spPr>
          <a:xfrm>
            <a:off x="5276088" y="1965960"/>
            <a:ext cx="457200" cy="457200"/>
          </a:xfrm>
          <a:prstGeom prst="ellipse">
            <a:avLst/>
          </a:prstGeom>
          <a:solidFill>
            <a:srgbClr val="58A6FF"/>
          </a:solidFill>
          <a:ln/>
        </p:spPr>
      </p:sp>
      <p:sp>
        <p:nvSpPr>
          <p:cNvPr id="18" name="Text 16"/>
          <p:cNvSpPr txBox="1"/>
          <p:nvPr/>
        </p:nvSpPr>
        <p:spPr>
          <a:xfrm>
            <a:off x="5276088" y="1965960"/>
            <a:ext cx="457200" cy="457200"/>
          </a:xfrm>
          <a:prstGeom prst="rect">
            <a:avLst/>
          </a:prstGeom>
          <a:noFill/>
          <a:ln/>
        </p:spPr>
        <p:txBody>
          <a:bodyPr wrap="square" lIns="0" tIns="0" rIns="0" bIns="0" rtlCol="0" anchor="ctr"/>
          <a:lstStyle/>
          <a:p>
            <a:pPr algn="ctr" indent="0" marL="0">
              <a:buNone/>
            </a:pPr>
            <a:r>
              <a:rPr lang="en-US" sz="1600" b="1" dirty="0">
                <a:solidFill>
                  <a:srgbClr val="0E1117"/>
                </a:solidFill>
                <a:latin typeface="Calibri" pitchFamily="34" charset="0"/>
                <a:ea typeface="Calibri" pitchFamily="34" charset="-122"/>
                <a:cs typeface="Calibri" pitchFamily="34" charset="-120"/>
              </a:rPr>
              <a:t>3</a:t>
            </a:r>
            <a:endParaRPr lang="en-US" sz="1600" dirty="0"/>
          </a:p>
        </p:txBody>
      </p:sp>
      <p:sp>
        <p:nvSpPr>
          <p:cNvPr id="19" name="Text 17"/>
          <p:cNvSpPr txBox="1"/>
          <p:nvPr/>
        </p:nvSpPr>
        <p:spPr>
          <a:xfrm>
            <a:off x="5276088" y="2560320"/>
            <a:ext cx="1645920" cy="731520"/>
          </a:xfrm>
          <a:prstGeom prst="rect">
            <a:avLst/>
          </a:prstGeom>
          <a:noFill/>
          <a:ln/>
        </p:spPr>
        <p:txBody>
          <a:bodyPr wrap="square" lIns="0" tIns="0" rIns="0" bIns="0" rtlCol="0" anchor="t"/>
          <a:lstStyle/>
          <a:p>
            <a:pPr indent="0" marL="0">
              <a:buNone/>
            </a:pPr>
            <a:r>
              <a:rPr lang="en-US" sz="1700" b="1" dirty="0">
                <a:solidFill>
                  <a:srgbClr val="E6EDF3"/>
                </a:solidFill>
                <a:latin typeface="Cambria" pitchFamily="34" charset="0"/>
                <a:ea typeface="Cambria" pitchFamily="34" charset="-122"/>
                <a:cs typeface="Cambria" pitchFamily="34" charset="-120"/>
              </a:rPr>
              <a:t>5-fold GroupKFold</a:t>
            </a:r>
            <a:endParaRPr lang="en-US" sz="1700" dirty="0"/>
          </a:p>
        </p:txBody>
      </p:sp>
      <p:sp>
        <p:nvSpPr>
          <p:cNvPr id="20" name="Text 18"/>
          <p:cNvSpPr txBox="1"/>
          <p:nvPr/>
        </p:nvSpPr>
        <p:spPr>
          <a:xfrm>
            <a:off x="5276088" y="3337560"/>
            <a:ext cx="1645920" cy="1325880"/>
          </a:xfrm>
          <a:prstGeom prst="rect">
            <a:avLst/>
          </a:prstGeom>
          <a:noFill/>
          <a:ln/>
        </p:spPr>
        <p:txBody>
          <a:bodyPr wrap="square" lIns="0" tIns="0" rIns="0" bIns="0" rtlCol="0" anchor="t"/>
          <a:lstStyle/>
          <a:p>
            <a:pPr indent="0" marL="0">
              <a:spcAft>
                <a:spcPts val="400"/>
              </a:spcAft>
              <a:buNone/>
            </a:pPr>
            <a:r>
              <a:rPr lang="en-US" sz="1400" dirty="0">
                <a:solidFill>
                  <a:srgbClr val="A9B4C2"/>
                </a:solidFill>
                <a:latin typeface="Calibri" pitchFamily="34" charset="0"/>
                <a:ea typeface="Calibri" pitchFamily="34" charset="-122"/>
                <a:cs typeface="Calibri" pitchFamily="34" charset="-120"/>
              </a:rPr>
              <a:t>Rata-rata ± simpangan baku, lalu uji t berpasangan terkoreksi.</a:t>
            </a:r>
            <a:endParaRPr lang="en-US" sz="1400" dirty="0"/>
          </a:p>
        </p:txBody>
      </p:sp>
      <p:sp>
        <p:nvSpPr>
          <p:cNvPr id="21" name="Shape 19"/>
          <p:cNvSpPr/>
          <p:nvPr/>
        </p:nvSpPr>
        <p:spPr>
          <a:xfrm>
            <a:off x="7296912" y="1737360"/>
            <a:ext cx="2103120" cy="3108960"/>
          </a:xfrm>
          <a:prstGeom prst="roundRect">
            <a:avLst>
              <a:gd name="adj" fmla="val 3478"/>
            </a:avLst>
          </a:prstGeom>
          <a:solidFill>
            <a:srgbClr val="1C2230"/>
          </a:solidFill>
          <a:ln w="9525">
            <a:solidFill>
              <a:srgbClr val="30363D"/>
            </a:solidFill>
            <a:prstDash val="solid"/>
          </a:ln>
        </p:spPr>
      </p:sp>
      <p:sp>
        <p:nvSpPr>
          <p:cNvPr id="22" name="Shape 20"/>
          <p:cNvSpPr/>
          <p:nvPr/>
        </p:nvSpPr>
        <p:spPr>
          <a:xfrm>
            <a:off x="7525512" y="1965960"/>
            <a:ext cx="457200" cy="457200"/>
          </a:xfrm>
          <a:prstGeom prst="ellipse">
            <a:avLst/>
          </a:prstGeom>
          <a:solidFill>
            <a:srgbClr val="3FB950"/>
          </a:solidFill>
          <a:ln/>
        </p:spPr>
      </p:sp>
      <p:sp>
        <p:nvSpPr>
          <p:cNvPr id="23" name="Text 21"/>
          <p:cNvSpPr txBox="1"/>
          <p:nvPr/>
        </p:nvSpPr>
        <p:spPr>
          <a:xfrm>
            <a:off x="7525512" y="1965960"/>
            <a:ext cx="457200" cy="457200"/>
          </a:xfrm>
          <a:prstGeom prst="rect">
            <a:avLst/>
          </a:prstGeom>
          <a:noFill/>
          <a:ln/>
        </p:spPr>
        <p:txBody>
          <a:bodyPr wrap="square" lIns="0" tIns="0" rIns="0" bIns="0" rtlCol="0" anchor="ctr"/>
          <a:lstStyle/>
          <a:p>
            <a:pPr algn="ctr" indent="0" marL="0">
              <a:buNone/>
            </a:pPr>
            <a:r>
              <a:rPr lang="en-US" sz="1600" b="1" dirty="0">
                <a:solidFill>
                  <a:srgbClr val="0E1117"/>
                </a:solidFill>
                <a:latin typeface="Calibri" pitchFamily="34" charset="0"/>
                <a:ea typeface="Calibri" pitchFamily="34" charset="-122"/>
                <a:cs typeface="Calibri" pitchFamily="34" charset="-120"/>
              </a:rPr>
              <a:t>4</a:t>
            </a:r>
            <a:endParaRPr lang="en-US" sz="1600" dirty="0"/>
          </a:p>
        </p:txBody>
      </p:sp>
      <p:sp>
        <p:nvSpPr>
          <p:cNvPr id="24" name="Text 22"/>
          <p:cNvSpPr txBox="1"/>
          <p:nvPr/>
        </p:nvSpPr>
        <p:spPr>
          <a:xfrm>
            <a:off x="7525512" y="2560320"/>
            <a:ext cx="1645920" cy="731520"/>
          </a:xfrm>
          <a:prstGeom prst="rect">
            <a:avLst/>
          </a:prstGeom>
          <a:noFill/>
          <a:ln/>
        </p:spPr>
        <p:txBody>
          <a:bodyPr wrap="square" lIns="0" tIns="0" rIns="0" bIns="0" rtlCol="0" anchor="t"/>
          <a:lstStyle/>
          <a:p>
            <a:pPr indent="0" marL="0">
              <a:buNone/>
            </a:pPr>
            <a:r>
              <a:rPr lang="en-US" sz="1700" b="1" dirty="0">
                <a:solidFill>
                  <a:srgbClr val="E6EDF3"/>
                </a:solidFill>
                <a:latin typeface="Cambria" pitchFamily="34" charset="0"/>
                <a:ea typeface="Cambria" pitchFamily="34" charset="-122"/>
                <a:cs typeface="Cambria" pitchFamily="34" charset="-120"/>
              </a:rPr>
              <a:t>Uji data asli</a:t>
            </a:r>
            <a:endParaRPr lang="en-US" sz="1700" dirty="0"/>
          </a:p>
        </p:txBody>
      </p:sp>
      <p:sp>
        <p:nvSpPr>
          <p:cNvPr id="25" name="Text 23"/>
          <p:cNvSpPr txBox="1"/>
          <p:nvPr/>
        </p:nvSpPr>
        <p:spPr>
          <a:xfrm>
            <a:off x="7525512" y="3337560"/>
            <a:ext cx="1645920" cy="1325880"/>
          </a:xfrm>
          <a:prstGeom prst="rect">
            <a:avLst/>
          </a:prstGeom>
          <a:noFill/>
          <a:ln/>
        </p:spPr>
        <p:txBody>
          <a:bodyPr wrap="square" lIns="0" tIns="0" rIns="0" bIns="0" rtlCol="0" anchor="t"/>
          <a:lstStyle/>
          <a:p>
            <a:pPr indent="0" marL="0">
              <a:spcAft>
                <a:spcPts val="400"/>
              </a:spcAft>
              <a:buNone/>
            </a:pPr>
            <a:r>
              <a:rPr lang="en-US" sz="1400" dirty="0">
                <a:solidFill>
                  <a:srgbClr val="A9B4C2"/>
                </a:solidFill>
                <a:latin typeface="Calibri" pitchFamily="34" charset="0"/>
                <a:ea typeface="Calibri" pitchFamily="34" charset="-122"/>
                <a:cs typeface="Calibri" pitchFamily="34" charset="-120"/>
              </a:rPr>
              <a:t>Model diuji di 2 akun asli yang tidak pernah dilihat saat latih.</a:t>
            </a:r>
            <a:endParaRPr lang="en-US" sz="1400" dirty="0"/>
          </a:p>
        </p:txBody>
      </p:sp>
      <p:sp>
        <p:nvSpPr>
          <p:cNvPr id="26" name="Shape 24"/>
          <p:cNvSpPr/>
          <p:nvPr/>
        </p:nvSpPr>
        <p:spPr>
          <a:xfrm>
            <a:off x="9546336" y="1737360"/>
            <a:ext cx="2103120" cy="3108960"/>
          </a:xfrm>
          <a:prstGeom prst="roundRect">
            <a:avLst>
              <a:gd name="adj" fmla="val 3478"/>
            </a:avLst>
          </a:prstGeom>
          <a:solidFill>
            <a:srgbClr val="1C2230"/>
          </a:solidFill>
          <a:ln w="9525">
            <a:solidFill>
              <a:srgbClr val="30363D"/>
            </a:solidFill>
            <a:prstDash val="solid"/>
          </a:ln>
        </p:spPr>
      </p:sp>
      <p:sp>
        <p:nvSpPr>
          <p:cNvPr id="27" name="Shape 25"/>
          <p:cNvSpPr/>
          <p:nvPr/>
        </p:nvSpPr>
        <p:spPr>
          <a:xfrm>
            <a:off x="9774936" y="1965960"/>
            <a:ext cx="457200" cy="457200"/>
          </a:xfrm>
          <a:prstGeom prst="ellipse">
            <a:avLst/>
          </a:prstGeom>
          <a:solidFill>
            <a:srgbClr val="BC8CFF"/>
          </a:solidFill>
          <a:ln/>
        </p:spPr>
      </p:sp>
      <p:sp>
        <p:nvSpPr>
          <p:cNvPr id="28" name="Text 26"/>
          <p:cNvSpPr txBox="1"/>
          <p:nvPr/>
        </p:nvSpPr>
        <p:spPr>
          <a:xfrm>
            <a:off x="9774936" y="1965960"/>
            <a:ext cx="457200" cy="457200"/>
          </a:xfrm>
          <a:prstGeom prst="rect">
            <a:avLst/>
          </a:prstGeom>
          <a:noFill/>
          <a:ln/>
        </p:spPr>
        <p:txBody>
          <a:bodyPr wrap="square" lIns="0" tIns="0" rIns="0" bIns="0" rtlCol="0" anchor="ctr"/>
          <a:lstStyle/>
          <a:p>
            <a:pPr algn="ctr" indent="0" marL="0">
              <a:buNone/>
            </a:pPr>
            <a:r>
              <a:rPr lang="en-US" sz="1600" b="1" dirty="0">
                <a:solidFill>
                  <a:srgbClr val="0E1117"/>
                </a:solidFill>
                <a:latin typeface="Calibri" pitchFamily="34" charset="0"/>
                <a:ea typeface="Calibri" pitchFamily="34" charset="-122"/>
                <a:cs typeface="Calibri" pitchFamily="34" charset="-120"/>
              </a:rPr>
              <a:t>5</a:t>
            </a:r>
            <a:endParaRPr lang="en-US" sz="1600" dirty="0"/>
          </a:p>
        </p:txBody>
      </p:sp>
      <p:sp>
        <p:nvSpPr>
          <p:cNvPr id="29" name="Text 27"/>
          <p:cNvSpPr txBox="1"/>
          <p:nvPr/>
        </p:nvSpPr>
        <p:spPr>
          <a:xfrm>
            <a:off x="9774936" y="2560320"/>
            <a:ext cx="1645920" cy="731520"/>
          </a:xfrm>
          <a:prstGeom prst="rect">
            <a:avLst/>
          </a:prstGeom>
          <a:noFill/>
          <a:ln/>
        </p:spPr>
        <p:txBody>
          <a:bodyPr wrap="square" lIns="0" tIns="0" rIns="0" bIns="0" rtlCol="0" anchor="t"/>
          <a:lstStyle/>
          <a:p>
            <a:pPr indent="0" marL="0">
              <a:buNone/>
            </a:pPr>
            <a:r>
              <a:rPr lang="en-US" sz="1700" b="1" dirty="0">
                <a:solidFill>
                  <a:srgbClr val="E6EDF3"/>
                </a:solidFill>
                <a:latin typeface="Cambria" pitchFamily="34" charset="0"/>
                <a:ea typeface="Cambria" pitchFamily="34" charset="-122"/>
                <a:cs typeface="Cambria" pitchFamily="34" charset="-120"/>
              </a:rPr>
              <a:t>Latih di data asli</a:t>
            </a:r>
            <a:endParaRPr lang="en-US" sz="1700" dirty="0"/>
          </a:p>
        </p:txBody>
      </p:sp>
      <p:sp>
        <p:nvSpPr>
          <p:cNvPr id="30" name="Text 28"/>
          <p:cNvSpPr txBox="1"/>
          <p:nvPr/>
        </p:nvSpPr>
        <p:spPr>
          <a:xfrm>
            <a:off x="9774936" y="3337560"/>
            <a:ext cx="1645920" cy="1325880"/>
          </a:xfrm>
          <a:prstGeom prst="rect">
            <a:avLst/>
          </a:prstGeom>
          <a:noFill/>
          <a:ln/>
        </p:spPr>
        <p:txBody>
          <a:bodyPr wrap="square" lIns="0" tIns="0" rIns="0" bIns="0" rtlCol="0" anchor="t"/>
          <a:lstStyle/>
          <a:p>
            <a:pPr indent="0" marL="0">
              <a:spcAft>
                <a:spcPts val="400"/>
              </a:spcAft>
              <a:buNone/>
            </a:pPr>
            <a:r>
              <a:rPr lang="en-US" sz="1400" dirty="0">
                <a:solidFill>
                  <a:srgbClr val="A9B4C2"/>
                </a:solidFill>
                <a:latin typeface="Calibri" pitchFamily="34" charset="0"/>
                <a:ea typeface="Calibri" pitchFamily="34" charset="-122"/>
                <a:cs typeface="Calibri" pitchFamily="34" charset="-120"/>
              </a:rPr>
              <a:t>Latih + uji hanya data asli, 5-fold per siklus pity, nested grid search.</a:t>
            </a:r>
            <a:endParaRPr lang="en-US" sz="1400" dirty="0"/>
          </a:p>
        </p:txBody>
      </p:sp>
      <p:sp>
        <p:nvSpPr>
          <p:cNvPr id="31" name="Text 29"/>
          <p:cNvSpPr txBox="1"/>
          <p:nvPr/>
        </p:nvSpPr>
        <p:spPr>
          <a:xfrm>
            <a:off x="548640" y="5029200"/>
            <a:ext cx="10972800" cy="457200"/>
          </a:xfrm>
          <a:prstGeom prst="rect">
            <a:avLst/>
          </a:prstGeom>
          <a:noFill/>
          <a:ln/>
        </p:spPr>
        <p:txBody>
          <a:bodyPr wrap="square" lIns="0" tIns="0" rIns="0" bIns="0" rtlCol="0" anchor="ctr"/>
          <a:lstStyle/>
          <a:p>
            <a:pPr indent="0" marL="0">
              <a:buNone/>
            </a:pPr>
            <a:r>
              <a:rPr lang="en-US" sz="1600" dirty="0">
                <a:solidFill>
                  <a:srgbClr val="A9B4C2"/>
                </a:solidFill>
                <a:latin typeface="Calibri" pitchFamily="34" charset="0"/>
                <a:ea typeface="Calibri" pitchFamily="34" charset="-122"/>
                <a:cs typeface="Calibri" pitchFamily="34" charset="-120"/>
              </a:rPr>
              <a:t>Pembanding: Baseline (selalu "tidak S") dan Markov Chain (acuan teori).</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200" b="1" spc="300" kern="0" dirty="0">
                <a:solidFill>
                  <a:srgbClr val="F5A623"/>
                </a:solidFill>
                <a:latin typeface="Calibri" pitchFamily="34" charset="0"/>
                <a:ea typeface="Calibri" pitchFamily="34" charset="-122"/>
                <a:cs typeface="Calibri" pitchFamily="34" charset="-120"/>
              </a:rPr>
              <a:t>RANCANGAN</a:t>
            </a:r>
            <a:endParaRPr lang="en-US" sz="1200" dirty="0"/>
          </a:p>
        </p:txBody>
      </p:sp>
      <p:sp>
        <p:nvSpPr>
          <p:cNvPr id="3" name="Text 1"/>
          <p:cNvSpPr txBox="1"/>
          <p:nvPr/>
        </p:nvSpPr>
        <p:spPr>
          <a:xfrm>
            <a:off x="548640" y="685800"/>
            <a:ext cx="11091672" cy="731520"/>
          </a:xfrm>
          <a:prstGeom prst="rect">
            <a:avLst/>
          </a:prstGeom>
          <a:noFill/>
          <a:ln/>
        </p:spPr>
        <p:txBody>
          <a:bodyPr wrap="square" lIns="0" tIns="0" rIns="0" bIns="0" rtlCol="0" anchor="ctr"/>
          <a:lstStyle/>
          <a:p>
            <a:pPr indent="0" marL="0">
              <a:buNone/>
            </a:pPr>
            <a:r>
              <a:rPr lang="en-US" sz="3200" b="1" dirty="0">
                <a:solidFill>
                  <a:srgbClr val="E6EDF3"/>
                </a:solidFill>
                <a:latin typeface="Cambria" pitchFamily="34" charset="0"/>
                <a:ea typeface="Cambria" pitchFamily="34" charset="-122"/>
                <a:cs typeface="Cambria" pitchFamily="34" charset="-120"/>
              </a:rPr>
              <a:t>Rancangan aplikasi web</a:t>
            </a:r>
            <a:endParaRPr lang="en-US" sz="32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ZZZ Gacha Predictor · Kelompok 6 · A11.4502</a:t>
            </a:r>
            <a:endParaRPr lang="en-US" sz="1000" dirty="0"/>
          </a:p>
        </p:txBody>
      </p:sp>
      <p:sp>
        <p:nvSpPr>
          <p:cNvPr id="5" name="Text 3"/>
          <p:cNvSpPr txBox="1"/>
          <p:nvPr/>
        </p:nvSpPr>
        <p:spPr>
          <a:xfrm>
            <a:off x="10725912" y="6400800"/>
            <a:ext cx="914400" cy="228600"/>
          </a:xfrm>
          <a:prstGeom prst="rect">
            <a:avLst/>
          </a:prstGeom>
          <a:noFill/>
          <a:ln/>
        </p:spPr>
        <p:txBody>
          <a:bodyPr wrap="square" lIns="0" tIns="0" rIns="0" bIns="0" rtlCol="0" anchor="ctr"/>
          <a:lstStyle/>
          <a:p>
            <a:pPr algn="r" indent="0" marL="0">
              <a:buNone/>
            </a:pPr>
            <a:r>
              <a:rPr lang="en-US" sz="1000" dirty="0">
                <a:solidFill>
                  <a:srgbClr val="8B949E"/>
                </a:solidFill>
                <a:latin typeface="Calibri" pitchFamily="34" charset="0"/>
                <a:ea typeface="Calibri" pitchFamily="34" charset="-122"/>
                <a:cs typeface="Calibri" pitchFamily="34" charset="-120"/>
              </a:rPr>
              <a:t>15</a:t>
            </a:r>
            <a:endParaRPr lang="en-US" sz="1000" dirty="0"/>
          </a:p>
        </p:txBody>
      </p:sp>
      <p:pic>
        <p:nvPicPr>
          <p:cNvPr id="6" name="Image 0" descr="app_kalkulator_top.png">    </p:cNvPr>
          <p:cNvPicPr>
            <a:picLocks noChangeAspect="1"/>
          </p:cNvPicPr>
          <p:nvPr/>
        </p:nvPicPr>
        <p:blipFill>
          <a:blip r:embed="rId1"/>
          <a:stretch>
            <a:fillRect/>
          </a:stretch>
        </p:blipFill>
        <p:spPr>
          <a:xfrm>
            <a:off x="1734503" y="1463040"/>
            <a:ext cx="3480435" cy="4800600"/>
          </a:xfrm>
          <a:prstGeom prst="rect">
            <a:avLst/>
          </a:prstGeom>
        </p:spPr>
      </p:pic>
      <p:sp>
        <p:nvSpPr>
          <p:cNvPr id="7" name="Text 4"/>
          <p:cNvSpPr txBox="1"/>
          <p:nvPr/>
        </p:nvSpPr>
        <p:spPr>
          <a:xfrm>
            <a:off x="6675120" y="1737360"/>
            <a:ext cx="4937760" cy="438912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rgbClr val="E6EDF3"/>
                </a:solidFill>
                <a:latin typeface="Calibri" pitchFamily="34" charset="0"/>
                <a:ea typeface="Calibri" pitchFamily="34" charset="-122"/>
                <a:cs typeface="Calibri" pitchFamily="34" charset="-120"/>
              </a:rPr>
              <a:t>Beranda: penjelasan &amp; aturan banner</a:t>
            </a:r>
            <a:endParaRPr lang="en-US" sz="1600" dirty="0"/>
          </a:p>
          <a:p>
            <a:pPr marL="228600" indent="-228600">
              <a:spcAft>
                <a:spcPts val="1000"/>
              </a:spcAft>
              <a:buSzPct val="100000"/>
              <a:buChar char="•"/>
            </a:pPr>
            <a:r>
              <a:rPr lang="en-US" sz="1600" dirty="0">
                <a:solidFill>
                  <a:srgbClr val="E6EDF3"/>
                </a:solidFill>
                <a:latin typeface="Calibri" pitchFamily="34" charset="0"/>
                <a:ea typeface="Calibri" pitchFamily="34" charset="-122"/>
                <a:cs typeface="Calibri" pitchFamily="34" charset="-120"/>
              </a:rPr>
              <a:t>Import Data: PowerShell, upload UIGF, input manual, data contoh</a:t>
            </a:r>
            <a:endParaRPr lang="en-US" sz="1600" dirty="0"/>
          </a:p>
          <a:p>
            <a:pPr marL="228600" indent="-228600">
              <a:spcAft>
                <a:spcPts val="1000"/>
              </a:spcAft>
              <a:buSzPct val="100000"/>
              <a:buChar char="•"/>
            </a:pPr>
            <a:r>
              <a:rPr lang="en-US" sz="1600" dirty="0">
                <a:solidFill>
                  <a:srgbClr val="E6EDF3"/>
                </a:solidFill>
                <a:latin typeface="Calibri" pitchFamily="34" charset="0"/>
                <a:ea typeface="Calibri" pitchFamily="34" charset="-122"/>
                <a:cs typeface="Calibri" pitchFamily="34" charset="-120"/>
              </a:rPr>
              <a:t>Kalkulator Peluang: Markov Chain + prediksi 6 algoritma</a:t>
            </a:r>
            <a:endParaRPr lang="en-US" sz="1600" dirty="0"/>
          </a:p>
          <a:p>
            <a:pPr marL="228600" indent="-228600">
              <a:spcAft>
                <a:spcPts val="1000"/>
              </a:spcAft>
              <a:buSzPct val="100000"/>
              <a:buChar char="•"/>
            </a:pPr>
            <a:r>
              <a:rPr lang="en-US" sz="1600" dirty="0">
                <a:solidFill>
                  <a:srgbClr val="E6EDF3"/>
                </a:solidFill>
                <a:latin typeface="Calibri" pitchFamily="34" charset="0"/>
                <a:ea typeface="Calibri" pitchFamily="34" charset="-122"/>
                <a:cs typeface="Calibri" pitchFamily="34" charset="-120"/>
              </a:rPr>
              <a:t>Statistik Riwayat: pity tiap S, menang 50/50</a:t>
            </a:r>
            <a:endParaRPr lang="en-US" sz="1600" dirty="0"/>
          </a:p>
          <a:p>
            <a:pPr marL="228600" indent="-228600">
              <a:spcAft>
                <a:spcPts val="1000"/>
              </a:spcAft>
              <a:buSzPct val="100000"/>
              <a:buChar char="•"/>
            </a:pPr>
            <a:r>
              <a:rPr lang="en-US" sz="1600" dirty="0">
                <a:solidFill>
                  <a:srgbClr val="E6EDF3"/>
                </a:solidFill>
                <a:latin typeface="Calibri" pitchFamily="34" charset="0"/>
                <a:ea typeface="Calibri" pitchFamily="34" charset="-122"/>
                <a:cs typeface="Calibri" pitchFamily="34" charset="-120"/>
              </a:rPr>
              <a:t>Perbandingan Algoritma: metrik, kurva, confusion matrix</a:t>
            </a:r>
            <a:endParaRPr lang="en-US" sz="1600" dirty="0"/>
          </a:p>
          <a:p>
            <a:pPr marL="228600" indent="-228600">
              <a:spcAft>
                <a:spcPts val="1000"/>
              </a:spcAft>
              <a:buSzPct val="100000"/>
              <a:buChar char="•"/>
            </a:pPr>
            <a:r>
              <a:rPr lang="en-US" sz="1600" dirty="0">
                <a:solidFill>
                  <a:srgbClr val="E6EDF3"/>
                </a:solidFill>
                <a:latin typeface="Calibri" pitchFamily="34" charset="0"/>
                <a:ea typeface="Calibri" pitchFamily="34" charset="-122"/>
                <a:cs typeface="Calibri" pitchFamily="34" charset="-120"/>
              </a:rPr>
              <a:t>Tema gelap, nyaman di HP</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200" b="1" spc="300" kern="0" dirty="0">
                <a:solidFill>
                  <a:srgbClr val="F5A623"/>
                </a:solidFill>
                <a:latin typeface="Calibri" pitchFamily="34" charset="0"/>
                <a:ea typeface="Calibri" pitchFamily="34" charset="-122"/>
                <a:cs typeface="Calibri" pitchFamily="34" charset="-120"/>
              </a:rPr>
              <a:t>PROGRES</a:t>
            </a:r>
            <a:endParaRPr lang="en-US" sz="1200" dirty="0"/>
          </a:p>
        </p:txBody>
      </p:sp>
      <p:sp>
        <p:nvSpPr>
          <p:cNvPr id="3" name="Text 1"/>
          <p:cNvSpPr txBox="1"/>
          <p:nvPr/>
        </p:nvSpPr>
        <p:spPr>
          <a:xfrm>
            <a:off x="548640" y="685800"/>
            <a:ext cx="11091672" cy="731520"/>
          </a:xfrm>
          <a:prstGeom prst="rect">
            <a:avLst/>
          </a:prstGeom>
          <a:noFill/>
          <a:ln/>
        </p:spPr>
        <p:txBody>
          <a:bodyPr wrap="square" lIns="0" tIns="0" rIns="0" bIns="0" rtlCol="0" anchor="ctr"/>
          <a:lstStyle/>
          <a:p>
            <a:pPr indent="0" marL="0">
              <a:buNone/>
            </a:pPr>
            <a:r>
              <a:rPr lang="en-US" sz="3200" b="1" dirty="0">
                <a:solidFill>
                  <a:srgbClr val="E6EDF3"/>
                </a:solidFill>
                <a:latin typeface="Cambria" pitchFamily="34" charset="0"/>
                <a:ea typeface="Cambria" pitchFamily="34" charset="-122"/>
                <a:cs typeface="Cambria" pitchFamily="34" charset="-120"/>
              </a:rPr>
              <a:t>Hasil awal prototipe (tugas B)</a:t>
            </a:r>
            <a:endParaRPr lang="en-US" sz="32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ZZZ Gacha Predictor · Kelompok 6 · A11.4502</a:t>
            </a:r>
            <a:endParaRPr lang="en-US" sz="1000" dirty="0"/>
          </a:p>
        </p:txBody>
      </p:sp>
      <p:sp>
        <p:nvSpPr>
          <p:cNvPr id="5" name="Text 3"/>
          <p:cNvSpPr txBox="1"/>
          <p:nvPr/>
        </p:nvSpPr>
        <p:spPr>
          <a:xfrm>
            <a:off x="10725912" y="6400800"/>
            <a:ext cx="914400" cy="228600"/>
          </a:xfrm>
          <a:prstGeom prst="rect">
            <a:avLst/>
          </a:prstGeom>
          <a:noFill/>
          <a:ln/>
        </p:spPr>
        <p:txBody>
          <a:bodyPr wrap="square" lIns="0" tIns="0" rIns="0" bIns="0" rtlCol="0" anchor="ctr"/>
          <a:lstStyle/>
          <a:p>
            <a:pPr algn="r" indent="0" marL="0">
              <a:buNone/>
            </a:pPr>
            <a:r>
              <a:rPr lang="en-US" sz="1000" dirty="0">
                <a:solidFill>
                  <a:srgbClr val="8B949E"/>
                </a:solidFill>
                <a:latin typeface="Calibri" pitchFamily="34" charset="0"/>
                <a:ea typeface="Calibri" pitchFamily="34" charset="-122"/>
                <a:cs typeface="Calibri" pitchFamily="34" charset="-120"/>
              </a:rPr>
              <a:t>16</a:t>
            </a:r>
            <a:endParaRPr lang="en-US" sz="1000" dirty="0"/>
          </a:p>
        </p:txBody>
      </p:sp>
      <p:graphicFrame>
        <p:nvGraphicFramePr>
          <p:cNvPr id="6" name="Chart 0" descr=""/>
          <p:cNvGraphicFramePr/>
          <p:nvPr/>
        </p:nvGraphicFramePr>
        <p:xfrm>
          <a:off x="548640" y="1554480"/>
          <a:ext cx="7680960" cy="466344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8503920" y="1645920"/>
            <a:ext cx="3108960" cy="4389120"/>
          </a:xfrm>
          <a:prstGeom prst="roundRect">
            <a:avLst>
              <a:gd name="adj" fmla="val 2353"/>
            </a:avLst>
          </a:prstGeom>
          <a:solidFill>
            <a:srgbClr val="1C2230"/>
          </a:solidFill>
          <a:ln w="9525">
            <a:solidFill>
              <a:srgbClr val="30363D"/>
            </a:solidFill>
            <a:prstDash val="solid"/>
          </a:ln>
        </p:spPr>
      </p:sp>
      <p:sp>
        <p:nvSpPr>
          <p:cNvPr id="8" name="Text 5"/>
          <p:cNvSpPr txBox="1"/>
          <p:nvPr/>
        </p:nvSpPr>
        <p:spPr>
          <a:xfrm>
            <a:off x="8732520" y="1874520"/>
            <a:ext cx="2651760" cy="411480"/>
          </a:xfrm>
          <a:prstGeom prst="rect">
            <a:avLst/>
          </a:prstGeom>
          <a:noFill/>
          <a:ln/>
        </p:spPr>
        <p:txBody>
          <a:bodyPr wrap="square" lIns="0" tIns="0" rIns="0" bIns="0" rtlCol="0" anchor="t"/>
          <a:lstStyle/>
          <a:p>
            <a:pPr indent="0" marL="0">
              <a:buNone/>
            </a:pPr>
            <a:r>
              <a:rPr lang="en-US" sz="1800" b="1" dirty="0">
                <a:solidFill>
                  <a:srgbClr val="3FB950"/>
                </a:solidFill>
                <a:latin typeface="Cambria" pitchFamily="34" charset="0"/>
                <a:ea typeface="Cambria" pitchFamily="34" charset="-122"/>
                <a:cs typeface="Cambria" pitchFamily="34" charset="-120"/>
              </a:rPr>
              <a:t>Temuan awal</a:t>
            </a:r>
            <a:endParaRPr lang="en-US" sz="1800" dirty="0"/>
          </a:p>
        </p:txBody>
      </p:sp>
      <p:sp>
        <p:nvSpPr>
          <p:cNvPr id="9" name="Text 6"/>
          <p:cNvSpPr txBox="1"/>
          <p:nvPr/>
        </p:nvSpPr>
        <p:spPr>
          <a:xfrm>
            <a:off x="8732520" y="2331720"/>
            <a:ext cx="2651760" cy="3520440"/>
          </a:xfrm>
          <a:prstGeom prst="rect">
            <a:avLst/>
          </a:prstGeom>
          <a:noFill/>
          <a:ln/>
        </p:spPr>
        <p:txBody>
          <a:bodyPr wrap="square" lIns="0" tIns="0" rIns="0" bIns="0" rtlCol="0" anchor="t"/>
          <a:lstStyle/>
          <a:p>
            <a:pPr indent="0" marL="0">
              <a:spcAft>
                <a:spcPts val="400"/>
              </a:spcAft>
              <a:buNone/>
            </a:pPr>
            <a:r>
              <a:rPr lang="en-US" sz="1500" dirty="0">
                <a:solidFill>
                  <a:srgbClr val="A9B4C2"/>
                </a:solidFill>
                <a:latin typeface="Calibri" pitchFamily="34" charset="0"/>
                <a:ea typeface="Calibri" pitchFamily="34" charset="-122"/>
                <a:cs typeface="Calibri" pitchFamily="34" charset="-120"/>
              </a:rPr>
              <a:t>Prototipe sudah jalan; pity akun asli sama dengan di game. Model pohon &amp; KNN ±91% (simulasi) dan ±93% (data asli). Data asli juga memperlihatkan lonjakan S Agent mulai pull ke-74, sesuai estimasi soft pity.</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200" b="1" spc="300" kern="0" dirty="0">
                <a:solidFill>
                  <a:srgbClr val="F5A623"/>
                </a:solidFill>
                <a:latin typeface="Calibri" pitchFamily="34" charset="0"/>
                <a:ea typeface="Calibri" pitchFamily="34" charset="-122"/>
                <a:cs typeface="Calibri" pitchFamily="34" charset="-120"/>
              </a:rPr>
              <a:t>RENCANA</a:t>
            </a:r>
            <a:endParaRPr lang="en-US" sz="1200" dirty="0"/>
          </a:p>
        </p:txBody>
      </p:sp>
      <p:sp>
        <p:nvSpPr>
          <p:cNvPr id="3" name="Text 1"/>
          <p:cNvSpPr txBox="1"/>
          <p:nvPr/>
        </p:nvSpPr>
        <p:spPr>
          <a:xfrm>
            <a:off x="548640" y="685800"/>
            <a:ext cx="11091672" cy="731520"/>
          </a:xfrm>
          <a:prstGeom prst="rect">
            <a:avLst/>
          </a:prstGeom>
          <a:noFill/>
          <a:ln/>
        </p:spPr>
        <p:txBody>
          <a:bodyPr wrap="square" lIns="0" tIns="0" rIns="0" bIns="0" rtlCol="0" anchor="ctr"/>
          <a:lstStyle/>
          <a:p>
            <a:pPr indent="0" marL="0">
              <a:buNone/>
            </a:pPr>
            <a:r>
              <a:rPr lang="en-US" sz="3200" b="1" dirty="0">
                <a:solidFill>
                  <a:srgbClr val="E6EDF3"/>
                </a:solidFill>
                <a:latin typeface="Cambria" pitchFamily="34" charset="0"/>
                <a:ea typeface="Cambria" pitchFamily="34" charset="-122"/>
                <a:cs typeface="Cambria" pitchFamily="34" charset="-120"/>
              </a:rPr>
              <a:t>Jadwal kegiatan</a:t>
            </a:r>
            <a:endParaRPr lang="en-US" sz="32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ZZZ Gacha Predictor · Kelompok 6 · A11.4502</a:t>
            </a:r>
            <a:endParaRPr lang="en-US" sz="1000" dirty="0"/>
          </a:p>
        </p:txBody>
      </p:sp>
      <p:sp>
        <p:nvSpPr>
          <p:cNvPr id="5" name="Text 3"/>
          <p:cNvSpPr txBox="1"/>
          <p:nvPr/>
        </p:nvSpPr>
        <p:spPr>
          <a:xfrm>
            <a:off x="10725912" y="6400800"/>
            <a:ext cx="914400" cy="228600"/>
          </a:xfrm>
          <a:prstGeom prst="rect">
            <a:avLst/>
          </a:prstGeom>
          <a:noFill/>
          <a:ln/>
        </p:spPr>
        <p:txBody>
          <a:bodyPr wrap="square" lIns="0" tIns="0" rIns="0" bIns="0" rtlCol="0" anchor="ctr"/>
          <a:lstStyle/>
          <a:p>
            <a:pPr algn="r" indent="0" marL="0">
              <a:buNone/>
            </a:pPr>
            <a:r>
              <a:rPr lang="en-US" sz="1000" dirty="0">
                <a:solidFill>
                  <a:srgbClr val="8B949E"/>
                </a:solidFill>
                <a:latin typeface="Calibri" pitchFamily="34" charset="0"/>
                <a:ea typeface="Calibri" pitchFamily="34" charset="-122"/>
                <a:cs typeface="Calibri" pitchFamily="34" charset="-120"/>
              </a:rPr>
              <a:t>17</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6309360"/>
                <a:gridCol w="1188720"/>
                <a:gridCol w="1188720"/>
                <a:gridCol w="1188720"/>
                <a:gridCol w="1188720"/>
              </a:tblGrid>
              <a:tr h="530352">
                <a:tc>
                  <a:txBody>
                    <a:bodyPr/>
                    <a:lstStyle/>
                    <a:p>
                      <a:pPr algn="l" indent="0" marL="0">
                        <a:buNone/>
                      </a:pPr>
                      <a:r>
                        <a:rPr lang="en-US" sz="1500" b="1" dirty="0">
                          <a:solidFill>
                            <a:srgbClr val="F5A623"/>
                          </a:solidFill>
                          <a:latin typeface="Calibri" pitchFamily="34" charset="0"/>
                          <a:ea typeface="Calibri" pitchFamily="34" charset="-122"/>
                          <a:cs typeface="Calibri" pitchFamily="34" charset="-120"/>
                        </a:rPr>
                        <a:t>Kegiatan</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algn="ctr" indent="0" marL="0">
                        <a:buNone/>
                      </a:pPr>
                      <a:r>
                        <a:rPr lang="en-US" sz="1500" b="1" dirty="0">
                          <a:solidFill>
                            <a:srgbClr val="F5A623"/>
                          </a:solidFill>
                          <a:latin typeface="Calibri" pitchFamily="34" charset="0"/>
                          <a:ea typeface="Calibri" pitchFamily="34" charset="-122"/>
                          <a:cs typeface="Calibri" pitchFamily="34" charset="-120"/>
                        </a:rPr>
                        <a:t>M1</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algn="ctr" indent="0" marL="0">
                        <a:buNone/>
                      </a:pPr>
                      <a:r>
                        <a:rPr lang="en-US" sz="1500" b="1" dirty="0">
                          <a:solidFill>
                            <a:srgbClr val="F5A623"/>
                          </a:solidFill>
                          <a:latin typeface="Calibri" pitchFamily="34" charset="0"/>
                          <a:ea typeface="Calibri" pitchFamily="34" charset="-122"/>
                          <a:cs typeface="Calibri" pitchFamily="34" charset="-120"/>
                        </a:rPr>
                        <a:t>M2</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algn="ctr" indent="0" marL="0">
                        <a:buNone/>
                      </a:pPr>
                      <a:r>
                        <a:rPr lang="en-US" sz="1500" b="1" dirty="0">
                          <a:solidFill>
                            <a:srgbClr val="F5A623"/>
                          </a:solidFill>
                          <a:latin typeface="Calibri" pitchFamily="34" charset="0"/>
                          <a:ea typeface="Calibri" pitchFamily="34" charset="-122"/>
                          <a:cs typeface="Calibri" pitchFamily="34" charset="-120"/>
                        </a:rPr>
                        <a:t>M3</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algn="ctr" indent="0" marL="0">
                        <a:buNone/>
                      </a:pPr>
                      <a:r>
                        <a:rPr lang="en-US" sz="1500" b="1" dirty="0">
                          <a:solidFill>
                            <a:srgbClr val="F5A623"/>
                          </a:solidFill>
                          <a:latin typeface="Calibri" pitchFamily="34" charset="0"/>
                          <a:ea typeface="Calibri" pitchFamily="34" charset="-122"/>
                          <a:cs typeface="Calibri" pitchFamily="34" charset="-120"/>
                        </a:rPr>
                        <a:t>M4</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r>
              <a:tr h="530352">
                <a:tc>
                  <a:txBody>
                    <a:bodyPr/>
                    <a:lstStyle/>
                    <a:p>
                      <a:pPr algn="l" indent="0" marL="0">
                        <a:buNone/>
                      </a:pPr>
                      <a:r>
                        <a:rPr lang="en-US" sz="1500" dirty="0">
                          <a:solidFill>
                            <a:srgbClr val="E6EDF3"/>
                          </a:solidFill>
                          <a:latin typeface="Calibri" pitchFamily="34" charset="0"/>
                          <a:ea typeface="Calibri" pitchFamily="34" charset="-122"/>
                          <a:cs typeface="Calibri" pitchFamily="34" charset="-120"/>
                        </a:rPr>
                        <a:t>Studi literatur &amp; aturan gacha</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r>
                        <a:rPr lang="en-US" sz="1500" dirty="0">
                          <a:solidFill>
                            <a:srgbClr val="E6EDF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r>
              <a:tr h="530352">
                <a:tc>
                  <a:txBody>
                    <a:bodyPr/>
                    <a:lstStyle/>
                    <a:p>
                      <a:pPr algn="l" indent="0" marL="0">
                        <a:buNone/>
                      </a:pPr>
                      <a:r>
                        <a:rPr lang="en-US" sz="1500" dirty="0">
                          <a:solidFill>
                            <a:srgbClr val="E6EDF3"/>
                          </a:solidFill>
                          <a:latin typeface="Calibri" pitchFamily="34" charset="0"/>
                          <a:ea typeface="Calibri" pitchFamily="34" charset="-122"/>
                          <a:cs typeface="Calibri" pitchFamily="34" charset="-120"/>
                        </a:rPr>
                        <a:t>Pengumpulan data &amp; simulasi</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c>
                  <a:txBody>
                    <a:bodyPr/>
                    <a:lstStyle/>
                    <a:p>
                      <a:pPr algn="ctr" indent="0" marL="0">
                        <a:buNone/>
                      </a:pPr>
                      <a:r>
                        <a:rPr lang="en-US" sz="1500" dirty="0">
                          <a:solidFill>
                            <a:srgbClr val="E6EDF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c>
                  <a:txBody>
                    <a:bodyPr/>
                    <a:lstStyle/>
                    <a:p>
                      <a:pPr algn="ctr" indent="0" marL="0">
                        <a:buNone/>
                      </a:pPr>
                      <a:r>
                        <a:rPr lang="en-US" sz="1500" dirty="0">
                          <a:solidFill>
                            <a:srgbClr val="E6EDF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c>
                  <a:txBody>
                    <a:bodyPr/>
                    <a:lstStyle/>
                    <a:p>
                      <a:pPr algn="ctr" indent="0" marL="0">
                        <a:buNone/>
                      </a:pP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c>
                  <a:txBody>
                    <a:bodyPr/>
                    <a:lstStyle/>
                    <a:p>
                      <a:pPr algn="ctr" indent="0" marL="0">
                        <a:buNone/>
                      </a:pP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r>
              <a:tr h="530352">
                <a:tc>
                  <a:txBody>
                    <a:bodyPr/>
                    <a:lstStyle/>
                    <a:p>
                      <a:pPr algn="l" indent="0" marL="0">
                        <a:buNone/>
                      </a:pPr>
                      <a:r>
                        <a:rPr lang="en-US" sz="1500" dirty="0">
                          <a:solidFill>
                            <a:srgbClr val="E6EDF3"/>
                          </a:solidFill>
                          <a:latin typeface="Calibri" pitchFamily="34" charset="0"/>
                          <a:ea typeface="Calibri" pitchFamily="34" charset="-122"/>
                          <a:cs typeface="Calibri" pitchFamily="34" charset="-120"/>
                        </a:rPr>
                        <a:t>Pra-pemrosesan &amp; fitur</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r>
                        <a:rPr lang="en-US" sz="1500" dirty="0">
                          <a:solidFill>
                            <a:srgbClr val="E6EDF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r>
              <a:tr h="530352">
                <a:tc>
                  <a:txBody>
                    <a:bodyPr/>
                    <a:lstStyle/>
                    <a:p>
                      <a:pPr algn="l" indent="0" marL="0">
                        <a:buNone/>
                      </a:pPr>
                      <a:r>
                        <a:rPr lang="en-US" sz="1500" dirty="0">
                          <a:solidFill>
                            <a:srgbClr val="E6EDF3"/>
                          </a:solidFill>
                          <a:latin typeface="Calibri" pitchFamily="34" charset="0"/>
                          <a:ea typeface="Calibri" pitchFamily="34" charset="-122"/>
                          <a:cs typeface="Calibri" pitchFamily="34" charset="-120"/>
                        </a:rPr>
                        <a:t>Pemodelan 6 algoritma + Markov</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c>
                  <a:txBody>
                    <a:bodyPr/>
                    <a:lstStyle/>
                    <a:p>
                      <a:pPr algn="ctr" indent="0" marL="0">
                        <a:buNone/>
                      </a:pP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c>
                  <a:txBody>
                    <a:bodyPr/>
                    <a:lstStyle/>
                    <a:p>
                      <a:pPr algn="ctr" indent="0" marL="0">
                        <a:buNone/>
                      </a:pPr>
                      <a:r>
                        <a:rPr lang="en-US" sz="1500" dirty="0">
                          <a:solidFill>
                            <a:srgbClr val="E6EDF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c>
                  <a:txBody>
                    <a:bodyPr/>
                    <a:lstStyle/>
                    <a:p>
                      <a:pPr algn="ctr" indent="0" marL="0">
                        <a:buNone/>
                      </a:pPr>
                      <a:r>
                        <a:rPr lang="en-US" sz="1500" dirty="0">
                          <a:solidFill>
                            <a:srgbClr val="E6EDF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c>
                  <a:txBody>
                    <a:bodyPr/>
                    <a:lstStyle/>
                    <a:p>
                      <a:pPr algn="ctr" indent="0" marL="0">
                        <a:buNone/>
                      </a:pP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r>
              <a:tr h="530352">
                <a:tc>
                  <a:txBody>
                    <a:bodyPr/>
                    <a:lstStyle/>
                    <a:p>
                      <a:pPr algn="l" indent="0" marL="0">
                        <a:buNone/>
                      </a:pPr>
                      <a:r>
                        <a:rPr lang="en-US" sz="1500" dirty="0">
                          <a:solidFill>
                            <a:srgbClr val="E6EDF3"/>
                          </a:solidFill>
                          <a:latin typeface="Calibri" pitchFamily="34" charset="0"/>
                          <a:ea typeface="Calibri" pitchFamily="34" charset="-122"/>
                          <a:cs typeface="Calibri" pitchFamily="34" charset="-120"/>
                        </a:rPr>
                        <a:t>Evaluasi &amp; uji data asli</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r>
                        <a:rPr lang="en-US" sz="1500" dirty="0">
                          <a:solidFill>
                            <a:srgbClr val="E6EDF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r>
              <a:tr h="530352">
                <a:tc>
                  <a:txBody>
                    <a:bodyPr/>
                    <a:lstStyle/>
                    <a:p>
                      <a:pPr algn="l" indent="0" marL="0">
                        <a:buNone/>
                      </a:pPr>
                      <a:r>
                        <a:rPr lang="en-US" sz="1500" dirty="0">
                          <a:solidFill>
                            <a:srgbClr val="E6EDF3"/>
                          </a:solidFill>
                          <a:latin typeface="Calibri" pitchFamily="34" charset="0"/>
                          <a:ea typeface="Calibri" pitchFamily="34" charset="-122"/>
                          <a:cs typeface="Calibri" pitchFamily="34" charset="-120"/>
                        </a:rPr>
                        <a:t>Deployment Streamlit</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c>
                  <a:txBody>
                    <a:bodyPr/>
                    <a:lstStyle/>
                    <a:p>
                      <a:pPr algn="ctr" indent="0" marL="0">
                        <a:buNone/>
                      </a:pP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c>
                  <a:txBody>
                    <a:bodyPr/>
                    <a:lstStyle/>
                    <a:p>
                      <a:pPr algn="ctr" indent="0" marL="0">
                        <a:buNone/>
                      </a:pP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c>
                  <a:txBody>
                    <a:bodyPr/>
                    <a:lstStyle/>
                    <a:p>
                      <a:pPr algn="ctr" indent="0" marL="0">
                        <a:buNone/>
                      </a:pPr>
                      <a:r>
                        <a:rPr lang="en-US" sz="1500" dirty="0">
                          <a:solidFill>
                            <a:srgbClr val="E6EDF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c>
                  <a:txBody>
                    <a:bodyPr/>
                    <a:lstStyle/>
                    <a:p>
                      <a:pPr algn="ctr" indent="0" marL="0">
                        <a:buNone/>
                      </a:pPr>
                      <a:r>
                        <a:rPr lang="en-US" sz="1500" dirty="0">
                          <a:solidFill>
                            <a:srgbClr val="E6EDF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r>
              <a:tr h="530352">
                <a:tc>
                  <a:txBody>
                    <a:bodyPr/>
                    <a:lstStyle/>
                    <a:p>
                      <a:pPr algn="l" indent="0" marL="0">
                        <a:buNone/>
                      </a:pPr>
                      <a:r>
                        <a:rPr lang="en-US" sz="1500" dirty="0">
                          <a:solidFill>
                            <a:srgbClr val="E6EDF3"/>
                          </a:solidFill>
                          <a:latin typeface="Calibri" pitchFamily="34" charset="0"/>
                          <a:ea typeface="Calibri" pitchFamily="34" charset="-122"/>
                          <a:cs typeface="Calibri" pitchFamily="34" charset="-120"/>
                        </a:rPr>
                        <a:t>Laporan &amp; presentasi</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r>
                        <a:rPr lang="en-US" sz="1500" dirty="0">
                          <a:solidFill>
                            <a:srgbClr val="E6EDF3"/>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548640" y="1463040"/>
            <a:ext cx="10972800" cy="1097280"/>
          </a:xfrm>
          <a:prstGeom prst="rect">
            <a:avLst/>
          </a:prstGeom>
          <a:noFill/>
          <a:ln/>
        </p:spPr>
        <p:txBody>
          <a:bodyPr wrap="square" lIns="0" tIns="0" rIns="0" bIns="0" rtlCol="0" anchor="ctr"/>
          <a:lstStyle/>
          <a:p>
            <a:pPr indent="0" marL="0">
              <a:buNone/>
            </a:pPr>
            <a:r>
              <a:rPr lang="en-US" sz="5400" b="1" dirty="0">
                <a:solidFill>
                  <a:srgbClr val="E6EDF3"/>
                </a:solidFill>
                <a:latin typeface="Cambria" pitchFamily="34" charset="0"/>
                <a:ea typeface="Cambria" pitchFamily="34" charset="-122"/>
                <a:cs typeface="Cambria" pitchFamily="34" charset="-120"/>
              </a:rPr>
              <a:t>Terima kasih</a:t>
            </a:r>
            <a:endParaRPr lang="en-US" sz="5400" dirty="0"/>
          </a:p>
        </p:txBody>
      </p:sp>
      <p:sp>
        <p:nvSpPr>
          <p:cNvPr id="3" name="Text 1"/>
          <p:cNvSpPr txBox="1"/>
          <p:nvPr/>
        </p:nvSpPr>
        <p:spPr>
          <a:xfrm>
            <a:off x="548640" y="2651760"/>
            <a:ext cx="10058400" cy="731520"/>
          </a:xfrm>
          <a:prstGeom prst="rect">
            <a:avLst/>
          </a:prstGeom>
          <a:noFill/>
          <a:ln/>
        </p:spPr>
        <p:txBody>
          <a:bodyPr wrap="square" lIns="0" tIns="0" rIns="0" bIns="0" rtlCol="0" anchor="ctr"/>
          <a:lstStyle/>
          <a:p>
            <a:pPr indent="0" marL="0">
              <a:buNone/>
            </a:pPr>
            <a:r>
              <a:rPr lang="en-US" sz="2000" dirty="0">
                <a:solidFill>
                  <a:srgbClr val="A9B4C2"/>
                </a:solidFill>
                <a:latin typeface="Calibri" pitchFamily="34" charset="0"/>
                <a:ea typeface="Calibri" pitchFamily="34" charset="-122"/>
                <a:cs typeface="Calibri" pitchFamily="34" charset="-120"/>
              </a:rPr>
              <a:t>Ada pertanyaan? Silakan coba aplikasinya langsung:</a:t>
            </a:r>
            <a:endParaRPr lang="en-US" sz="2000" dirty="0"/>
          </a:p>
        </p:txBody>
      </p:sp>
      <p:sp>
        <p:nvSpPr>
          <p:cNvPr id="4" name="Text 2"/>
          <p:cNvSpPr txBox="1"/>
          <p:nvPr/>
        </p:nvSpPr>
        <p:spPr>
          <a:xfrm>
            <a:off x="548640" y="3749040"/>
            <a:ext cx="10058400" cy="548640"/>
          </a:xfrm>
          <a:prstGeom prst="rect">
            <a:avLst/>
          </a:prstGeom>
          <a:noFill/>
          <a:ln/>
        </p:spPr>
        <p:txBody>
          <a:bodyPr wrap="square" lIns="0" tIns="0" rIns="0" bIns="0" rtlCol="0" anchor="ctr"/>
          <a:lstStyle/>
          <a:p>
            <a:pPr indent="0" marL="0">
              <a:buNone/>
            </a:pPr>
            <a:r>
              <a:rPr lang="en-US" sz="2600" b="1" dirty="0">
                <a:solidFill>
                  <a:srgbClr val="58A6FF"/>
                </a:solidFill>
                <a:latin typeface="Calibri" pitchFamily="34" charset="0"/>
                <a:ea typeface="Calibri" pitchFamily="34" charset="-122"/>
                <a:cs typeface="Calibri" pitchFamily="34" charset="-120"/>
              </a:rPr>
              <a:t>project-data-mining-zzz.streamlit.app</a:t>
            </a:r>
            <a:endParaRPr lang="en-US" sz="2600" dirty="0"/>
          </a:p>
        </p:txBody>
      </p:sp>
      <p:sp>
        <p:nvSpPr>
          <p:cNvPr id="5" name="Text 3"/>
          <p:cNvSpPr txBox="1"/>
          <p:nvPr/>
        </p:nvSpPr>
        <p:spPr>
          <a:xfrm>
            <a:off x="548640" y="4389120"/>
            <a:ext cx="10058400" cy="457200"/>
          </a:xfrm>
          <a:prstGeom prst="rect">
            <a:avLst/>
          </a:prstGeom>
          <a:noFill/>
          <a:ln/>
        </p:spPr>
        <p:txBody>
          <a:bodyPr wrap="square" lIns="0" tIns="0" rIns="0" bIns="0" rtlCol="0" anchor="ctr"/>
          <a:lstStyle/>
          <a:p>
            <a:pPr indent="0" marL="0">
              <a:buNone/>
            </a:pPr>
            <a:r>
              <a:rPr lang="en-US" sz="1600" dirty="0">
                <a:solidFill>
                  <a:srgbClr val="A9B4C2"/>
                </a:solidFill>
                <a:latin typeface="Calibri" pitchFamily="34" charset="0"/>
                <a:ea typeface="Calibri" pitchFamily="34" charset="-122"/>
                <a:cs typeface="Calibri" pitchFamily="34" charset="-120"/>
              </a:rPr>
              <a:t>github.com/tehgeii/project-data-mining</a:t>
            </a:r>
            <a:endParaRPr lang="en-US" sz="1600" dirty="0"/>
          </a:p>
        </p:txBody>
      </p:sp>
      <p:sp>
        <p:nvSpPr>
          <p:cNvPr id="6" name="Text 4"/>
          <p:cNvSpPr txBox="1"/>
          <p:nvPr/>
        </p:nvSpPr>
        <p:spPr>
          <a:xfrm>
            <a:off x="548640" y="5943600"/>
            <a:ext cx="10058400" cy="365760"/>
          </a:xfrm>
          <a:prstGeom prst="rect">
            <a:avLst/>
          </a:prstGeom>
          <a:noFill/>
          <a:ln/>
        </p:spPr>
        <p:txBody>
          <a:bodyPr wrap="square" lIns="0" tIns="0" rIns="0" bIns="0" rtlCol="0" anchor="ctr"/>
          <a:lstStyle/>
          <a:p>
            <a:pPr indent="0" marL="0">
              <a:buNone/>
            </a:pPr>
            <a:r>
              <a:rPr lang="en-US" sz="1300" dirty="0">
                <a:solidFill>
                  <a:srgbClr val="8B949E"/>
                </a:solidFill>
                <a:latin typeface="Calibri" pitchFamily="34" charset="0"/>
                <a:ea typeface="Calibri" pitchFamily="34" charset="-122"/>
                <a:cs typeface="Calibri" pitchFamily="34" charset="-120"/>
              </a:rPr>
              <a:t>Kelompok 6 · A11.4502 · Penambangan Data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Universitas Dian Nuswantoro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ZZZ Gacha Predictor</dc:title>
  <dc:subject>Penambangan Data</dc:subject>
  <dc:creator>Kelompok 6 A11.4502</dc:creator>
  <cp:lastModifiedBy>Kelompok 6 A11.4502</cp:lastModifiedBy>
  <cp:revision>1</cp:revision>
  <dcterms:created xsi:type="dcterms:W3CDTF">2026-10-19T02:06:25Z</dcterms:created>
  <dcterms:modified xsi:type="dcterms:W3CDTF">2026-10-19T02:06:25Z</dcterms:modified>
</cp:coreProperties>
</file>